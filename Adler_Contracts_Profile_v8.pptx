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5" r:id="rId41"/>
    <p:sldId id="273" r:id="rId19"/>
    <p:sldId id="274" r:id="rId20"/>
    <p:sldId id="286" r:id="rId42"/>
    <p:sldId id="287" r:id="rId43"/>
    <p:sldId id="275" r:id="rId21"/>
    <p:sldId id="276" r:id="rId22"/>
    <p:sldId id="277" r:id="rId23"/>
    <p:sldId id="278" r:id="rId24"/>
    <p:sldId id="284" r:id="rId25"/>
    <p:sldId id="279" r:id="rId26"/>
    <p:sldId id="280" r:id="rId27"/>
    <p:sldId id="282" r:id="rId28"/>
    <p:sldId id="283" r:id="rId29"/>
  </p:sldIdLst>
  <p:sldSz cx="18288000" cy="10287000"/>
  <p:notesSz cx="6858000" cy="9144000"/>
  <p:embeddedFontLst>
    <p:embeddedFont>
      <p:font typeface="Araboto" panose="020B0604020202020204" charset="0"/>
      <p:regular r:id="rId30"/>
    </p:embeddedFont>
    <p:embeddedFont>
      <p:font typeface="Araboto Bold" panose="020B0604020202020204" charset="0"/>
      <p:regular r:id="rId31"/>
    </p:embeddedFont>
    <p:embeddedFont>
      <p:font typeface="Montserrat" panose="00000500000000000000" pitchFamily="2" charset="0"/>
      <p:regular r:id="rId32"/>
    </p:embeddedFont>
    <p:embeddedFont>
      <p:font typeface="Montserrat Bold" panose="00000800000000000000" charset="0"/>
      <p:regular r:id="rId33"/>
    </p:embeddedFont>
    <p:embeddedFont>
      <p:font typeface="Montserrat Semi-Bold" panose="020B0604020202020204" charset="0"/>
      <p:regular r:id="rId34"/>
    </p:embeddedFont>
    <p:embeddedFont>
      <p:font typeface="Telegraf" panose="020B0604020202020204" charset="0"/>
      <p:regular r:id="rId35"/>
    </p:embeddedFont>
    <p:embeddedFont>
      <p:font typeface="Telegraf Bold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7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jpe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3.jpeg"/><Relationship Id="rId7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2.png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7.jpeg"/><Relationship Id="rId7" Type="http://schemas.openxmlformats.org/officeDocument/2006/relationships/image" Target="../media/image1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2.png"/><Relationship Id="rId4" Type="http://schemas.openxmlformats.org/officeDocument/2006/relationships/image" Target="../media/image6.svg"/><Relationship Id="rId9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2.png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2.png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28.jpeg"/><Relationship Id="rId7" Type="http://schemas.openxmlformats.org/officeDocument/2006/relationships/image" Target="../media/image3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10" Type="http://schemas.openxmlformats.org/officeDocument/2006/relationships/image" Target="../media/image5.svg"/><Relationship Id="rId4" Type="http://schemas.openxmlformats.org/officeDocument/2006/relationships/image" Target="../media/image29.jpeg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image" Target="../media/image34.jpeg"/><Relationship Id="rId7" Type="http://schemas.openxmlformats.org/officeDocument/2006/relationships/image" Target="../media/image3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10" Type="http://schemas.openxmlformats.org/officeDocument/2006/relationships/image" Target="../media/image5.svg"/><Relationship Id="rId4" Type="http://schemas.openxmlformats.org/officeDocument/2006/relationships/image" Target="../media/image35.jpeg"/><Relationship Id="rId9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7.xml.rels><?xml version='1.0' encoding='UTF-8' standalone='yes'?>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image" Target="../media/image40.jpeg"/><Relationship Id="rId7" Type="http://schemas.openxmlformats.org/officeDocument/2006/relationships/image" Target="../media/image4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10" Type="http://schemas.openxmlformats.org/officeDocument/2006/relationships/image" Target="../media/image5.svg"/><Relationship Id="rId4" Type="http://schemas.openxmlformats.org/officeDocument/2006/relationships/image" Target="../media/image41.png"/><Relationship Id="rId9" Type="http://schemas.openxmlformats.org/officeDocument/2006/relationships/image" Target="../media/image2.png"/><Relationship Id="rId11" Type="http://schemas.openxmlformats.org/officeDocument/2006/relationships/image" Target="../media/adler_photo_01.jpeg"/><Relationship Id="rId12" Type="http://schemas.openxmlformats.org/officeDocument/2006/relationships/image" Target="../media/adler_photo_02.jpeg"/><Relationship Id="rId13" Type="http://schemas.openxmlformats.org/officeDocument/2006/relationships/image" Target="../media/adler_photo_03.jpeg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9.xml.rels><?xml version='1.0' encoding='UTF-8' standalone='yes'?>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7.jpeg"/><Relationship Id="rId7" Type="http://schemas.openxmlformats.org/officeDocument/2006/relationships/image" Target="../media/image51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10" Type="http://schemas.openxmlformats.org/officeDocument/2006/relationships/image" Target="../media/image4.png"/><Relationship Id="rId4" Type="http://schemas.openxmlformats.org/officeDocument/2006/relationships/image" Target="../media/image48.jpeg"/><Relationship Id="rId9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1.xml.rels><?xml version='1.0' encoding='UTF-8' standalone='yes'?>
<Relationships xmlns="http://schemas.openxmlformats.org/package/2006/relationships"><Relationship Id="rId8" Type="http://schemas.openxmlformats.org/officeDocument/2006/relationships/image" Target="../media/image57.jpeg"/><Relationship Id="rId3" Type="http://schemas.openxmlformats.org/officeDocument/2006/relationships/image" Target="../media/image52.jpeg"/><Relationship Id="rId7" Type="http://schemas.openxmlformats.org/officeDocument/2006/relationships/image" Target="../media/image5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10" Type="http://schemas.openxmlformats.org/officeDocument/2006/relationships/image" Target="../media/image5.svg"/><Relationship Id="rId4" Type="http://schemas.openxmlformats.org/officeDocument/2006/relationships/image" Target="../media/image53.jpeg"/><Relationship Id="rId9" Type="http://schemas.openxmlformats.org/officeDocument/2006/relationships/image" Target="../media/image2.png"/><Relationship Id="rId11" Type="http://schemas.openxmlformats.org/officeDocument/2006/relationships/image" Target="../media/adler_photo_16.jpeg"/><Relationship Id="rId12" Type="http://schemas.openxmlformats.org/officeDocument/2006/relationships/image" Target="../media/adler_photo_17.jpeg"/><Relationship Id="rId13" Type="http://schemas.openxmlformats.org/officeDocument/2006/relationships/image" Target="../media/adler_photo_18.jpeg"/><Relationship Id="rId14" Type="http://schemas.openxmlformats.org/officeDocument/2006/relationships/image" Target="../media/adler_photo_19.jpeg"/><Relationship Id="rId15" Type="http://schemas.openxmlformats.org/officeDocument/2006/relationships/image" Target="../media/adler_photo_2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eg"/><Relationship Id="rId3" Type="http://schemas.openxmlformats.org/officeDocument/2006/relationships/image" Target="../media/image58.jpeg"/><Relationship Id="rId7" Type="http://schemas.openxmlformats.org/officeDocument/2006/relationships/image" Target="../media/image6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10" Type="http://schemas.openxmlformats.org/officeDocument/2006/relationships/image" Target="../media/image5.svg"/><Relationship Id="rId4" Type="http://schemas.openxmlformats.org/officeDocument/2006/relationships/image" Target="../media/image59.jpeg"/><Relationship Id="rId9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eg"/><Relationship Id="rId3" Type="http://schemas.openxmlformats.org/officeDocument/2006/relationships/image" Target="../media/image64.jpeg"/><Relationship Id="rId7" Type="http://schemas.openxmlformats.org/officeDocument/2006/relationships/image" Target="../media/image6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jpeg"/><Relationship Id="rId5" Type="http://schemas.openxmlformats.org/officeDocument/2006/relationships/image" Target="../media/image7.jpeg"/><Relationship Id="rId10" Type="http://schemas.openxmlformats.org/officeDocument/2006/relationships/image" Target="../media/image5.svg"/><Relationship Id="rId4" Type="http://schemas.openxmlformats.org/officeDocument/2006/relationships/image" Target="../media/image65.jpeg"/><Relationship Id="rId9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.png"/><Relationship Id="rId7" Type="http://schemas.openxmlformats.org/officeDocument/2006/relationships/image" Target="../media/image7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jpeg"/><Relationship Id="rId4" Type="http://schemas.openxmlformats.org/officeDocument/2006/relationships/image" Target="../media/image5.svg"/></Relationships>
</file>

<file path=ppt/slides/_rels/slide29.xml.rels><?xml version='1.0' encoding='UTF-8' standalone='yes'?>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image" Target="../media/image40.jpeg"/><Relationship Id="rId7" Type="http://schemas.openxmlformats.org/officeDocument/2006/relationships/image" Target="../media/image4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10" Type="http://schemas.openxmlformats.org/officeDocument/2006/relationships/image" Target="../media/image5.svg"/><Relationship Id="rId4" Type="http://schemas.openxmlformats.org/officeDocument/2006/relationships/image" Target="../media/image41.png"/><Relationship Id="rId9" Type="http://schemas.openxmlformats.org/officeDocument/2006/relationships/image" Target="../media/image2.png"/><Relationship Id="rId11" Type="http://schemas.openxmlformats.org/officeDocument/2006/relationships/image" Target="../media/adler_photo_04.jpeg"/><Relationship Id="rId12" Type="http://schemas.openxmlformats.org/officeDocument/2006/relationships/image" Target="../media/adler_photo_05.jpeg"/><Relationship Id="rId13" Type="http://schemas.openxmlformats.org/officeDocument/2006/relationships/image" Target="../media/adler_photo_06.jpeg"/><Relationship Id="rId14" Type="http://schemas.openxmlformats.org/officeDocument/2006/relationships/image" Target="../media/adler_photo_07.jpeg"/><Relationship Id="rId15" Type="http://schemas.openxmlformats.org/officeDocument/2006/relationships/image" Target="../media/adler_photo_08.jpeg"/><Relationship Id="rId16" Type="http://schemas.openxmlformats.org/officeDocument/2006/relationships/image" Target="../media/adler_photo_09.jpeg"/></Relationships>
</file>

<file path=ppt/slides/_rels/slide30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1.xml.rels><?xml version='1.0' encoding='UTF-8' standalone='yes'?>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7.jpeg"/><Relationship Id="rId7" Type="http://schemas.openxmlformats.org/officeDocument/2006/relationships/image" Target="../media/image51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10" Type="http://schemas.openxmlformats.org/officeDocument/2006/relationships/image" Target="../media/image4.png"/><Relationship Id="rId4" Type="http://schemas.openxmlformats.org/officeDocument/2006/relationships/image" Target="../media/image48.jpeg"/><Relationship Id="rId9" Type="http://schemas.openxmlformats.org/officeDocument/2006/relationships/image" Target="../media/image5.svg"/><Relationship Id="rId11" Type="http://schemas.openxmlformats.org/officeDocument/2006/relationships/image" Target="../media/adler_photo_10.jpeg"/><Relationship Id="rId12" Type="http://schemas.openxmlformats.org/officeDocument/2006/relationships/image" Target="../media/adler_photo_11.jpeg"/><Relationship Id="rId13" Type="http://schemas.openxmlformats.org/officeDocument/2006/relationships/image" Target="../media/adler_photo_12.jpeg"/><Relationship Id="rId14" Type="http://schemas.openxmlformats.org/officeDocument/2006/relationships/image" Target="../media/adler_photo_13.jpeg"/><Relationship Id="rId15" Type="http://schemas.openxmlformats.org/officeDocument/2006/relationships/image" Target="../media/adler_photo_14.jpeg"/><Relationship Id="rId16" Type="http://schemas.openxmlformats.org/officeDocument/2006/relationships/image" Target="../media/adler_photo_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982880"/>
            <a:ext cx="18392079" cy="5482298"/>
            <a:chOff x="0" y="0"/>
            <a:chExt cx="2149003" cy="6405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9003" cy="640573"/>
            </a:xfrm>
            <a:custGeom>
              <a:avLst/>
              <a:gdLst/>
              <a:ahLst/>
              <a:cxnLst/>
              <a:rect l="l" t="t" r="r" b="b"/>
              <a:pathLst>
                <a:path w="2149003" h="640573">
                  <a:moveTo>
                    <a:pt x="10103" y="0"/>
                  </a:moveTo>
                  <a:lnTo>
                    <a:pt x="2138900" y="0"/>
                  </a:lnTo>
                  <a:cubicBezTo>
                    <a:pt x="2141580" y="0"/>
                    <a:pt x="2144149" y="1064"/>
                    <a:pt x="2146044" y="2959"/>
                  </a:cubicBezTo>
                  <a:cubicBezTo>
                    <a:pt x="2147939" y="4854"/>
                    <a:pt x="2149003" y="7423"/>
                    <a:pt x="2149003" y="10103"/>
                  </a:cubicBezTo>
                  <a:lnTo>
                    <a:pt x="2149003" y="630471"/>
                  </a:lnTo>
                  <a:cubicBezTo>
                    <a:pt x="2149003" y="633150"/>
                    <a:pt x="2147939" y="635720"/>
                    <a:pt x="2146044" y="637614"/>
                  </a:cubicBezTo>
                  <a:cubicBezTo>
                    <a:pt x="2144149" y="639509"/>
                    <a:pt x="2141580" y="640573"/>
                    <a:pt x="2138900" y="640573"/>
                  </a:cubicBezTo>
                  <a:lnTo>
                    <a:pt x="10103" y="640573"/>
                  </a:lnTo>
                  <a:cubicBezTo>
                    <a:pt x="4523" y="640573"/>
                    <a:pt x="0" y="636050"/>
                    <a:pt x="0" y="630471"/>
                  </a:cubicBezTo>
                  <a:lnTo>
                    <a:pt x="0" y="10103"/>
                  </a:lnTo>
                  <a:cubicBezTo>
                    <a:pt x="0" y="7423"/>
                    <a:pt x="1064" y="4854"/>
                    <a:pt x="2959" y="2959"/>
                  </a:cubicBezTo>
                  <a:cubicBezTo>
                    <a:pt x="4854" y="1064"/>
                    <a:pt x="7423" y="0"/>
                    <a:pt x="10103" y="0"/>
                  </a:cubicBezTo>
                  <a:close/>
                </a:path>
              </a:pathLst>
            </a:custGeom>
            <a:blipFill>
              <a:blip r:embed="rId2"/>
              <a:stretch>
                <a:fillRect t="-61862" b="-6186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1738005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52040" y="0"/>
            <a:ext cx="18288000" cy="5025482"/>
          </a:xfrm>
          <a:custGeom>
            <a:avLst/>
            <a:gdLst/>
            <a:ahLst/>
            <a:cxnLst/>
            <a:rect l="l" t="t" r="r" b="b"/>
            <a:pathLst>
              <a:path w="18288000" h="5025482">
                <a:moveTo>
                  <a:pt x="18288000" y="0"/>
                </a:moveTo>
                <a:lnTo>
                  <a:pt x="0" y="0"/>
                </a:lnTo>
                <a:lnTo>
                  <a:pt x="0" y="5025482"/>
                </a:lnTo>
                <a:lnTo>
                  <a:pt x="18288000" y="5025482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4">
              <a:alphaModFix amt="95000"/>
            </a:blip>
            <a:stretch>
              <a:fillRect l="-727" t="-82633" b="-11793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738005" y="1424408"/>
            <a:ext cx="8104203" cy="177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60"/>
              </a:lnSpc>
              <a:spcBef>
                <a:spcPct val="0"/>
              </a:spcBef>
            </a:pPr>
            <a:r>
              <a:rPr lang="en-US" sz="10400" b="1">
                <a:solidFill>
                  <a:srgbClr val="8DC4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8909" y="2770541"/>
            <a:ext cx="8703316" cy="177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60"/>
              </a:lnSpc>
              <a:spcBef>
                <a:spcPct val="0"/>
              </a:spcBef>
            </a:pPr>
            <a:r>
              <a:rPr lang="en-US" sz="10400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CONTRACTS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36190" y="3316640"/>
            <a:ext cx="6101689" cy="93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Powering Possibilities. Delivering End to End Electrical Solutions.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6190" y="4300000"/>
            <a:ext cx="7400000" cy="6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Montserrat Bold"/>
              </a:rPr>
              <a:t>Class I Electrical Contractor  ·  Licence No. 1CL202315BGM</a:t>
            </a:r>
          </a:p>
          <a:p>
            <a:pPr algn="l"/>
            <a:r>
              <a:rPr sz="1800" b="0">
                <a:solidFill>
                  <a:srgbClr val="1B5E20"/>
                </a:solidFill>
                <a:latin typeface="Montserrat"/>
              </a:rPr>
              <a:t>Licensed for electrical works up to &amp; including 33 kV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548003" y="-3145033"/>
            <a:ext cx="13875275" cy="20165341"/>
          </a:xfrm>
          <a:custGeom>
            <a:avLst/>
            <a:gdLst/>
            <a:ahLst/>
            <a:cxnLst/>
            <a:rect l="l" t="t" r="r" b="b"/>
            <a:pathLst>
              <a:path w="13875275" h="20165341">
                <a:moveTo>
                  <a:pt x="0" y="0"/>
                </a:moveTo>
                <a:lnTo>
                  <a:pt x="13875275" y="0"/>
                </a:lnTo>
                <a:lnTo>
                  <a:pt x="13875275" y="20165341"/>
                </a:lnTo>
                <a:lnTo>
                  <a:pt x="0" y="20165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691" r="-47860" b="-496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951662" y="732925"/>
            <a:ext cx="3882293" cy="591524"/>
            <a:chOff x="0" y="0"/>
            <a:chExt cx="2436661" cy="3712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6661" cy="371261"/>
            </a:xfrm>
            <a:custGeom>
              <a:avLst/>
              <a:gdLst/>
              <a:ahLst/>
              <a:cxnLst/>
              <a:rect l="l" t="t" r="r" b="b"/>
              <a:pathLst>
                <a:path w="2436661" h="371261">
                  <a:moveTo>
                    <a:pt x="2233461" y="0"/>
                  </a:moveTo>
                  <a:cubicBezTo>
                    <a:pt x="2345685" y="0"/>
                    <a:pt x="2436661" y="83110"/>
                    <a:pt x="2436661" y="185630"/>
                  </a:cubicBezTo>
                  <a:cubicBezTo>
                    <a:pt x="2436661" y="288151"/>
                    <a:pt x="2345685" y="371261"/>
                    <a:pt x="2233461" y="371261"/>
                  </a:cubicBezTo>
                  <a:lnTo>
                    <a:pt x="203200" y="371261"/>
                  </a:lnTo>
                  <a:cubicBezTo>
                    <a:pt x="90976" y="371261"/>
                    <a:pt x="0" y="288151"/>
                    <a:pt x="0" y="185630"/>
                  </a:cubicBezTo>
                  <a:cubicBezTo>
                    <a:pt x="0" y="831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6661" cy="40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095622" y="825418"/>
            <a:ext cx="442842" cy="406537"/>
            <a:chOff x="0" y="0"/>
            <a:chExt cx="1040817" cy="9554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230930" y="946332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6" y="0"/>
                </a:lnTo>
                <a:lnTo>
                  <a:pt x="172226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-2700000">
            <a:off x="1922684" y="2633905"/>
            <a:ext cx="445827" cy="445827"/>
          </a:xfrm>
          <a:custGeom>
            <a:avLst/>
            <a:gdLst/>
            <a:ahLst/>
            <a:cxnLst/>
            <a:rect l="l" t="t" r="r" b="b"/>
            <a:pathLst>
              <a:path w="445827" h="445827">
                <a:moveTo>
                  <a:pt x="0" y="0"/>
                </a:moveTo>
                <a:lnTo>
                  <a:pt x="445828" y="0"/>
                </a:lnTo>
                <a:lnTo>
                  <a:pt x="445828" y="445827"/>
                </a:lnTo>
                <a:lnTo>
                  <a:pt x="0" y="4458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350567" y="4686308"/>
            <a:ext cx="9183099" cy="5093876"/>
            <a:chOff x="0" y="0"/>
            <a:chExt cx="1079096" cy="598576"/>
          </a:xfrm>
        </p:grpSpPr>
        <p:sp>
          <p:nvSpPr>
            <p:cNvPr id="12" name="Freeform 12" descr="Long LT panel room with switchboards and overhead cable trays"/>
            <p:cNvSpPr/>
            <p:nvPr/>
          </p:nvSpPr>
          <p:spPr>
            <a:xfrm>
              <a:off x="0" y="0"/>
              <a:ext cx="1079096" cy="598576"/>
            </a:xfrm>
            <a:custGeom>
              <a:avLst/>
              <a:gdLst/>
              <a:ahLst/>
              <a:cxnLst/>
              <a:rect l="l" t="t" r="r" b="b"/>
              <a:pathLst>
                <a:path w="1079096" h="598576">
                  <a:moveTo>
                    <a:pt x="20233" y="0"/>
                  </a:moveTo>
                  <a:lnTo>
                    <a:pt x="1058862" y="0"/>
                  </a:lnTo>
                  <a:cubicBezTo>
                    <a:pt x="1070037" y="0"/>
                    <a:pt x="1079096" y="9059"/>
                    <a:pt x="1079096" y="20233"/>
                  </a:cubicBezTo>
                  <a:lnTo>
                    <a:pt x="1079096" y="578342"/>
                  </a:lnTo>
                  <a:cubicBezTo>
                    <a:pt x="1079096" y="589517"/>
                    <a:pt x="1070037" y="598576"/>
                    <a:pt x="1058862" y="598576"/>
                  </a:cubicBezTo>
                  <a:lnTo>
                    <a:pt x="20233" y="598576"/>
                  </a:lnTo>
                  <a:cubicBezTo>
                    <a:pt x="9059" y="598576"/>
                    <a:pt x="0" y="589517"/>
                    <a:pt x="0" y="578342"/>
                  </a:cubicBezTo>
                  <a:lnTo>
                    <a:pt x="0" y="20233"/>
                  </a:lnTo>
                  <a:cubicBezTo>
                    <a:pt x="0" y="9059"/>
                    <a:pt x="9059" y="0"/>
                    <a:pt x="20233" y="0"/>
                  </a:cubicBezTo>
                  <a:close/>
                </a:path>
              </a:pathLst>
            </a:custGeom>
            <a:blipFill>
              <a:blip r:embed="rId5"/>
              <a:stretch>
                <a:fillRect t="-678" b="-678"/>
              </a:stretch>
            </a:blipFill>
            <a:ln w="66675" cap="rnd">
              <a:solidFill>
                <a:srgbClr val="8DC4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1753057" y="3261976"/>
            <a:ext cx="1684680" cy="0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466910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14649471" y="867079"/>
            <a:ext cx="1679279" cy="323215"/>
            <a:chOff x="0" y="0"/>
            <a:chExt cx="2239039" cy="430953"/>
          </a:xfrm>
        </p:grpSpPr>
        <p:sp>
          <p:nvSpPr>
            <p:cNvPr id="16" name="AutoShape 16"/>
            <p:cNvSpPr/>
            <p:nvPr/>
          </p:nvSpPr>
          <p:spPr>
            <a:xfrm>
              <a:off x="38533" y="405553"/>
              <a:ext cx="2200506" cy="0"/>
            </a:xfrm>
            <a:prstGeom prst="line">
              <a:avLst/>
            </a:prstGeom>
            <a:ln w="50800" cap="flat">
              <a:solidFill>
                <a:srgbClr val="1B5E2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00506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1">
                  <a:solidFill>
                    <a:srgbClr val="1B5E2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Who are we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66910" y="2083103"/>
            <a:ext cx="6841651" cy="2519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93"/>
              </a:lnSpc>
            </a:pPr>
            <a:r>
              <a:rPr lang="en-US" sz="9799" b="1" spc="293">
                <a:solidFill>
                  <a:srgbClr val="8DC4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WHO </a:t>
            </a:r>
          </a:p>
          <a:p>
            <a:pPr algn="l">
              <a:lnSpc>
                <a:spcPts val="9475"/>
              </a:lnSpc>
            </a:pPr>
            <a:r>
              <a:rPr lang="en-US" sz="9199" spc="275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ARE WE 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62503" y="7636604"/>
            <a:ext cx="2126287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Our Company Founded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37484" y="3451854"/>
            <a:ext cx="9302613" cy="103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A Class I electrical contractor with deep expertise in turnkey, end-to-end electrical solutions, Adler delivers everything from design and planning to installation, testing and commissioning.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28180" y="7244969"/>
            <a:ext cx="3023482" cy="1458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0"/>
              </a:lnSpc>
              <a:spcBef>
                <a:spcPct val="0"/>
              </a:spcBef>
            </a:pPr>
            <a:r>
              <a:rPr lang="en-US" sz="8535" b="1">
                <a:solidFill>
                  <a:srgbClr val="C0C0C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23246" y="5082360"/>
            <a:ext cx="7359820" cy="18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9"/>
              </a:lnSpc>
            </a:pPr>
            <a:r>
              <a:rPr lang="en-US" sz="2339" b="1">
                <a:solidFill>
                  <a:srgbClr val="8DC4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reputation is built on:</a:t>
            </a:r>
          </a:p>
          <a:p>
            <a:pPr algn="l">
              <a:lnSpc>
                <a:spcPts val="2383"/>
              </a:lnSpc>
            </a:pPr>
            <a:endParaRPr lang="en-US" sz="1969">
              <a:solidFill>
                <a:srgbClr val="1B5E2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112"/>
              </a:lnSpc>
            </a:pPr>
            <a:r>
              <a:rPr lang="en-US" sz="1969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rPr>
              <a:t> • Meticulous planning</a:t>
            </a:r>
          </a:p>
          <a:p>
            <a:pPr algn="l">
              <a:lnSpc>
                <a:spcPts val="3112"/>
              </a:lnSpc>
            </a:pPr>
            <a:r>
              <a:rPr lang="en-US" sz="1969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rPr>
              <a:t> • Robust project management</a:t>
            </a:r>
          </a:p>
          <a:p>
            <a:pPr algn="l">
              <a:lnSpc>
                <a:spcPts val="3112"/>
              </a:lnSpc>
            </a:pPr>
            <a:r>
              <a:rPr lang="en-US" sz="1969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rPr>
              <a:t> • Relentless focus on quality, safety and speed</a:t>
            </a:r>
          </a:p>
          <a:p>
            <a:pPr algn="l">
              <a:lnSpc>
                <a:spcPts val="3112"/>
              </a:lnSpc>
            </a:pPr>
            <a:r>
              <a:rPr lang="en-US" sz="1969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rPr>
              <a:t> • Transparent and trustworthy partnerships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495432" y="-4260364"/>
            <a:ext cx="13846184" cy="21985110"/>
          </a:xfrm>
          <a:custGeom>
            <a:avLst/>
            <a:gdLst/>
            <a:ahLst/>
            <a:cxnLst/>
            <a:rect l="l" t="t" r="r" b="b"/>
            <a:pathLst>
              <a:path w="13846184" h="21985110">
                <a:moveTo>
                  <a:pt x="0" y="0"/>
                </a:moveTo>
                <a:lnTo>
                  <a:pt x="13846184" y="0"/>
                </a:lnTo>
                <a:lnTo>
                  <a:pt x="13846184" y="21985110"/>
                </a:lnTo>
                <a:lnTo>
                  <a:pt x="0" y="2198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779" r="-4203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8707629" y="4427134"/>
            <a:ext cx="1165350" cy="11653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2F15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707629" y="2871697"/>
            <a:ext cx="1165350" cy="11653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2F15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707629" y="5982571"/>
            <a:ext cx="1165350" cy="11653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2F15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07629" y="7538007"/>
            <a:ext cx="1165350" cy="11653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2F15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8629" y="2373723"/>
            <a:ext cx="873242" cy="873242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2F15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 13"/>
          <p:cNvSpPr/>
          <p:nvPr/>
        </p:nvSpPr>
        <p:spPr>
          <a:xfrm>
            <a:off x="8931793" y="3111994"/>
            <a:ext cx="717022" cy="684756"/>
          </a:xfrm>
          <a:custGeom>
            <a:avLst/>
            <a:gdLst/>
            <a:ahLst/>
            <a:cxnLst/>
            <a:rect l="l" t="t" r="r" b="b"/>
            <a:pathLst>
              <a:path w="717022" h="684756">
                <a:moveTo>
                  <a:pt x="0" y="0"/>
                </a:moveTo>
                <a:lnTo>
                  <a:pt x="717022" y="0"/>
                </a:lnTo>
                <a:lnTo>
                  <a:pt x="717022" y="684756"/>
                </a:lnTo>
                <a:lnTo>
                  <a:pt x="0" y="684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9035104" y="4680519"/>
            <a:ext cx="510399" cy="658579"/>
          </a:xfrm>
          <a:custGeom>
            <a:avLst/>
            <a:gdLst/>
            <a:ahLst/>
            <a:cxnLst/>
            <a:rect l="l" t="t" r="r" b="b"/>
            <a:pathLst>
              <a:path w="510399" h="658579">
                <a:moveTo>
                  <a:pt x="0" y="0"/>
                </a:moveTo>
                <a:lnTo>
                  <a:pt x="510399" y="0"/>
                </a:lnTo>
                <a:lnTo>
                  <a:pt x="510399" y="658579"/>
                </a:lnTo>
                <a:lnTo>
                  <a:pt x="0" y="658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9035104" y="6100605"/>
            <a:ext cx="544844" cy="955867"/>
          </a:xfrm>
          <a:custGeom>
            <a:avLst/>
            <a:gdLst/>
            <a:ahLst/>
            <a:cxnLst/>
            <a:rect l="l" t="t" r="r" b="b"/>
            <a:pathLst>
              <a:path w="544844" h="955867">
                <a:moveTo>
                  <a:pt x="0" y="0"/>
                </a:moveTo>
                <a:lnTo>
                  <a:pt x="544844" y="0"/>
                </a:lnTo>
                <a:lnTo>
                  <a:pt x="544844" y="955867"/>
                </a:lnTo>
                <a:lnTo>
                  <a:pt x="0" y="9558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8886050" y="7904194"/>
            <a:ext cx="842952" cy="375114"/>
          </a:xfrm>
          <a:custGeom>
            <a:avLst/>
            <a:gdLst/>
            <a:ahLst/>
            <a:cxnLst/>
            <a:rect l="l" t="t" r="r" b="b"/>
            <a:pathLst>
              <a:path w="842952" h="375114">
                <a:moveTo>
                  <a:pt x="0" y="0"/>
                </a:moveTo>
                <a:lnTo>
                  <a:pt x="842952" y="0"/>
                </a:lnTo>
                <a:lnTo>
                  <a:pt x="842952" y="375114"/>
                </a:lnTo>
                <a:lnTo>
                  <a:pt x="0" y="3751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972327" y="2648121"/>
            <a:ext cx="631657" cy="281088"/>
          </a:xfrm>
          <a:custGeom>
            <a:avLst/>
            <a:gdLst/>
            <a:ahLst/>
            <a:cxnLst/>
            <a:rect l="l" t="t" r="r" b="b"/>
            <a:pathLst>
              <a:path w="631657" h="281088">
                <a:moveTo>
                  <a:pt x="0" y="0"/>
                </a:moveTo>
                <a:lnTo>
                  <a:pt x="631657" y="0"/>
                </a:lnTo>
                <a:lnTo>
                  <a:pt x="631657" y="281088"/>
                </a:lnTo>
                <a:lnTo>
                  <a:pt x="0" y="281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AutoShape 18"/>
          <p:cNvSpPr/>
          <p:nvPr/>
        </p:nvSpPr>
        <p:spPr>
          <a:xfrm>
            <a:off x="1539114" y="3171773"/>
            <a:ext cx="3742706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19" name="AutoShape 19"/>
          <p:cNvSpPr/>
          <p:nvPr/>
        </p:nvSpPr>
        <p:spPr>
          <a:xfrm flipH="1">
            <a:off x="1422767" y="3335003"/>
            <a:ext cx="0" cy="523877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1603984" y="3313641"/>
            <a:ext cx="5403652" cy="4342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7"/>
              </a:lnSpc>
            </a:pPr>
            <a:r>
              <a:rPr lang="en-US" sz="2184" dirty="0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• Aequs SEZ Ltd</a:t>
            </a:r>
          </a:p>
          <a:p>
            <a:pPr algn="l">
              <a:lnSpc>
                <a:spcPts val="3057"/>
              </a:lnSpc>
            </a:pPr>
            <a:r>
              <a:rPr lang="en-US" sz="2184" dirty="0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• Scon Projects, Pune</a:t>
            </a:r>
          </a:p>
          <a:p>
            <a:pPr algn="l">
              <a:lnSpc>
                <a:spcPts val="3057"/>
              </a:lnSpc>
            </a:pPr>
            <a:r>
              <a:rPr lang="en-US" sz="2184" dirty="0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• Sterling Tech Mobility Ltd</a:t>
            </a:r>
          </a:p>
          <a:p>
            <a:pPr algn="l">
              <a:lnSpc>
                <a:spcPts val="3057"/>
              </a:lnSpc>
            </a:pPr>
            <a:r>
              <a:rPr lang="en-US" sz="2184" dirty="0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• Crownstone Constructions Pvt Ltd</a:t>
            </a:r>
          </a:p>
          <a:p>
            <a:pPr algn="l">
              <a:lnSpc>
                <a:spcPts val="3057"/>
              </a:lnSpc>
            </a:pPr>
            <a:r>
              <a:rPr lang="en-US" sz="2184" dirty="0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• Surya Priya Constructions</a:t>
            </a:r>
          </a:p>
          <a:p>
            <a:pPr algn="l">
              <a:lnSpc>
                <a:spcPts val="3057"/>
              </a:lnSpc>
            </a:pPr>
            <a:r>
              <a:rPr lang="en-US" sz="2184" dirty="0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• SFS Group India Pvt Ltd</a:t>
            </a:r>
          </a:p>
          <a:p>
            <a:pPr algn="l">
              <a:lnSpc>
                <a:spcPts val="3057"/>
              </a:lnSpc>
            </a:pPr>
            <a:r>
              <a:rPr lang="en-US" sz="2184" dirty="0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2184" dirty="0" err="1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Jinabakul</a:t>
            </a:r>
            <a:r>
              <a:rPr lang="en-US" sz="2184" dirty="0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 Forge Pvt Ltd</a:t>
            </a:r>
          </a:p>
          <a:p>
            <a:pPr algn="l">
              <a:lnSpc>
                <a:spcPts val="3057"/>
              </a:lnSpc>
            </a:pPr>
            <a:r>
              <a:rPr lang="en-US" sz="2184" dirty="0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• White Oaks</a:t>
            </a:r>
          </a:p>
          <a:p>
            <a:pPr algn="l">
              <a:lnSpc>
                <a:spcPts val="3057"/>
              </a:lnSpc>
            </a:pPr>
            <a:r>
              <a:rPr lang="en-US" sz="2184" dirty="0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• Thyssenkrupp Aerospace India</a:t>
            </a:r>
          </a:p>
          <a:p>
            <a:pPr algn="l">
              <a:lnSpc>
                <a:spcPts val="3057"/>
              </a:lnSpc>
            </a:pPr>
            <a:r>
              <a:rPr lang="en-US" sz="2184" dirty="0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• Inovit Aerospace Solutions Pvt Ltd</a:t>
            </a:r>
          </a:p>
          <a:p>
            <a:pPr algn="l">
              <a:lnSpc>
                <a:spcPts val="3057"/>
              </a:lnSpc>
            </a:pPr>
            <a:endParaRPr lang="en-US" sz="2184" dirty="0">
              <a:solidFill>
                <a:srgbClr val="4339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552647" y="6008722"/>
            <a:ext cx="670665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8DC44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Headquartered in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B1B1B"/>
                </a:solidFill>
                <a:latin typeface="Montserrat"/>
                <a:ea typeface="Montserrat"/>
                <a:cs typeface="Montserrat"/>
                <a:sym typeface="Montserrat"/>
              </a:rPr>
              <a:t>Belagavi, Karnataka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52647" y="7764958"/>
            <a:ext cx="6706653" cy="103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8DC44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Clients Served 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1B1B1B"/>
                </a:solidFill>
                <a:latin typeface="Montserrat"/>
                <a:ea typeface="Montserrat"/>
                <a:cs typeface="Montserrat"/>
                <a:sym typeface="Montserrat"/>
              </a:rPr>
              <a:t>8+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52647" y="4724059"/>
            <a:ext cx="6706653" cy="1024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8DC44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Total Projects Completed </a:t>
            </a:r>
          </a:p>
          <a:p>
            <a:pPr algn="l">
              <a:lnSpc>
                <a:spcPts val="4200"/>
              </a:lnSpc>
            </a:pPr>
            <a:r>
              <a:rPr lang="en-US" sz="2600" dirty="0">
                <a:latin typeface="Montserrat"/>
                <a:ea typeface="Montserrat"/>
                <a:cs typeface="Montserrat"/>
                <a:sym typeface="Montserrat"/>
              </a:rPr>
              <a:t>14 +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88156" y="703318"/>
            <a:ext cx="5569878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20"/>
              </a:lnSpc>
            </a:pPr>
            <a:r>
              <a:rPr lang="en-US" sz="6100" b="1">
                <a:solidFill>
                  <a:srgbClr val="8DC441"/>
                </a:solidFill>
                <a:latin typeface="Telegraf Bold"/>
                <a:ea typeface="Telegraf Bold"/>
                <a:cs typeface="Telegraf Bold"/>
                <a:sym typeface="Telegraf Bold"/>
              </a:rPr>
              <a:t>At a </a:t>
            </a:r>
            <a:r>
              <a:rPr lang="en-US" sz="6100">
                <a:solidFill>
                  <a:srgbClr val="433938"/>
                </a:solidFill>
                <a:latin typeface="Telegraf"/>
                <a:ea typeface="Telegraf"/>
                <a:cs typeface="Telegraf"/>
                <a:sym typeface="Telegraf"/>
              </a:rPr>
              <a:t>Glance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52647" y="2884522"/>
            <a:ext cx="6706653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129">
                <a:solidFill>
                  <a:srgbClr val="8DC4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Year of Establishment </a:t>
            </a:r>
          </a:p>
          <a:p>
            <a:pPr algn="l">
              <a:lnSpc>
                <a:spcPts val="4200"/>
              </a:lnSpc>
            </a:pPr>
            <a:r>
              <a:rPr lang="en-US" sz="3000" spc="129">
                <a:solidFill>
                  <a:srgbClr val="1B1B1B"/>
                </a:solidFill>
                <a:latin typeface="Montserrat"/>
                <a:ea typeface="Montserrat"/>
                <a:cs typeface="Montserrat"/>
                <a:sym typeface="Montserrat"/>
              </a:rPr>
              <a:t>15th July 2024</a:t>
            </a:r>
          </a:p>
          <a:p>
            <a:pPr algn="l">
              <a:lnSpc>
                <a:spcPts val="4200"/>
              </a:lnSpc>
            </a:pPr>
            <a:endParaRPr lang="en-US" sz="3000" spc="129">
              <a:solidFill>
                <a:srgbClr val="1B1B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92450" y="2533598"/>
            <a:ext cx="296610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8DC44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Clients Served 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905974" y="732925"/>
            <a:ext cx="3882293" cy="591524"/>
            <a:chOff x="0" y="0"/>
            <a:chExt cx="5176391" cy="788698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5176391" cy="788698"/>
              <a:chOff x="0" y="0"/>
              <a:chExt cx="2436661" cy="37126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436661" cy="371261"/>
              </a:xfrm>
              <a:custGeom>
                <a:avLst/>
                <a:gdLst/>
                <a:ahLst/>
                <a:cxnLst/>
                <a:rect l="l" t="t" r="r" b="b"/>
                <a:pathLst>
                  <a:path w="2436661" h="371261">
                    <a:moveTo>
                      <a:pt x="2233461" y="0"/>
                    </a:moveTo>
                    <a:cubicBezTo>
                      <a:pt x="2345685" y="0"/>
                      <a:pt x="2436661" y="83110"/>
                      <a:pt x="2436661" y="185630"/>
                    </a:cubicBezTo>
                    <a:cubicBezTo>
                      <a:pt x="2436661" y="288151"/>
                      <a:pt x="2345685" y="371261"/>
                      <a:pt x="2233461" y="371261"/>
                    </a:cubicBezTo>
                    <a:lnTo>
                      <a:pt x="203200" y="371261"/>
                    </a:lnTo>
                    <a:cubicBezTo>
                      <a:pt x="90976" y="371261"/>
                      <a:pt x="0" y="288151"/>
                      <a:pt x="0" y="185630"/>
                    </a:cubicBezTo>
                    <a:cubicBezTo>
                      <a:pt x="0" y="8311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0C0C0">
                  <a:alpha val="58824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2436661" cy="4093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52865" y="123324"/>
              <a:ext cx="590456" cy="542049"/>
              <a:chOff x="0" y="0"/>
              <a:chExt cx="1040817" cy="95549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040817" cy="955490"/>
              </a:xfrm>
              <a:custGeom>
                <a:avLst/>
                <a:gdLst/>
                <a:ahLst/>
                <a:cxnLst/>
                <a:rect l="l" t="t" r="r" b="b"/>
                <a:pathLst>
                  <a:path w="1040817" h="955490">
                    <a:moveTo>
                      <a:pt x="520409" y="0"/>
                    </a:moveTo>
                    <a:cubicBezTo>
                      <a:pt x="232995" y="0"/>
                      <a:pt x="0" y="213894"/>
                      <a:pt x="0" y="477745"/>
                    </a:cubicBezTo>
                    <a:cubicBezTo>
                      <a:pt x="0" y="741596"/>
                      <a:pt x="232995" y="955490"/>
                      <a:pt x="520409" y="955490"/>
                    </a:cubicBezTo>
                    <a:cubicBezTo>
                      <a:pt x="807822" y="955490"/>
                      <a:pt x="1040817" y="741596"/>
                      <a:pt x="1040817" y="477745"/>
                    </a:cubicBezTo>
                    <a:cubicBezTo>
                      <a:pt x="1040817" y="213894"/>
                      <a:pt x="807822" y="0"/>
                      <a:pt x="520409" y="0"/>
                    </a:cubicBezTo>
                    <a:close/>
                  </a:path>
                </a:pathLst>
              </a:custGeom>
              <a:solidFill>
                <a:srgbClr val="8DC441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7577" y="51477"/>
                <a:ext cx="845664" cy="814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4" name="Freeform 34"/>
            <p:cNvSpPr/>
            <p:nvPr/>
          </p:nvSpPr>
          <p:spPr>
            <a:xfrm>
              <a:off x="433276" y="284543"/>
              <a:ext cx="229633" cy="219613"/>
            </a:xfrm>
            <a:custGeom>
              <a:avLst/>
              <a:gdLst/>
              <a:ahLst/>
              <a:cxnLst/>
              <a:rect l="l" t="t" r="r" b="b"/>
              <a:pathLst>
                <a:path w="229633" h="219613">
                  <a:moveTo>
                    <a:pt x="0" y="0"/>
                  </a:moveTo>
                  <a:lnTo>
                    <a:pt x="229633" y="0"/>
                  </a:lnTo>
                  <a:lnTo>
                    <a:pt x="229633" y="219613"/>
                  </a:lnTo>
                  <a:lnTo>
                    <a:pt x="0" y="219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1009270" y="584426"/>
              <a:ext cx="2200506" cy="0"/>
            </a:xfrm>
            <a:prstGeom prst="line">
              <a:avLst/>
            </a:prstGeom>
            <a:ln w="50800" cap="flat">
              <a:solidFill>
                <a:srgbClr val="1B5E2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0737" y="140772"/>
              <a:ext cx="2200506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1">
                  <a:solidFill>
                    <a:srgbClr val="1B5E2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At a Glance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469229" y="-5423158"/>
            <a:ext cx="13572647" cy="21446101"/>
          </a:xfrm>
          <a:custGeom>
            <a:avLst/>
            <a:gdLst/>
            <a:ahLst/>
            <a:cxnLst/>
            <a:rect l="l" t="t" r="r" b="b"/>
            <a:pathLst>
              <a:path w="13572647" h="21446101">
                <a:moveTo>
                  <a:pt x="0" y="0"/>
                </a:moveTo>
                <a:lnTo>
                  <a:pt x="13572647" y="0"/>
                </a:lnTo>
                <a:lnTo>
                  <a:pt x="13572647" y="21446101"/>
                </a:lnTo>
                <a:lnTo>
                  <a:pt x="0" y="21446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702" t="-1255" r="-4841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425154" y="3362123"/>
            <a:ext cx="5475337" cy="3205170"/>
            <a:chOff x="0" y="0"/>
            <a:chExt cx="651735" cy="381515"/>
          </a:xfrm>
        </p:grpSpPr>
        <p:sp>
          <p:nvSpPr>
            <p:cNvPr id="4" name="Freeform 4" descr="Site team in PPE standing in front of LT panels"/>
            <p:cNvSpPr/>
            <p:nvPr/>
          </p:nvSpPr>
          <p:spPr>
            <a:xfrm>
              <a:off x="0" y="0"/>
              <a:ext cx="651735" cy="381515"/>
            </a:xfrm>
            <a:custGeom>
              <a:avLst/>
              <a:gdLst/>
              <a:ahLst/>
              <a:cxnLst/>
              <a:rect l="l" t="t" r="r" b="b"/>
              <a:pathLst>
                <a:path w="651735" h="381515">
                  <a:moveTo>
                    <a:pt x="33935" y="0"/>
                  </a:moveTo>
                  <a:lnTo>
                    <a:pt x="617800" y="0"/>
                  </a:lnTo>
                  <a:cubicBezTo>
                    <a:pt x="636542" y="0"/>
                    <a:pt x="651735" y="15193"/>
                    <a:pt x="651735" y="33935"/>
                  </a:cubicBezTo>
                  <a:lnTo>
                    <a:pt x="651735" y="347580"/>
                  </a:lnTo>
                  <a:cubicBezTo>
                    <a:pt x="651735" y="366321"/>
                    <a:pt x="636542" y="381515"/>
                    <a:pt x="617800" y="381515"/>
                  </a:cubicBezTo>
                  <a:lnTo>
                    <a:pt x="33935" y="381515"/>
                  </a:lnTo>
                  <a:cubicBezTo>
                    <a:pt x="15193" y="381515"/>
                    <a:pt x="0" y="366321"/>
                    <a:pt x="0" y="347580"/>
                  </a:cubicBezTo>
                  <a:lnTo>
                    <a:pt x="0" y="33935"/>
                  </a:lnTo>
                  <a:cubicBezTo>
                    <a:pt x="0" y="15193"/>
                    <a:pt x="15193" y="0"/>
                    <a:pt x="33935" y="0"/>
                  </a:cubicBezTo>
                  <a:close/>
                </a:path>
              </a:pathLst>
            </a:custGeom>
            <a:blipFill>
              <a:blip r:embed="rId3"/>
              <a:stretch>
                <a:fillRect t="-15466" b="-12654"/>
              </a:stretch>
            </a:blipFill>
            <a:ln w="66675" cap="rnd">
              <a:solidFill>
                <a:srgbClr val="8DC4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514755" y="6162689"/>
            <a:ext cx="6047419" cy="3540057"/>
            <a:chOff x="0" y="0"/>
            <a:chExt cx="651735" cy="381515"/>
          </a:xfrm>
        </p:grpSpPr>
        <p:sp>
          <p:nvSpPr>
            <p:cNvPr id="6" name="Freeform 6" descr="LT panels with cable ladders and trays overhead"/>
            <p:cNvSpPr/>
            <p:nvPr/>
          </p:nvSpPr>
          <p:spPr>
            <a:xfrm>
              <a:off x="0" y="0"/>
              <a:ext cx="651735" cy="381515"/>
            </a:xfrm>
            <a:custGeom>
              <a:avLst/>
              <a:gdLst/>
              <a:ahLst/>
              <a:cxnLst/>
              <a:rect l="l" t="t" r="r" b="b"/>
              <a:pathLst>
                <a:path w="651735" h="381515">
                  <a:moveTo>
                    <a:pt x="30725" y="0"/>
                  </a:moveTo>
                  <a:lnTo>
                    <a:pt x="621010" y="0"/>
                  </a:lnTo>
                  <a:cubicBezTo>
                    <a:pt x="637979" y="0"/>
                    <a:pt x="651735" y="13756"/>
                    <a:pt x="651735" y="30725"/>
                  </a:cubicBezTo>
                  <a:lnTo>
                    <a:pt x="651735" y="350790"/>
                  </a:lnTo>
                  <a:cubicBezTo>
                    <a:pt x="651735" y="367759"/>
                    <a:pt x="637979" y="381515"/>
                    <a:pt x="621010" y="381515"/>
                  </a:cubicBezTo>
                  <a:lnTo>
                    <a:pt x="30725" y="381515"/>
                  </a:lnTo>
                  <a:cubicBezTo>
                    <a:pt x="13756" y="381515"/>
                    <a:pt x="0" y="367759"/>
                    <a:pt x="0" y="350790"/>
                  </a:cubicBezTo>
                  <a:lnTo>
                    <a:pt x="0" y="30725"/>
                  </a:lnTo>
                  <a:cubicBezTo>
                    <a:pt x="0" y="13756"/>
                    <a:pt x="13756" y="0"/>
                    <a:pt x="30725" y="0"/>
                  </a:cubicBezTo>
                  <a:close/>
                </a:path>
              </a:pathLst>
            </a:custGeom>
            <a:blipFill>
              <a:blip r:embed="rId4"/>
              <a:stretch>
                <a:fillRect t="-16872" b="-11248"/>
              </a:stretch>
            </a:blipFill>
            <a:ln w="66675" cap="rnd">
              <a:solidFill>
                <a:srgbClr val="8DC4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279090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0"/>
                </a:lnTo>
                <a:lnTo>
                  <a:pt x="0" y="7496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4515836" y="6727918"/>
            <a:ext cx="764032" cy="733471"/>
          </a:xfrm>
          <a:custGeom>
            <a:avLst/>
            <a:gdLst/>
            <a:ahLst/>
            <a:cxnLst/>
            <a:rect l="l" t="t" r="r" b="b"/>
            <a:pathLst>
              <a:path w="764032" h="733471">
                <a:moveTo>
                  <a:pt x="0" y="0"/>
                </a:moveTo>
                <a:lnTo>
                  <a:pt x="764032" y="0"/>
                </a:lnTo>
                <a:lnTo>
                  <a:pt x="764032" y="733471"/>
                </a:lnTo>
                <a:lnTo>
                  <a:pt x="0" y="733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9753600" y="3362123"/>
            <a:ext cx="693016" cy="757395"/>
          </a:xfrm>
          <a:custGeom>
            <a:avLst/>
            <a:gdLst/>
            <a:ahLst/>
            <a:cxnLst/>
            <a:rect l="l" t="t" r="r" b="b"/>
            <a:pathLst>
              <a:path w="693016" h="757395">
                <a:moveTo>
                  <a:pt x="0" y="0"/>
                </a:moveTo>
                <a:lnTo>
                  <a:pt x="693016" y="0"/>
                </a:lnTo>
                <a:lnTo>
                  <a:pt x="693016" y="757394"/>
                </a:lnTo>
                <a:lnTo>
                  <a:pt x="0" y="7573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290721" y="1591041"/>
            <a:ext cx="5609770" cy="1479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799" b="1">
                <a:solidFill>
                  <a:srgbClr val="8DC4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</a:t>
            </a:r>
          </a:p>
          <a:p>
            <a:pPr algn="l">
              <a:lnSpc>
                <a:spcPts val="5217"/>
              </a:lnSpc>
            </a:pPr>
            <a:r>
              <a:rPr lang="en-US" sz="4700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VISION &amp; MISSION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81534" y="4389471"/>
            <a:ext cx="8975156" cy="113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8"/>
              </a:lnSpc>
              <a:spcBef>
                <a:spcPct val="0"/>
              </a:spcBef>
            </a:pPr>
            <a:r>
              <a:rPr lang="en-US" sz="2163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To deliver exceptional value to our clients and stakeholders by building world-class infrastructure rooted in reliability, executed with safety, and delivered with excellence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81534" y="3341006"/>
            <a:ext cx="2267266" cy="778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dirty="0">
                <a:solidFill>
                  <a:srgbClr val="8DC441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7820" y="6682877"/>
            <a:ext cx="2788016" cy="77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>
                <a:solidFill>
                  <a:srgbClr val="8DC441"/>
                </a:solidFill>
                <a:latin typeface="Montserrat"/>
                <a:ea typeface="Montserrat"/>
                <a:cs typeface="Montserrat"/>
                <a:sym typeface="Montserrat"/>
              </a:rPr>
              <a:t>MISSION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951662" y="732925"/>
            <a:ext cx="3882293" cy="591524"/>
            <a:chOff x="0" y="0"/>
            <a:chExt cx="2436661" cy="3712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6661" cy="371261"/>
            </a:xfrm>
            <a:custGeom>
              <a:avLst/>
              <a:gdLst/>
              <a:ahLst/>
              <a:cxnLst/>
              <a:rect l="l" t="t" r="r" b="b"/>
              <a:pathLst>
                <a:path w="2436661" h="371261">
                  <a:moveTo>
                    <a:pt x="2233461" y="0"/>
                  </a:moveTo>
                  <a:cubicBezTo>
                    <a:pt x="2345685" y="0"/>
                    <a:pt x="2436661" y="83110"/>
                    <a:pt x="2436661" y="185630"/>
                  </a:cubicBezTo>
                  <a:cubicBezTo>
                    <a:pt x="2436661" y="288151"/>
                    <a:pt x="2345685" y="371261"/>
                    <a:pt x="2233461" y="371261"/>
                  </a:cubicBezTo>
                  <a:lnTo>
                    <a:pt x="203200" y="371261"/>
                  </a:lnTo>
                  <a:cubicBezTo>
                    <a:pt x="90976" y="371261"/>
                    <a:pt x="0" y="288151"/>
                    <a:pt x="0" y="185630"/>
                  </a:cubicBezTo>
                  <a:cubicBezTo>
                    <a:pt x="0" y="831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436661" cy="40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095622" y="825418"/>
            <a:ext cx="442842" cy="406537"/>
            <a:chOff x="0" y="0"/>
            <a:chExt cx="1040817" cy="9554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4230930" y="946332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6" y="0"/>
                </a:lnTo>
                <a:lnTo>
                  <a:pt x="172226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14649471" y="867079"/>
            <a:ext cx="2659983" cy="323215"/>
            <a:chOff x="0" y="0"/>
            <a:chExt cx="3546644" cy="430953"/>
          </a:xfrm>
        </p:grpSpPr>
        <p:sp>
          <p:nvSpPr>
            <p:cNvPr id="22" name="AutoShape 22"/>
            <p:cNvSpPr/>
            <p:nvPr/>
          </p:nvSpPr>
          <p:spPr>
            <a:xfrm>
              <a:off x="38533" y="405553"/>
              <a:ext cx="3508112" cy="0"/>
            </a:xfrm>
            <a:prstGeom prst="line">
              <a:avLst/>
            </a:prstGeom>
            <a:ln w="50800" cap="flat">
              <a:solidFill>
                <a:srgbClr val="1B5E2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3546644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1">
                  <a:solidFill>
                    <a:srgbClr val="1B5E2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Our Vision &amp; Mission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82562" y="7585214"/>
            <a:ext cx="8802877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 provide safe, reliable, and high-quality electrical solutions through innovative engineering, skilled execution, and uncompromising quality. We are committed to exceeding client expectations, building lasting partnerships, and delivering every project with integrity, efficiency, and excellence.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854733" y="-5945778"/>
            <a:ext cx="13653925" cy="20165341"/>
          </a:xfrm>
          <a:custGeom>
            <a:avLst/>
            <a:gdLst/>
            <a:ahLst/>
            <a:cxnLst/>
            <a:rect l="l" t="t" r="r" b="b"/>
            <a:pathLst>
              <a:path w="13653925" h="20165341">
                <a:moveTo>
                  <a:pt x="0" y="0"/>
                </a:moveTo>
                <a:lnTo>
                  <a:pt x="13653926" y="0"/>
                </a:lnTo>
                <a:lnTo>
                  <a:pt x="13653926" y="20165341"/>
                </a:lnTo>
                <a:lnTo>
                  <a:pt x="0" y="20165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496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9443628" y="1995480"/>
            <a:ext cx="8355262" cy="6055561"/>
            <a:chOff x="0" y="0"/>
            <a:chExt cx="946626" cy="686077"/>
          </a:xfrm>
        </p:grpSpPr>
        <p:sp>
          <p:nvSpPr>
            <p:cNvPr id="4" name="Freeform 4" descr="Row of installed LT panels"/>
            <p:cNvSpPr/>
            <p:nvPr/>
          </p:nvSpPr>
          <p:spPr>
            <a:xfrm>
              <a:off x="0" y="0"/>
              <a:ext cx="946626" cy="686077"/>
            </a:xfrm>
            <a:custGeom>
              <a:avLst/>
              <a:gdLst/>
              <a:ahLst/>
              <a:cxnLst/>
              <a:rect l="l" t="t" r="r" b="b"/>
              <a:pathLst>
                <a:path w="946626" h="686077">
                  <a:moveTo>
                    <a:pt x="22238" y="0"/>
                  </a:moveTo>
                  <a:lnTo>
                    <a:pt x="924388" y="0"/>
                  </a:lnTo>
                  <a:cubicBezTo>
                    <a:pt x="930285" y="0"/>
                    <a:pt x="935942" y="2343"/>
                    <a:pt x="940112" y="6513"/>
                  </a:cubicBezTo>
                  <a:cubicBezTo>
                    <a:pt x="944283" y="10684"/>
                    <a:pt x="946626" y="16340"/>
                    <a:pt x="946626" y="22238"/>
                  </a:cubicBezTo>
                  <a:lnTo>
                    <a:pt x="946626" y="663838"/>
                  </a:lnTo>
                  <a:cubicBezTo>
                    <a:pt x="946626" y="669736"/>
                    <a:pt x="944283" y="675393"/>
                    <a:pt x="940112" y="679563"/>
                  </a:cubicBezTo>
                  <a:cubicBezTo>
                    <a:pt x="935942" y="683734"/>
                    <a:pt x="930285" y="686077"/>
                    <a:pt x="924388" y="686077"/>
                  </a:cubicBezTo>
                  <a:lnTo>
                    <a:pt x="22238" y="686077"/>
                  </a:lnTo>
                  <a:cubicBezTo>
                    <a:pt x="16340" y="686077"/>
                    <a:pt x="10684" y="683734"/>
                    <a:pt x="6513" y="679563"/>
                  </a:cubicBezTo>
                  <a:cubicBezTo>
                    <a:pt x="2343" y="675393"/>
                    <a:pt x="0" y="669736"/>
                    <a:pt x="0" y="663838"/>
                  </a:cubicBezTo>
                  <a:lnTo>
                    <a:pt x="0" y="22238"/>
                  </a:lnTo>
                  <a:cubicBezTo>
                    <a:pt x="0" y="16340"/>
                    <a:pt x="2343" y="10684"/>
                    <a:pt x="6513" y="6513"/>
                  </a:cubicBezTo>
                  <a:cubicBezTo>
                    <a:pt x="10684" y="2343"/>
                    <a:pt x="16340" y="0"/>
                    <a:pt x="22238" y="0"/>
                  </a:cubicBezTo>
                  <a:close/>
                </a:path>
              </a:pathLst>
            </a:custGeom>
            <a:blipFill>
              <a:blip r:embed="rId3"/>
              <a:stretch>
                <a:fillRect t="-1741" b="-1741"/>
              </a:stretch>
            </a:blipFill>
            <a:ln w="66675" cap="rnd">
              <a:solidFill>
                <a:srgbClr val="8DC4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5"/>
          <p:cNvSpPr/>
          <p:nvPr/>
        </p:nvSpPr>
        <p:spPr>
          <a:xfrm rot="-2700000">
            <a:off x="1100748" y="2319070"/>
            <a:ext cx="445827" cy="445827"/>
          </a:xfrm>
          <a:custGeom>
            <a:avLst/>
            <a:gdLst/>
            <a:ahLst/>
            <a:cxnLst/>
            <a:rect l="l" t="t" r="r" b="b"/>
            <a:pathLst>
              <a:path w="445827" h="445827">
                <a:moveTo>
                  <a:pt x="0" y="0"/>
                </a:moveTo>
                <a:lnTo>
                  <a:pt x="445827" y="0"/>
                </a:lnTo>
                <a:lnTo>
                  <a:pt x="445827" y="445827"/>
                </a:lnTo>
                <a:lnTo>
                  <a:pt x="0" y="4458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466910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466910" y="2063589"/>
            <a:ext cx="6690844" cy="86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13"/>
              </a:lnSpc>
              <a:spcBef>
                <a:spcPct val="0"/>
              </a:spcBef>
            </a:pPr>
            <a:r>
              <a:rPr lang="en-US" sz="5081" b="1">
                <a:solidFill>
                  <a:srgbClr val="8DC4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CORE VALUES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6910" y="3137402"/>
            <a:ext cx="7214786" cy="1810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These ideals are ingrained in every cable we lay and every system we energise at Adler, making them more than just guiding concepts.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66910" y="6201239"/>
            <a:ext cx="7358035" cy="2314372"/>
            <a:chOff x="0" y="0"/>
            <a:chExt cx="9810713" cy="3085829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937439" cy="3085829"/>
              <a:chOff x="0" y="0"/>
              <a:chExt cx="516658" cy="54275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16658" cy="542758"/>
              </a:xfrm>
              <a:custGeom>
                <a:avLst/>
                <a:gdLst/>
                <a:ahLst/>
                <a:cxnLst/>
                <a:rect l="l" t="t" r="r" b="b"/>
                <a:pathLst>
                  <a:path w="516658" h="542758">
                    <a:moveTo>
                      <a:pt x="67092" y="0"/>
                    </a:moveTo>
                    <a:lnTo>
                      <a:pt x="449567" y="0"/>
                    </a:lnTo>
                    <a:cubicBezTo>
                      <a:pt x="467360" y="0"/>
                      <a:pt x="484425" y="7069"/>
                      <a:pt x="497008" y="19651"/>
                    </a:cubicBezTo>
                    <a:cubicBezTo>
                      <a:pt x="509590" y="32233"/>
                      <a:pt x="516658" y="49298"/>
                      <a:pt x="516658" y="67092"/>
                    </a:cubicBezTo>
                    <a:lnTo>
                      <a:pt x="516658" y="475666"/>
                    </a:lnTo>
                    <a:cubicBezTo>
                      <a:pt x="516658" y="512720"/>
                      <a:pt x="486620" y="542758"/>
                      <a:pt x="449567" y="542758"/>
                    </a:cubicBezTo>
                    <a:lnTo>
                      <a:pt x="67092" y="542758"/>
                    </a:lnTo>
                    <a:cubicBezTo>
                      <a:pt x="49298" y="542758"/>
                      <a:pt x="32233" y="535689"/>
                      <a:pt x="19651" y="523107"/>
                    </a:cubicBezTo>
                    <a:cubicBezTo>
                      <a:pt x="7069" y="510525"/>
                      <a:pt x="0" y="493460"/>
                      <a:pt x="0" y="475666"/>
                    </a:cubicBezTo>
                    <a:lnTo>
                      <a:pt x="0" y="67092"/>
                    </a:lnTo>
                    <a:cubicBezTo>
                      <a:pt x="0" y="49298"/>
                      <a:pt x="7069" y="32233"/>
                      <a:pt x="19651" y="19651"/>
                    </a:cubicBezTo>
                    <a:cubicBezTo>
                      <a:pt x="32233" y="7069"/>
                      <a:pt x="49298" y="0"/>
                      <a:pt x="67092" y="0"/>
                    </a:cubicBezTo>
                    <a:close/>
                  </a:path>
                </a:pathLst>
              </a:custGeom>
              <a:solidFill>
                <a:srgbClr val="21212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516658" cy="5808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3436637" y="0"/>
              <a:ext cx="2937439" cy="3085829"/>
              <a:chOff x="0" y="0"/>
              <a:chExt cx="516658" cy="54275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16658" cy="542758"/>
              </a:xfrm>
              <a:custGeom>
                <a:avLst/>
                <a:gdLst/>
                <a:ahLst/>
                <a:cxnLst/>
                <a:rect l="l" t="t" r="r" b="b"/>
                <a:pathLst>
                  <a:path w="516658" h="542758">
                    <a:moveTo>
                      <a:pt x="67092" y="0"/>
                    </a:moveTo>
                    <a:lnTo>
                      <a:pt x="449567" y="0"/>
                    </a:lnTo>
                    <a:cubicBezTo>
                      <a:pt x="467360" y="0"/>
                      <a:pt x="484425" y="7069"/>
                      <a:pt x="497008" y="19651"/>
                    </a:cubicBezTo>
                    <a:cubicBezTo>
                      <a:pt x="509590" y="32233"/>
                      <a:pt x="516658" y="49298"/>
                      <a:pt x="516658" y="67092"/>
                    </a:cubicBezTo>
                    <a:lnTo>
                      <a:pt x="516658" y="475666"/>
                    </a:lnTo>
                    <a:cubicBezTo>
                      <a:pt x="516658" y="512720"/>
                      <a:pt x="486620" y="542758"/>
                      <a:pt x="449567" y="542758"/>
                    </a:cubicBezTo>
                    <a:lnTo>
                      <a:pt x="67092" y="542758"/>
                    </a:lnTo>
                    <a:cubicBezTo>
                      <a:pt x="49298" y="542758"/>
                      <a:pt x="32233" y="535689"/>
                      <a:pt x="19651" y="523107"/>
                    </a:cubicBezTo>
                    <a:cubicBezTo>
                      <a:pt x="7069" y="510525"/>
                      <a:pt x="0" y="493460"/>
                      <a:pt x="0" y="475666"/>
                    </a:cubicBezTo>
                    <a:lnTo>
                      <a:pt x="0" y="67092"/>
                    </a:lnTo>
                    <a:cubicBezTo>
                      <a:pt x="0" y="49298"/>
                      <a:pt x="7069" y="32233"/>
                      <a:pt x="19651" y="19651"/>
                    </a:cubicBezTo>
                    <a:cubicBezTo>
                      <a:pt x="32233" y="7069"/>
                      <a:pt x="49298" y="0"/>
                      <a:pt x="67092" y="0"/>
                    </a:cubicBezTo>
                    <a:close/>
                  </a:path>
                </a:pathLst>
              </a:custGeom>
              <a:solidFill>
                <a:srgbClr val="21212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516658" cy="5808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873273" y="0"/>
              <a:ext cx="2937439" cy="3085829"/>
              <a:chOff x="0" y="0"/>
              <a:chExt cx="516658" cy="54275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16658" cy="542758"/>
              </a:xfrm>
              <a:custGeom>
                <a:avLst/>
                <a:gdLst/>
                <a:ahLst/>
                <a:cxnLst/>
                <a:rect l="l" t="t" r="r" b="b"/>
                <a:pathLst>
                  <a:path w="516658" h="542758">
                    <a:moveTo>
                      <a:pt x="67092" y="0"/>
                    </a:moveTo>
                    <a:lnTo>
                      <a:pt x="449567" y="0"/>
                    </a:lnTo>
                    <a:cubicBezTo>
                      <a:pt x="467360" y="0"/>
                      <a:pt x="484425" y="7069"/>
                      <a:pt x="497008" y="19651"/>
                    </a:cubicBezTo>
                    <a:cubicBezTo>
                      <a:pt x="509590" y="32233"/>
                      <a:pt x="516658" y="49298"/>
                      <a:pt x="516658" y="67092"/>
                    </a:cubicBezTo>
                    <a:lnTo>
                      <a:pt x="516658" y="475666"/>
                    </a:lnTo>
                    <a:cubicBezTo>
                      <a:pt x="516658" y="512720"/>
                      <a:pt x="486620" y="542758"/>
                      <a:pt x="449567" y="542758"/>
                    </a:cubicBezTo>
                    <a:lnTo>
                      <a:pt x="67092" y="542758"/>
                    </a:lnTo>
                    <a:cubicBezTo>
                      <a:pt x="49298" y="542758"/>
                      <a:pt x="32233" y="535689"/>
                      <a:pt x="19651" y="523107"/>
                    </a:cubicBezTo>
                    <a:cubicBezTo>
                      <a:pt x="7069" y="510525"/>
                      <a:pt x="0" y="493460"/>
                      <a:pt x="0" y="475666"/>
                    </a:cubicBezTo>
                    <a:lnTo>
                      <a:pt x="0" y="67092"/>
                    </a:lnTo>
                    <a:cubicBezTo>
                      <a:pt x="0" y="49298"/>
                      <a:pt x="7069" y="32233"/>
                      <a:pt x="19651" y="19651"/>
                    </a:cubicBezTo>
                    <a:cubicBezTo>
                      <a:pt x="32233" y="7069"/>
                      <a:pt x="49298" y="0"/>
                      <a:pt x="67092" y="0"/>
                    </a:cubicBezTo>
                    <a:close/>
                  </a:path>
                </a:pathLst>
              </a:custGeom>
              <a:solidFill>
                <a:srgbClr val="21212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516658" cy="5808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949226" y="408798"/>
              <a:ext cx="1038987" cy="1298733"/>
            </a:xfrm>
            <a:custGeom>
              <a:avLst/>
              <a:gdLst/>
              <a:ahLst/>
              <a:cxnLst/>
              <a:rect l="l" t="t" r="r" b="b"/>
              <a:pathLst>
                <a:path w="1038987" h="1298733">
                  <a:moveTo>
                    <a:pt x="0" y="0"/>
                  </a:moveTo>
                  <a:lnTo>
                    <a:pt x="1038987" y="0"/>
                  </a:lnTo>
                  <a:lnTo>
                    <a:pt x="1038987" y="1298734"/>
                  </a:lnTo>
                  <a:lnTo>
                    <a:pt x="0" y="1298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7301457" y="408798"/>
              <a:ext cx="2143518" cy="1134116"/>
            </a:xfrm>
            <a:custGeom>
              <a:avLst/>
              <a:gdLst/>
              <a:ahLst/>
              <a:cxnLst/>
              <a:rect l="l" t="t" r="r" b="b"/>
              <a:pathLst>
                <a:path w="2143518" h="1134116">
                  <a:moveTo>
                    <a:pt x="0" y="0"/>
                  </a:moveTo>
                  <a:lnTo>
                    <a:pt x="2143519" y="0"/>
                  </a:lnTo>
                  <a:lnTo>
                    <a:pt x="2143519" y="1134116"/>
                  </a:lnTo>
                  <a:lnTo>
                    <a:pt x="0" y="1134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4256354" y="408798"/>
              <a:ext cx="1298006" cy="1373551"/>
            </a:xfrm>
            <a:custGeom>
              <a:avLst/>
              <a:gdLst/>
              <a:ahLst/>
              <a:cxnLst/>
              <a:rect l="l" t="t" r="r" b="b"/>
              <a:pathLst>
                <a:path w="1298006" h="1373551">
                  <a:moveTo>
                    <a:pt x="0" y="0"/>
                  </a:moveTo>
                  <a:lnTo>
                    <a:pt x="1298005" y="0"/>
                  </a:lnTo>
                  <a:lnTo>
                    <a:pt x="1298005" y="1373551"/>
                  </a:lnTo>
                  <a:lnTo>
                    <a:pt x="0" y="1373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4613" y="1866474"/>
              <a:ext cx="1988213" cy="465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87"/>
                </a:lnSpc>
                <a:spcBef>
                  <a:spcPct val="0"/>
                </a:spcBef>
              </a:pPr>
              <a:r>
                <a:rPr lang="en-US" sz="2133" b="1">
                  <a:solidFill>
                    <a:srgbClr val="74B9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QUALITY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11250" y="1866474"/>
              <a:ext cx="1988213" cy="465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87"/>
                </a:lnSpc>
                <a:spcBef>
                  <a:spcPct val="0"/>
                </a:spcBef>
              </a:pPr>
              <a:r>
                <a:rPr lang="en-US" sz="2133" b="1">
                  <a:solidFill>
                    <a:srgbClr val="74B9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SAFETY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56763" y="1866474"/>
              <a:ext cx="1988213" cy="465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87"/>
                </a:lnSpc>
                <a:spcBef>
                  <a:spcPct val="0"/>
                </a:spcBef>
              </a:pPr>
              <a:r>
                <a:rPr lang="en-US" sz="2133" b="1">
                  <a:solidFill>
                    <a:srgbClr val="74B9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TRUST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916598" y="732938"/>
            <a:ext cx="3882293" cy="591524"/>
            <a:chOff x="0" y="0"/>
            <a:chExt cx="5176391" cy="788698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5176391" cy="788698"/>
              <a:chOff x="0" y="0"/>
              <a:chExt cx="2436661" cy="371261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436661" cy="371261"/>
              </a:xfrm>
              <a:custGeom>
                <a:avLst/>
                <a:gdLst/>
                <a:ahLst/>
                <a:cxnLst/>
                <a:rect l="l" t="t" r="r" b="b"/>
                <a:pathLst>
                  <a:path w="2436661" h="371261">
                    <a:moveTo>
                      <a:pt x="2233461" y="0"/>
                    </a:moveTo>
                    <a:cubicBezTo>
                      <a:pt x="2345685" y="0"/>
                      <a:pt x="2436661" y="83110"/>
                      <a:pt x="2436661" y="185630"/>
                    </a:cubicBezTo>
                    <a:cubicBezTo>
                      <a:pt x="2436661" y="288151"/>
                      <a:pt x="2345685" y="371261"/>
                      <a:pt x="2233461" y="371261"/>
                    </a:cubicBezTo>
                    <a:lnTo>
                      <a:pt x="203200" y="371261"/>
                    </a:lnTo>
                    <a:cubicBezTo>
                      <a:pt x="90976" y="371261"/>
                      <a:pt x="0" y="288151"/>
                      <a:pt x="0" y="185630"/>
                    </a:cubicBezTo>
                    <a:cubicBezTo>
                      <a:pt x="0" y="8311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0C0C0">
                  <a:alpha val="58824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2436661" cy="4093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238699" y="123307"/>
              <a:ext cx="590456" cy="542049"/>
              <a:chOff x="0" y="0"/>
              <a:chExt cx="1040817" cy="95549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040817" cy="955490"/>
              </a:xfrm>
              <a:custGeom>
                <a:avLst/>
                <a:gdLst/>
                <a:ahLst/>
                <a:cxnLst/>
                <a:rect l="l" t="t" r="r" b="b"/>
                <a:pathLst>
                  <a:path w="1040817" h="955490">
                    <a:moveTo>
                      <a:pt x="520409" y="0"/>
                    </a:moveTo>
                    <a:cubicBezTo>
                      <a:pt x="232995" y="0"/>
                      <a:pt x="0" y="213894"/>
                      <a:pt x="0" y="477745"/>
                    </a:cubicBezTo>
                    <a:cubicBezTo>
                      <a:pt x="0" y="741596"/>
                      <a:pt x="232995" y="955490"/>
                      <a:pt x="520409" y="955490"/>
                    </a:cubicBezTo>
                    <a:cubicBezTo>
                      <a:pt x="807822" y="955490"/>
                      <a:pt x="1040817" y="741596"/>
                      <a:pt x="1040817" y="477745"/>
                    </a:cubicBezTo>
                    <a:cubicBezTo>
                      <a:pt x="1040817" y="213894"/>
                      <a:pt x="807822" y="0"/>
                      <a:pt x="520409" y="0"/>
                    </a:cubicBezTo>
                    <a:close/>
                  </a:path>
                </a:pathLst>
              </a:custGeom>
              <a:solidFill>
                <a:srgbClr val="8DC441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7577" y="51477"/>
                <a:ext cx="845664" cy="814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2" name="Freeform 32"/>
            <p:cNvSpPr/>
            <p:nvPr/>
          </p:nvSpPr>
          <p:spPr>
            <a:xfrm>
              <a:off x="419110" y="284525"/>
              <a:ext cx="229633" cy="219613"/>
            </a:xfrm>
            <a:custGeom>
              <a:avLst/>
              <a:gdLst/>
              <a:ahLst/>
              <a:cxnLst/>
              <a:rect l="l" t="t" r="r" b="b"/>
              <a:pathLst>
                <a:path w="229633" h="219613">
                  <a:moveTo>
                    <a:pt x="0" y="0"/>
                  </a:moveTo>
                  <a:lnTo>
                    <a:pt x="229634" y="0"/>
                  </a:lnTo>
                  <a:lnTo>
                    <a:pt x="229634" y="219613"/>
                  </a:lnTo>
                  <a:lnTo>
                    <a:pt x="0" y="219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934494" y="571708"/>
              <a:ext cx="2880385" cy="0"/>
            </a:xfrm>
            <a:prstGeom prst="line">
              <a:avLst/>
            </a:prstGeom>
            <a:ln w="50800" cap="flat">
              <a:solidFill>
                <a:srgbClr val="1B5E2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4494" y="153455"/>
              <a:ext cx="2816079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1">
                  <a:solidFill>
                    <a:srgbClr val="1B5E2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Our Core Values</a:t>
              </a:r>
            </a:p>
          </p:txBody>
        </p:sp>
      </p:grpSp>
      <p:sp>
        <p:nvSpPr>
          <p:cNvPr id="35" name="Value line 35"/>
          <p:cNvSpPr txBox="1"/>
          <p:nvPr/>
        </p:nvSpPr>
        <p:spPr>
          <a:xfrm>
            <a:off x="1406910" y="8680000"/>
            <a:ext cx="2323079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500" dirty="0">
                <a:solidFill>
                  <a:srgbClr val="212120"/>
                </a:solidFill>
                <a:latin typeface="Montserrat"/>
                <a:ea typeface="Montserrat"/>
                <a:cs typeface="Montserrat"/>
              </a:rPr>
              <a:t>Every installation tested and checked before handover.</a:t>
            </a:r>
          </a:p>
        </p:txBody>
      </p:sp>
      <p:sp>
        <p:nvSpPr>
          <p:cNvPr id="36" name="Value line 36"/>
          <p:cNvSpPr txBox="1"/>
          <p:nvPr/>
        </p:nvSpPr>
        <p:spPr>
          <a:xfrm>
            <a:off x="3984387" y="8680000"/>
            <a:ext cx="2323079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500" dirty="0">
                <a:solidFill>
                  <a:srgbClr val="212120"/>
                </a:solidFill>
                <a:latin typeface="Montserrat"/>
                <a:ea typeface="Montserrat"/>
                <a:cs typeface="Montserrat"/>
              </a:rPr>
              <a:t>Safe work methods and full PPE on every site, every day.</a:t>
            </a:r>
          </a:p>
        </p:txBody>
      </p:sp>
      <p:sp>
        <p:nvSpPr>
          <p:cNvPr id="37" name="Value line 37"/>
          <p:cNvSpPr txBox="1"/>
          <p:nvPr/>
        </p:nvSpPr>
        <p:spPr>
          <a:xfrm>
            <a:off x="6561864" y="8680000"/>
            <a:ext cx="2323079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500" dirty="0">
                <a:solidFill>
                  <a:srgbClr val="212120"/>
                </a:solidFill>
                <a:latin typeface="Montserrat"/>
                <a:ea typeface="Montserrat"/>
                <a:cs typeface="Montserrat"/>
              </a:rPr>
              <a:t>Honest dealings and commitments delivered on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825566" y="-5537847"/>
            <a:ext cx="13653925" cy="20165341"/>
          </a:xfrm>
          <a:custGeom>
            <a:avLst/>
            <a:gdLst/>
            <a:ahLst/>
            <a:cxnLst/>
            <a:rect l="l" t="t" r="r" b="b"/>
            <a:pathLst>
              <a:path w="13653925" h="20165341">
                <a:moveTo>
                  <a:pt x="0" y="0"/>
                </a:moveTo>
                <a:lnTo>
                  <a:pt x="13653925" y="0"/>
                </a:lnTo>
                <a:lnTo>
                  <a:pt x="13653925" y="20165341"/>
                </a:lnTo>
                <a:lnTo>
                  <a:pt x="0" y="20165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496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8471109" y="5637756"/>
            <a:ext cx="9115953" cy="4145979"/>
            <a:chOff x="0" y="0"/>
            <a:chExt cx="856722" cy="3896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56722" cy="389641"/>
            </a:xfrm>
            <a:custGeom>
              <a:avLst/>
              <a:gdLst/>
              <a:ahLst/>
              <a:cxnLst/>
              <a:rect l="l" t="t" r="r" b="b"/>
              <a:pathLst>
                <a:path w="856722" h="389641">
                  <a:moveTo>
                    <a:pt x="20383" y="0"/>
                  </a:moveTo>
                  <a:lnTo>
                    <a:pt x="836340" y="0"/>
                  </a:lnTo>
                  <a:cubicBezTo>
                    <a:pt x="841745" y="0"/>
                    <a:pt x="846930" y="2147"/>
                    <a:pt x="850752" y="5970"/>
                  </a:cubicBezTo>
                  <a:cubicBezTo>
                    <a:pt x="854575" y="9792"/>
                    <a:pt x="856722" y="14977"/>
                    <a:pt x="856722" y="20383"/>
                  </a:cubicBezTo>
                  <a:lnTo>
                    <a:pt x="856722" y="369259"/>
                  </a:lnTo>
                  <a:cubicBezTo>
                    <a:pt x="856722" y="374665"/>
                    <a:pt x="854575" y="379849"/>
                    <a:pt x="850752" y="383671"/>
                  </a:cubicBezTo>
                  <a:cubicBezTo>
                    <a:pt x="846930" y="387494"/>
                    <a:pt x="841745" y="389641"/>
                    <a:pt x="836340" y="389641"/>
                  </a:cubicBezTo>
                  <a:lnTo>
                    <a:pt x="20383" y="389641"/>
                  </a:lnTo>
                  <a:cubicBezTo>
                    <a:pt x="14977" y="389641"/>
                    <a:pt x="9792" y="387494"/>
                    <a:pt x="5970" y="383671"/>
                  </a:cubicBezTo>
                  <a:cubicBezTo>
                    <a:pt x="2147" y="379849"/>
                    <a:pt x="0" y="374665"/>
                    <a:pt x="0" y="369259"/>
                  </a:cubicBezTo>
                  <a:lnTo>
                    <a:pt x="0" y="20383"/>
                  </a:lnTo>
                  <a:cubicBezTo>
                    <a:pt x="0" y="14977"/>
                    <a:pt x="2147" y="9792"/>
                    <a:pt x="5970" y="5970"/>
                  </a:cubicBezTo>
                  <a:cubicBezTo>
                    <a:pt x="9792" y="2147"/>
                    <a:pt x="14977" y="0"/>
                    <a:pt x="20383" y="0"/>
                  </a:cubicBezTo>
                  <a:close/>
                </a:path>
              </a:pathLst>
            </a:custGeom>
            <a:blipFill>
              <a:blip r:embed="rId3"/>
              <a:stretch>
                <a:fillRect l="-8890" t="-30341" r="-22660"/>
              </a:stretch>
            </a:blipFill>
            <a:ln w="76200" cap="rnd">
              <a:solidFill>
                <a:srgbClr val="8DC4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87792" y="2076154"/>
            <a:ext cx="5199269" cy="3305519"/>
            <a:chOff x="0" y="0"/>
            <a:chExt cx="465880" cy="2961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5880" cy="296191"/>
            </a:xfrm>
            <a:custGeom>
              <a:avLst/>
              <a:gdLst/>
              <a:ahLst/>
              <a:cxnLst/>
              <a:rect l="l" t="t" r="r" b="b"/>
              <a:pathLst>
                <a:path w="465880" h="296191">
                  <a:moveTo>
                    <a:pt x="35737" y="0"/>
                  </a:moveTo>
                  <a:lnTo>
                    <a:pt x="430144" y="0"/>
                  </a:lnTo>
                  <a:cubicBezTo>
                    <a:pt x="439622" y="0"/>
                    <a:pt x="448711" y="3765"/>
                    <a:pt x="455413" y="10467"/>
                  </a:cubicBezTo>
                  <a:cubicBezTo>
                    <a:pt x="462115" y="17169"/>
                    <a:pt x="465880" y="26259"/>
                    <a:pt x="465880" y="35737"/>
                  </a:cubicBezTo>
                  <a:lnTo>
                    <a:pt x="465880" y="260454"/>
                  </a:lnTo>
                  <a:cubicBezTo>
                    <a:pt x="465880" y="280191"/>
                    <a:pt x="449880" y="296191"/>
                    <a:pt x="430144" y="296191"/>
                  </a:cubicBezTo>
                  <a:lnTo>
                    <a:pt x="35737" y="296191"/>
                  </a:lnTo>
                  <a:cubicBezTo>
                    <a:pt x="16000" y="296191"/>
                    <a:pt x="0" y="280191"/>
                    <a:pt x="0" y="260454"/>
                  </a:cubicBezTo>
                  <a:lnTo>
                    <a:pt x="0" y="35737"/>
                  </a:lnTo>
                  <a:cubicBezTo>
                    <a:pt x="0" y="16000"/>
                    <a:pt x="16000" y="0"/>
                    <a:pt x="35737" y="0"/>
                  </a:cubicBezTo>
                  <a:close/>
                </a:path>
              </a:pathLst>
            </a:custGeom>
            <a:blipFill>
              <a:blip r:embed="rId4"/>
              <a:stretch>
                <a:fillRect t="-67931" b="-67931"/>
              </a:stretch>
            </a:blipFill>
            <a:ln w="76200" cap="rnd">
              <a:solidFill>
                <a:srgbClr val="8DC4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714747" y="705485"/>
            <a:ext cx="113551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5237" y="1637220"/>
            <a:ext cx="554143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8DC4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CORE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6282" y="2716721"/>
            <a:ext cx="7677717" cy="1012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sz="5899" dirty="0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DIFFERENTIATORS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5237" y="4252788"/>
            <a:ext cx="6750000" cy="5183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600" b="1" dirty="0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sets Adler apart from others?</a:t>
            </a:r>
          </a:p>
          <a:p>
            <a:pPr algn="l">
              <a:lnSpc>
                <a:spcPts val="3442"/>
              </a:lnSpc>
            </a:pPr>
            <a:r>
              <a:rPr lang="en-US" sz="1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End-to-end electrical expertise – HT/LT works, substations, panels, cabling and lighting</a:t>
            </a:r>
          </a:p>
          <a:p>
            <a:pPr algn="l">
              <a:lnSpc>
                <a:spcPts val="3442"/>
              </a:lnSpc>
            </a:pPr>
            <a:r>
              <a:rPr lang="en-US" sz="1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Class I </a:t>
            </a:r>
            <a:r>
              <a:rPr lang="en-US" sz="1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licence</a:t>
            </a:r>
            <a:r>
              <a:rPr lang="en-US" sz="1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 electrical works up to 33 kV, with a Grade I licensed supervisor</a:t>
            </a:r>
          </a:p>
          <a:p>
            <a:pPr algn="l">
              <a:lnSpc>
                <a:spcPts val="3442"/>
              </a:lnSpc>
            </a:pPr>
            <a:r>
              <a:rPr lang="en-US" sz="1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Proven record in securing CEIG / Electrical Inspectorate approvals – incl. </a:t>
            </a:r>
            <a:r>
              <a:rPr lang="en-US" sz="19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Thyssenkrupp Aerospace, Inovit Aerospace Solutions, Bengaluru</a:t>
            </a:r>
          </a:p>
          <a:p>
            <a:pPr algn="l">
              <a:lnSpc>
                <a:spcPts val="3442"/>
              </a:lnSpc>
            </a:pPr>
            <a:r>
              <a:rPr lang="en-US" sz="1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Trusted by </a:t>
            </a:r>
            <a:r>
              <a:rPr lang="en-US" sz="19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14+ clients</a:t>
            </a:r>
            <a:r>
              <a:rPr lang="en-US" sz="1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across SEZ, aerospace and EV sectors in Karnataka and Tamil Nadu</a:t>
            </a:r>
          </a:p>
          <a:p>
            <a:pPr algn="l">
              <a:lnSpc>
                <a:spcPts val="3442"/>
              </a:lnSpc>
            </a:pPr>
            <a:r>
              <a:rPr lang="en-US" sz="1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1900" b="1" dirty="0">
                <a:solidFill>
                  <a:srgbClr val="000000"/>
                </a:solidFill>
                <a:latin typeface="Montserrat Bold"/>
                <a:ea typeface="Montserrat"/>
                <a:cs typeface="Montserrat"/>
                <a:sym typeface="Montserrat Bold"/>
              </a:rPr>
              <a:t>14</a:t>
            </a:r>
            <a:r>
              <a:rPr lang="en-US" sz="19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 projects</a:t>
            </a:r>
            <a:r>
              <a:rPr lang="en-US" sz="1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since 2024 – </a:t>
            </a:r>
            <a:r>
              <a:rPr lang="en-US" sz="19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₹10.7 Cr+</a:t>
            </a:r>
            <a:r>
              <a:rPr lang="en-US" sz="1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in project value and </a:t>
            </a:r>
            <a:r>
              <a:rPr lang="en-US" sz="19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27 MVA+</a:t>
            </a:r>
            <a:r>
              <a:rPr lang="en-US" sz="1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of capacity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1231969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13437737" y="743585"/>
            <a:ext cx="4297575" cy="585253"/>
            <a:chOff x="0" y="0"/>
            <a:chExt cx="2697306" cy="3673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97306" cy="367325"/>
            </a:xfrm>
            <a:custGeom>
              <a:avLst/>
              <a:gdLst/>
              <a:ahLst/>
              <a:cxnLst/>
              <a:rect l="l" t="t" r="r" b="b"/>
              <a:pathLst>
                <a:path w="2697306" h="367325">
                  <a:moveTo>
                    <a:pt x="2494106" y="0"/>
                  </a:moveTo>
                  <a:cubicBezTo>
                    <a:pt x="2606330" y="0"/>
                    <a:pt x="2697306" y="82228"/>
                    <a:pt x="2697306" y="183662"/>
                  </a:cubicBezTo>
                  <a:cubicBezTo>
                    <a:pt x="2697306" y="285096"/>
                    <a:pt x="2606330" y="367325"/>
                    <a:pt x="2494106" y="367325"/>
                  </a:cubicBezTo>
                  <a:lnTo>
                    <a:pt x="203200" y="367325"/>
                  </a:lnTo>
                  <a:cubicBezTo>
                    <a:pt x="90976" y="367325"/>
                    <a:pt x="0" y="285096"/>
                    <a:pt x="0" y="183662"/>
                  </a:cubicBezTo>
                  <a:cubicBezTo>
                    <a:pt x="0" y="822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697306" cy="40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27386" y="836078"/>
            <a:ext cx="442842" cy="406537"/>
            <a:chOff x="0" y="0"/>
            <a:chExt cx="1040817" cy="9554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3762694" y="956992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6" y="0"/>
                </a:lnTo>
                <a:lnTo>
                  <a:pt x="172226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AutoShape 19"/>
          <p:cNvSpPr/>
          <p:nvPr/>
        </p:nvSpPr>
        <p:spPr>
          <a:xfrm>
            <a:off x="14194690" y="1181904"/>
            <a:ext cx="3125341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14165790" y="848042"/>
            <a:ext cx="3154240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Core Differentiators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2916150" y="-4939170"/>
            <a:ext cx="13653925" cy="20165341"/>
          </a:xfrm>
          <a:custGeom>
            <a:avLst/>
            <a:gdLst/>
            <a:ahLst/>
            <a:cxnLst/>
            <a:rect l="l" t="t" r="r" b="b"/>
            <a:pathLst>
              <a:path w="13653925" h="20165341">
                <a:moveTo>
                  <a:pt x="0" y="20165340"/>
                </a:moveTo>
                <a:lnTo>
                  <a:pt x="13653925" y="20165340"/>
                </a:lnTo>
                <a:lnTo>
                  <a:pt x="13653925" y="0"/>
                </a:lnTo>
                <a:lnTo>
                  <a:pt x="0" y="0"/>
                </a:lnTo>
                <a:lnTo>
                  <a:pt x="0" y="2016534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496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908681" y="739160"/>
            <a:ext cx="3882293" cy="579053"/>
            <a:chOff x="0" y="0"/>
            <a:chExt cx="2436661" cy="3634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6661" cy="363434"/>
            </a:xfrm>
            <a:custGeom>
              <a:avLst/>
              <a:gdLst/>
              <a:ahLst/>
              <a:cxnLst/>
              <a:rect l="l" t="t" r="r" b="b"/>
              <a:pathLst>
                <a:path w="2436661" h="363434">
                  <a:moveTo>
                    <a:pt x="2233461" y="0"/>
                  </a:moveTo>
                  <a:cubicBezTo>
                    <a:pt x="2345685" y="0"/>
                    <a:pt x="2436661" y="81357"/>
                    <a:pt x="2436661" y="181717"/>
                  </a:cubicBezTo>
                  <a:cubicBezTo>
                    <a:pt x="2436661" y="282076"/>
                    <a:pt x="2345685" y="363434"/>
                    <a:pt x="2233461" y="363434"/>
                  </a:cubicBezTo>
                  <a:lnTo>
                    <a:pt x="203200" y="363434"/>
                  </a:lnTo>
                  <a:cubicBezTo>
                    <a:pt x="90976" y="363434"/>
                    <a:pt x="0" y="282076"/>
                    <a:pt x="0" y="181717"/>
                  </a:cubicBezTo>
                  <a:cubicBezTo>
                    <a:pt x="0" y="8135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6661" cy="401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73913" y="6404538"/>
            <a:ext cx="8952054" cy="3306561"/>
            <a:chOff x="0" y="0"/>
            <a:chExt cx="1044542" cy="385816"/>
          </a:xfrm>
        </p:grpSpPr>
        <p:sp>
          <p:nvSpPr>
            <p:cNvPr id="7" name="Freeform 7" descr="Electrical room with panels, busduct and cable trays"/>
            <p:cNvSpPr/>
            <p:nvPr/>
          </p:nvSpPr>
          <p:spPr>
            <a:xfrm>
              <a:off x="0" y="0"/>
              <a:ext cx="1044542" cy="385816"/>
            </a:xfrm>
            <a:custGeom>
              <a:avLst/>
              <a:gdLst/>
              <a:ahLst/>
              <a:cxnLst/>
              <a:rect l="l" t="t" r="r" b="b"/>
              <a:pathLst>
                <a:path w="1044542" h="385816">
                  <a:moveTo>
                    <a:pt x="20756" y="0"/>
                  </a:moveTo>
                  <a:lnTo>
                    <a:pt x="1023786" y="0"/>
                  </a:lnTo>
                  <a:cubicBezTo>
                    <a:pt x="1029291" y="0"/>
                    <a:pt x="1034570" y="2187"/>
                    <a:pt x="1038463" y="6079"/>
                  </a:cubicBezTo>
                  <a:cubicBezTo>
                    <a:pt x="1042355" y="9972"/>
                    <a:pt x="1044542" y="15251"/>
                    <a:pt x="1044542" y="20756"/>
                  </a:cubicBezTo>
                  <a:lnTo>
                    <a:pt x="1044542" y="365060"/>
                  </a:lnTo>
                  <a:cubicBezTo>
                    <a:pt x="1044542" y="376523"/>
                    <a:pt x="1035249" y="385816"/>
                    <a:pt x="1023786" y="385816"/>
                  </a:cubicBezTo>
                  <a:lnTo>
                    <a:pt x="20756" y="385816"/>
                  </a:lnTo>
                  <a:cubicBezTo>
                    <a:pt x="9293" y="385816"/>
                    <a:pt x="0" y="376523"/>
                    <a:pt x="0" y="365060"/>
                  </a:cubicBezTo>
                  <a:lnTo>
                    <a:pt x="0" y="20756"/>
                  </a:lnTo>
                  <a:cubicBezTo>
                    <a:pt x="0" y="15251"/>
                    <a:pt x="2187" y="9972"/>
                    <a:pt x="6079" y="6079"/>
                  </a:cubicBezTo>
                  <a:cubicBezTo>
                    <a:pt x="9972" y="2187"/>
                    <a:pt x="15251" y="0"/>
                    <a:pt x="20756" y="0"/>
                  </a:cubicBezTo>
                  <a:close/>
                </a:path>
              </a:pathLst>
            </a:custGeom>
            <a:blipFill>
              <a:blip r:embed="rId3"/>
              <a:stretch>
                <a:fillRect t="-46373" b="-56678"/>
              </a:stretch>
            </a:blipFill>
            <a:ln w="76200" cap="rnd">
              <a:solidFill>
                <a:srgbClr val="8DC4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3913" y="1894869"/>
            <a:ext cx="7798764" cy="4379673"/>
            <a:chOff x="0" y="0"/>
            <a:chExt cx="1148679" cy="645082"/>
          </a:xfrm>
        </p:grpSpPr>
        <p:sp>
          <p:nvSpPr>
            <p:cNvPr id="9" name="Freeform 9" descr="Site crew in uniform and helmets lined up outside the facility"/>
            <p:cNvSpPr/>
            <p:nvPr/>
          </p:nvSpPr>
          <p:spPr>
            <a:xfrm>
              <a:off x="0" y="0"/>
              <a:ext cx="1148679" cy="645082"/>
            </a:xfrm>
            <a:custGeom>
              <a:avLst/>
              <a:gdLst/>
              <a:ahLst/>
              <a:cxnLst/>
              <a:rect l="l" t="t" r="r" b="b"/>
              <a:pathLst>
                <a:path w="1148679" h="645082">
                  <a:moveTo>
                    <a:pt x="23825" y="0"/>
                  </a:moveTo>
                  <a:lnTo>
                    <a:pt x="1124854" y="0"/>
                  </a:lnTo>
                  <a:cubicBezTo>
                    <a:pt x="1138012" y="0"/>
                    <a:pt x="1148679" y="10667"/>
                    <a:pt x="1148679" y="23825"/>
                  </a:cubicBezTo>
                  <a:lnTo>
                    <a:pt x="1148679" y="621257"/>
                  </a:lnTo>
                  <a:cubicBezTo>
                    <a:pt x="1148679" y="634415"/>
                    <a:pt x="1138012" y="645082"/>
                    <a:pt x="1124854" y="645082"/>
                  </a:cubicBezTo>
                  <a:lnTo>
                    <a:pt x="23825" y="645082"/>
                  </a:lnTo>
                  <a:cubicBezTo>
                    <a:pt x="17506" y="645082"/>
                    <a:pt x="11446" y="642571"/>
                    <a:pt x="6978" y="638103"/>
                  </a:cubicBezTo>
                  <a:cubicBezTo>
                    <a:pt x="2510" y="633635"/>
                    <a:pt x="0" y="627575"/>
                    <a:pt x="0" y="621257"/>
                  </a:cubicBezTo>
                  <a:lnTo>
                    <a:pt x="0" y="23825"/>
                  </a:lnTo>
                  <a:cubicBezTo>
                    <a:pt x="0" y="17506"/>
                    <a:pt x="2510" y="11446"/>
                    <a:pt x="6978" y="6978"/>
                  </a:cubicBezTo>
                  <a:cubicBezTo>
                    <a:pt x="11446" y="2510"/>
                    <a:pt x="17506" y="0"/>
                    <a:pt x="23825" y="0"/>
                  </a:cubicBezTo>
                  <a:close/>
                </a:path>
              </a:pathLst>
            </a:custGeom>
            <a:blipFill>
              <a:blip r:embed="rId4"/>
              <a:stretch>
                <a:fillRect t="-89" b="-73"/>
              </a:stretch>
            </a:blipFill>
            <a:ln w="76200" cap="rnd">
              <a:solidFill>
                <a:srgbClr val="8DC4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773913" y="368780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0"/>
                </a:lnTo>
                <a:lnTo>
                  <a:pt x="0" y="7496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9725966" y="1932969"/>
            <a:ext cx="7869689" cy="822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60"/>
              </a:lnSpc>
            </a:pPr>
            <a:r>
              <a:rPr lang="en-US" sz="5850" b="1">
                <a:solidFill>
                  <a:srgbClr val="8DC4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QUALITY &amp; SAFETY</a:t>
            </a:r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9706945" y="3134305"/>
            <a:ext cx="578671" cy="506337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000" y="225425"/>
              <a:ext cx="558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5400000">
            <a:off x="9706945" y="4695956"/>
            <a:ext cx="578671" cy="506337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000" y="225425"/>
              <a:ext cx="558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9799836" y="6153994"/>
            <a:ext cx="578671" cy="506337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7000" y="225425"/>
              <a:ext cx="558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342340" y="3156988"/>
            <a:ext cx="444045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212120"/>
                </a:solidFill>
                <a:latin typeface="Araboto Bold"/>
                <a:ea typeface="Araboto Bold"/>
                <a:cs typeface="Araboto Bold"/>
                <a:sym typeface="Araboto Bold"/>
              </a:rPr>
              <a:t>Quality Framework Includes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42340" y="4718639"/>
            <a:ext cx="451665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212120"/>
                </a:solidFill>
                <a:latin typeface="Araboto Bold"/>
                <a:ea typeface="Araboto Bold"/>
                <a:cs typeface="Araboto Bold"/>
                <a:sym typeface="Araboto Bold"/>
              </a:rPr>
              <a:t>Safety Framework Includes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42341" y="6141013"/>
            <a:ext cx="4000000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212120"/>
                </a:solidFill>
                <a:latin typeface="Araboto Bold"/>
                <a:ea typeface="Araboto Bold"/>
                <a:cs typeface="Araboto Bold"/>
                <a:sym typeface="Araboto Bold"/>
              </a:rPr>
              <a:t>Key Documents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42341" y="3638709"/>
            <a:ext cx="7263479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12120"/>
                </a:solidFill>
                <a:latin typeface="Araboto"/>
                <a:ea typeface="Araboto"/>
                <a:cs typeface="Araboto"/>
                <a:sym typeface="Araboto"/>
              </a:rPr>
              <a:t>• Project-specific quality plans    • Execution methodologies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212120"/>
                </a:solidFill>
                <a:latin typeface="Araboto"/>
                <a:ea typeface="Araboto"/>
                <a:cs typeface="Araboto"/>
                <a:sym typeface="Araboto"/>
              </a:rPr>
              <a:t>• Third-party quality checks          • Continuous supervision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42341" y="5200360"/>
            <a:ext cx="7132680" cy="655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212120"/>
                </a:solidFill>
                <a:latin typeface="Araboto"/>
                <a:ea typeface="Araboto"/>
                <a:cs typeface="Araboto"/>
                <a:sym typeface="Araboto"/>
              </a:rPr>
              <a:t>• Detailed safety plans  • Safe work method statements  • Logistics &amp; EOHS planning  • Certified safety training &amp; protocols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42341" y="6658398"/>
            <a:ext cx="6854692" cy="173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dirty="0">
                <a:solidFill>
                  <a:srgbClr val="212120"/>
                </a:solidFill>
                <a:latin typeface="Araboto"/>
                <a:ea typeface="Araboto"/>
                <a:cs typeface="Araboto"/>
                <a:sym typeface="Araboto"/>
              </a:rPr>
              <a:t>• Project-specific quality plan  • Project-specific safety plan  • Method statement for each activity  • Joint measurement records  • EOHS policy  • Material approval &amp; test records  • Quality control checklists  • Logistics plan</a:t>
            </a:r>
          </a:p>
          <a:p>
            <a:pPr algn="l">
              <a:lnSpc>
                <a:spcPts val="2660"/>
              </a:lnSpc>
            </a:pPr>
            <a:endParaRPr lang="en-US" sz="1900" dirty="0">
              <a:solidFill>
                <a:srgbClr val="FF0000"/>
              </a:solidFill>
              <a:latin typeface="Araboto"/>
              <a:ea typeface="Araboto"/>
              <a:cs typeface="Araboto"/>
              <a:sym typeface="Araboto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4095622" y="825418"/>
            <a:ext cx="442842" cy="406537"/>
            <a:chOff x="0" y="0"/>
            <a:chExt cx="1040817" cy="95549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4230930" y="946332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6" y="0"/>
                </a:lnTo>
                <a:lnTo>
                  <a:pt x="172226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AutoShape 31"/>
          <p:cNvSpPr/>
          <p:nvPr/>
        </p:nvSpPr>
        <p:spPr>
          <a:xfrm>
            <a:off x="14643346" y="1160192"/>
            <a:ext cx="2007035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Box 32"/>
          <p:cNvSpPr txBox="1"/>
          <p:nvPr/>
        </p:nvSpPr>
        <p:spPr>
          <a:xfrm>
            <a:off x="14538464" y="795175"/>
            <a:ext cx="221679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Quality &amp; Safety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854567" y="-5572327"/>
            <a:ext cx="13653925" cy="20165341"/>
          </a:xfrm>
          <a:custGeom>
            <a:avLst/>
            <a:gdLst/>
            <a:ahLst/>
            <a:cxnLst/>
            <a:rect l="l" t="t" r="r" b="b"/>
            <a:pathLst>
              <a:path w="13653925" h="20165341">
                <a:moveTo>
                  <a:pt x="0" y="0"/>
                </a:moveTo>
                <a:lnTo>
                  <a:pt x="13653926" y="0"/>
                </a:lnTo>
                <a:lnTo>
                  <a:pt x="13653926" y="20165341"/>
                </a:lnTo>
                <a:lnTo>
                  <a:pt x="0" y="20165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566" r="-48636" b="-496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437116" y="6277550"/>
            <a:ext cx="3334208" cy="3722644"/>
            <a:chOff x="0" y="0"/>
            <a:chExt cx="391799" cy="4374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1799" cy="437444"/>
            </a:xfrm>
            <a:custGeom>
              <a:avLst/>
              <a:gdLst/>
              <a:ahLst/>
              <a:cxnLst/>
              <a:rect l="l" t="t" r="r" b="b"/>
              <a:pathLst>
                <a:path w="391799" h="437444">
                  <a:moveTo>
                    <a:pt x="55727" y="0"/>
                  </a:moveTo>
                  <a:lnTo>
                    <a:pt x="336072" y="0"/>
                  </a:lnTo>
                  <a:cubicBezTo>
                    <a:pt x="366849" y="0"/>
                    <a:pt x="391799" y="24950"/>
                    <a:pt x="391799" y="55727"/>
                  </a:cubicBezTo>
                  <a:lnTo>
                    <a:pt x="391799" y="381717"/>
                  </a:lnTo>
                  <a:cubicBezTo>
                    <a:pt x="391799" y="412494"/>
                    <a:pt x="366849" y="437444"/>
                    <a:pt x="336072" y="437444"/>
                  </a:cubicBezTo>
                  <a:lnTo>
                    <a:pt x="55727" y="437444"/>
                  </a:lnTo>
                  <a:cubicBezTo>
                    <a:pt x="24950" y="437444"/>
                    <a:pt x="0" y="412494"/>
                    <a:pt x="0" y="381717"/>
                  </a:cubicBezTo>
                  <a:lnTo>
                    <a:pt x="0" y="55727"/>
                  </a:lnTo>
                  <a:cubicBezTo>
                    <a:pt x="0" y="24950"/>
                    <a:pt x="24950" y="0"/>
                    <a:pt x="55727" y="0"/>
                  </a:cubicBezTo>
                  <a:close/>
                </a:path>
              </a:pathLst>
            </a:custGeom>
            <a:blipFill>
              <a:blip r:embed="rId3"/>
              <a:stretch>
                <a:fillRect t="-9710" b="-9710"/>
              </a:stretch>
            </a:blipFill>
            <a:ln w="76200" cap="rnd">
              <a:solidFill>
                <a:srgbClr val="8DC4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987650" y="6277550"/>
            <a:ext cx="6605327" cy="3722644"/>
            <a:chOff x="0" y="0"/>
            <a:chExt cx="907211" cy="5112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7211" cy="511288"/>
            </a:xfrm>
            <a:custGeom>
              <a:avLst/>
              <a:gdLst/>
              <a:ahLst/>
              <a:cxnLst/>
              <a:rect l="l" t="t" r="r" b="b"/>
              <a:pathLst>
                <a:path w="907211" h="511288">
                  <a:moveTo>
                    <a:pt x="28130" y="0"/>
                  </a:moveTo>
                  <a:lnTo>
                    <a:pt x="879082" y="0"/>
                  </a:lnTo>
                  <a:cubicBezTo>
                    <a:pt x="894617" y="0"/>
                    <a:pt x="907211" y="12594"/>
                    <a:pt x="907211" y="28130"/>
                  </a:cubicBezTo>
                  <a:lnTo>
                    <a:pt x="907211" y="483158"/>
                  </a:lnTo>
                  <a:cubicBezTo>
                    <a:pt x="907211" y="498694"/>
                    <a:pt x="894617" y="511288"/>
                    <a:pt x="879082" y="511288"/>
                  </a:cubicBezTo>
                  <a:lnTo>
                    <a:pt x="28130" y="511288"/>
                  </a:lnTo>
                  <a:cubicBezTo>
                    <a:pt x="12594" y="511288"/>
                    <a:pt x="0" y="498694"/>
                    <a:pt x="0" y="483158"/>
                  </a:cubicBezTo>
                  <a:lnTo>
                    <a:pt x="0" y="28130"/>
                  </a:lnTo>
                  <a:cubicBezTo>
                    <a:pt x="0" y="12594"/>
                    <a:pt x="12594" y="0"/>
                    <a:pt x="28130" y="0"/>
                  </a:cubicBezTo>
                  <a:close/>
                </a:path>
              </a:pathLst>
            </a:custGeom>
            <a:blipFill>
              <a:blip r:embed="rId4"/>
              <a:stretch>
                <a:fillRect l="-12794" r="-12794"/>
              </a:stretch>
            </a:blipFill>
            <a:ln w="76200" cap="rnd">
              <a:solidFill>
                <a:srgbClr val="8DC4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143567" y="6309235"/>
            <a:ext cx="6680323" cy="3722644"/>
            <a:chOff x="0" y="0"/>
            <a:chExt cx="885816" cy="4936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5816" cy="493625"/>
            </a:xfrm>
            <a:custGeom>
              <a:avLst/>
              <a:gdLst/>
              <a:ahLst/>
              <a:cxnLst/>
              <a:rect l="l" t="t" r="r" b="b"/>
              <a:pathLst>
                <a:path w="885816" h="493625">
                  <a:moveTo>
                    <a:pt x="27814" y="0"/>
                  </a:moveTo>
                  <a:lnTo>
                    <a:pt x="858002" y="0"/>
                  </a:lnTo>
                  <a:cubicBezTo>
                    <a:pt x="865379" y="0"/>
                    <a:pt x="872453" y="2930"/>
                    <a:pt x="877669" y="8147"/>
                  </a:cubicBezTo>
                  <a:cubicBezTo>
                    <a:pt x="882885" y="13363"/>
                    <a:pt x="885816" y="20437"/>
                    <a:pt x="885816" y="27814"/>
                  </a:cubicBezTo>
                  <a:lnTo>
                    <a:pt x="885816" y="465811"/>
                  </a:lnTo>
                  <a:cubicBezTo>
                    <a:pt x="885816" y="473188"/>
                    <a:pt x="882885" y="480263"/>
                    <a:pt x="877669" y="485479"/>
                  </a:cubicBezTo>
                  <a:cubicBezTo>
                    <a:pt x="872453" y="490695"/>
                    <a:pt x="865379" y="493625"/>
                    <a:pt x="858002" y="493625"/>
                  </a:cubicBezTo>
                  <a:lnTo>
                    <a:pt x="27814" y="493625"/>
                  </a:lnTo>
                  <a:cubicBezTo>
                    <a:pt x="20437" y="493625"/>
                    <a:pt x="13363" y="490695"/>
                    <a:pt x="8147" y="485479"/>
                  </a:cubicBezTo>
                  <a:cubicBezTo>
                    <a:pt x="2930" y="480263"/>
                    <a:pt x="0" y="473188"/>
                    <a:pt x="0" y="465811"/>
                  </a:cubicBezTo>
                  <a:lnTo>
                    <a:pt x="0" y="27814"/>
                  </a:lnTo>
                  <a:cubicBezTo>
                    <a:pt x="0" y="20437"/>
                    <a:pt x="2930" y="13363"/>
                    <a:pt x="8147" y="8147"/>
                  </a:cubicBezTo>
                  <a:cubicBezTo>
                    <a:pt x="13363" y="2930"/>
                    <a:pt x="20437" y="0"/>
                    <a:pt x="27814" y="0"/>
                  </a:cubicBezTo>
                  <a:close/>
                </a:path>
              </a:pathLst>
            </a:custGeom>
            <a:blipFill>
              <a:blip r:embed="rId5"/>
              <a:stretch>
                <a:fillRect l="-12089" r="-12089"/>
              </a:stretch>
            </a:blipFill>
            <a:ln w="66675" cap="rnd">
              <a:solidFill>
                <a:srgbClr val="8DC4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Freeform 9"/>
          <p:cNvSpPr/>
          <p:nvPr/>
        </p:nvSpPr>
        <p:spPr>
          <a:xfrm>
            <a:off x="796760" y="368780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0"/>
                </a:lnTo>
                <a:lnTo>
                  <a:pt x="0" y="7496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028700" y="1546686"/>
            <a:ext cx="7801433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8DC4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SKILL AND SAFETY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0249" y="2442037"/>
            <a:ext cx="3899167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0249" y="4179771"/>
            <a:ext cx="14827495" cy="1462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400" dirty="0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• PPE training  • Aerial lift operation  • Construction technologies  • Work-at-height &amp; harness safety  • Electrical safety  • Heavy equipment operation  • First aid &amp; CPR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100% site induction</a:t>
            </a:r>
            <a:r>
              <a:rPr lang="en-US" sz="1800" b="0" dirty="0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  •  </a:t>
            </a:r>
            <a:r>
              <a:rPr lang="en-US" sz="1800" b="1" dirty="0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Daily toolbox talks</a:t>
            </a:r>
            <a:r>
              <a:rPr lang="en-US" sz="1800" b="0" dirty="0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  •  </a:t>
            </a:r>
            <a:r>
              <a:rPr lang="en-US" sz="1800" b="1" dirty="0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Permit-to-work &amp; LOTO</a:t>
            </a:r>
            <a:r>
              <a:rPr lang="en-US" sz="1800" b="0" dirty="0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  •  </a:t>
            </a:r>
            <a:r>
              <a:rPr lang="en-US" sz="1800" b="1" dirty="0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[_134_]</a:t>
            </a:r>
            <a:r>
              <a:rPr lang="en-US" sz="1800" b="1" dirty="0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workers trained</a:t>
            </a:r>
            <a:r>
              <a:rPr lang="en-US" sz="1800" b="0" dirty="0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  •  </a:t>
            </a:r>
            <a:r>
              <a:rPr lang="en-US" sz="1800" b="1" dirty="0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[_0_]</a:t>
            </a:r>
            <a:r>
              <a:rPr lang="en-US" sz="1800" b="1" dirty="0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lost-time incidents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0249" y="3739080"/>
            <a:ext cx="15500000" cy="488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Investing in our people ensures long-term reliability.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916598" y="732938"/>
            <a:ext cx="3882293" cy="591524"/>
            <a:chOff x="0" y="0"/>
            <a:chExt cx="5176391" cy="788698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176391" cy="788698"/>
              <a:chOff x="0" y="0"/>
              <a:chExt cx="2436661" cy="37126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436661" cy="371261"/>
              </a:xfrm>
              <a:custGeom>
                <a:avLst/>
                <a:gdLst/>
                <a:ahLst/>
                <a:cxnLst/>
                <a:rect l="l" t="t" r="r" b="b"/>
                <a:pathLst>
                  <a:path w="2436661" h="371261">
                    <a:moveTo>
                      <a:pt x="2233461" y="0"/>
                    </a:moveTo>
                    <a:cubicBezTo>
                      <a:pt x="2345685" y="0"/>
                      <a:pt x="2436661" y="83110"/>
                      <a:pt x="2436661" y="185630"/>
                    </a:cubicBezTo>
                    <a:cubicBezTo>
                      <a:pt x="2436661" y="288151"/>
                      <a:pt x="2345685" y="371261"/>
                      <a:pt x="2233461" y="371261"/>
                    </a:cubicBezTo>
                    <a:lnTo>
                      <a:pt x="203200" y="371261"/>
                    </a:lnTo>
                    <a:cubicBezTo>
                      <a:pt x="90976" y="371261"/>
                      <a:pt x="0" y="288151"/>
                      <a:pt x="0" y="185630"/>
                    </a:cubicBezTo>
                    <a:cubicBezTo>
                      <a:pt x="0" y="8311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0C0C0">
                  <a:alpha val="58824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2436661" cy="4093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38699" y="123307"/>
              <a:ext cx="590456" cy="542049"/>
              <a:chOff x="0" y="0"/>
              <a:chExt cx="1040817" cy="95549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040817" cy="955490"/>
              </a:xfrm>
              <a:custGeom>
                <a:avLst/>
                <a:gdLst/>
                <a:ahLst/>
                <a:cxnLst/>
                <a:rect l="l" t="t" r="r" b="b"/>
                <a:pathLst>
                  <a:path w="1040817" h="955490">
                    <a:moveTo>
                      <a:pt x="520409" y="0"/>
                    </a:moveTo>
                    <a:cubicBezTo>
                      <a:pt x="232995" y="0"/>
                      <a:pt x="0" y="213894"/>
                      <a:pt x="0" y="477745"/>
                    </a:cubicBezTo>
                    <a:cubicBezTo>
                      <a:pt x="0" y="741596"/>
                      <a:pt x="232995" y="955490"/>
                      <a:pt x="520409" y="955490"/>
                    </a:cubicBezTo>
                    <a:cubicBezTo>
                      <a:pt x="807822" y="955490"/>
                      <a:pt x="1040817" y="741596"/>
                      <a:pt x="1040817" y="477745"/>
                    </a:cubicBezTo>
                    <a:cubicBezTo>
                      <a:pt x="1040817" y="213894"/>
                      <a:pt x="807822" y="0"/>
                      <a:pt x="520409" y="0"/>
                    </a:cubicBezTo>
                    <a:close/>
                  </a:path>
                </a:pathLst>
              </a:custGeom>
              <a:solidFill>
                <a:srgbClr val="8DC441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7577" y="51477"/>
                <a:ext cx="845664" cy="814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419110" y="284525"/>
              <a:ext cx="229633" cy="219613"/>
            </a:xfrm>
            <a:custGeom>
              <a:avLst/>
              <a:gdLst/>
              <a:ahLst/>
              <a:cxnLst/>
              <a:rect l="l" t="t" r="r" b="b"/>
              <a:pathLst>
                <a:path w="229633" h="219613">
                  <a:moveTo>
                    <a:pt x="0" y="0"/>
                  </a:moveTo>
                  <a:lnTo>
                    <a:pt x="229634" y="0"/>
                  </a:lnTo>
                  <a:lnTo>
                    <a:pt x="229634" y="219613"/>
                  </a:lnTo>
                  <a:lnTo>
                    <a:pt x="0" y="219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934494" y="571708"/>
              <a:ext cx="4645502" cy="0"/>
            </a:xfrm>
            <a:prstGeom prst="line">
              <a:avLst/>
            </a:prstGeom>
            <a:ln w="50800" cap="flat">
              <a:solidFill>
                <a:srgbClr val="1B5E2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4494" y="153455"/>
              <a:ext cx="4645502" cy="41825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1">
                  <a:solidFill>
                    <a:srgbClr val="1B5E2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Skill &amp; Safety Training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15877001" y="6555807"/>
            <a:ext cx="422706" cy="422706"/>
          </a:xfrm>
          <a:custGeom>
            <a:avLst/>
            <a:gdLst/>
            <a:ahLst/>
            <a:cxnLst/>
            <a:rect l="l" t="t" r="r" b="b"/>
            <a:pathLst>
              <a:path w="422706" h="422706">
                <a:moveTo>
                  <a:pt x="0" y="0"/>
                </a:moveTo>
                <a:lnTo>
                  <a:pt x="422706" y="0"/>
                </a:lnTo>
                <a:lnTo>
                  <a:pt x="422706" y="422706"/>
                </a:lnTo>
                <a:lnTo>
                  <a:pt x="0" y="422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732806" y="511181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0"/>
                </a:lnTo>
                <a:lnTo>
                  <a:pt x="0" y="749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119515"/>
              </p:ext>
            </p:extLst>
          </p:nvPr>
        </p:nvGraphicFramePr>
        <p:xfrm>
          <a:off x="623244" y="2606185"/>
          <a:ext cx="17041513" cy="7188463"/>
        </p:xfrm>
        <a:graphic>
          <a:graphicData uri="http://schemas.openxmlformats.org/drawingml/2006/table">
            <a:tbl>
              <a:tblPr/>
              <a:tblGrid>
                <a:gridCol w="2793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7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9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5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5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5748"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endParaRPr lang="en-US" sz="1100"/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endParaRPr lang="en-US" sz="1100" dirty="0"/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endParaRPr lang="en-US" sz="1100"/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endParaRPr lang="en-US" sz="1100"/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endParaRPr lang="en-US" sz="1100"/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760"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23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Industrial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23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Oragadam, Walajabad Taluk, Tamil Nadu – 631604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89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Axana Estate LLP – A03 (Foxconn)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2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Scon Projects, Pune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0488"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23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Industrial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23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Oragadam, Walajabad Taluk, Tamil Nadu – 631604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89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Axana Estate LLP – B05 (Foxconn)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2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Scon Projects, Pune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067823"/>
                  </a:ext>
                </a:extLst>
              </a:tr>
              <a:tr h="1330488"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23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Industrial 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3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Devanahalli , Aerospace Park , </a:t>
                      </a:r>
                      <a:r>
                        <a:rPr lang="en-US" sz="1700" dirty="0" err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Bengluru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, Karnatak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82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Inovit Aerospace Solutions Pvt Ltd (IASPL)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2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Crownstone Constructions Pvt Ltd 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901384"/>
                  </a:ext>
                </a:extLst>
              </a:tr>
              <a:tr h="1330488"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23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Industrial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3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Aequs HDC, </a:t>
                      </a:r>
                      <a:r>
                        <a:rPr lang="en-US" sz="1700" dirty="0" err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Itigatti</a:t>
                      </a: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Hubballi – 580114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82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Unit-4, Aequs HDC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2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Crownstone Constructions Pvt Ltd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491"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23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Residential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Belagavi, Karnataka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2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Farmhouse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Crownstone Constructions Pvt Ltd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732805" y="1660841"/>
            <a:ext cx="7862027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61"/>
              </a:lnSpc>
            </a:pPr>
            <a:r>
              <a:rPr lang="en-US" sz="3983" b="1" dirty="0">
                <a:solidFill>
                  <a:srgbClr val="8EC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Major ONGOING </a:t>
            </a:r>
            <a:r>
              <a:rPr lang="en-US" sz="3983" dirty="0">
                <a:solidFill>
                  <a:srgbClr val="8EC33F"/>
                </a:solidFill>
                <a:latin typeface="Montserrat"/>
                <a:ea typeface="Montserrat"/>
                <a:cs typeface="Montserrat"/>
                <a:sym typeface="Montserrat"/>
              </a:rPr>
              <a:t>PROJECTS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6986" y="2921879"/>
            <a:ext cx="693602" cy="32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Sno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97709" y="2921879"/>
            <a:ext cx="1886184" cy="32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Type of 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94833" y="2921879"/>
            <a:ext cx="1098334" cy="32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25389" y="2921879"/>
            <a:ext cx="1852284" cy="32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 Name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585724" y="2921879"/>
            <a:ext cx="1603055" cy="32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Client Name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677673" y="667061"/>
            <a:ext cx="3516522" cy="723277"/>
            <a:chOff x="0" y="0"/>
            <a:chExt cx="4688696" cy="964369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4688696" cy="964369"/>
              <a:chOff x="0" y="0"/>
              <a:chExt cx="2436661" cy="50117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436661" cy="501171"/>
              </a:xfrm>
              <a:custGeom>
                <a:avLst/>
                <a:gdLst/>
                <a:ahLst/>
                <a:cxnLst/>
                <a:rect l="l" t="t" r="r" b="b"/>
                <a:pathLst>
                  <a:path w="2436661" h="501171">
                    <a:moveTo>
                      <a:pt x="2233461" y="0"/>
                    </a:moveTo>
                    <a:cubicBezTo>
                      <a:pt x="2345685" y="0"/>
                      <a:pt x="2436661" y="112191"/>
                      <a:pt x="2436661" y="250586"/>
                    </a:cubicBezTo>
                    <a:cubicBezTo>
                      <a:pt x="2436661" y="388980"/>
                      <a:pt x="2345685" y="501171"/>
                      <a:pt x="2233461" y="501171"/>
                    </a:cubicBezTo>
                    <a:lnTo>
                      <a:pt x="203200" y="501171"/>
                    </a:lnTo>
                    <a:cubicBezTo>
                      <a:pt x="90976" y="501171"/>
                      <a:pt x="0" y="388980"/>
                      <a:pt x="0" y="250586"/>
                    </a:cubicBezTo>
                    <a:cubicBezTo>
                      <a:pt x="0" y="112191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0C0C0">
                  <a:alpha val="58824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436661" cy="5392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16210" y="185011"/>
              <a:ext cx="534826" cy="490980"/>
              <a:chOff x="0" y="0"/>
              <a:chExt cx="1040817" cy="95549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40817" cy="955490"/>
              </a:xfrm>
              <a:custGeom>
                <a:avLst/>
                <a:gdLst/>
                <a:ahLst/>
                <a:cxnLst/>
                <a:rect l="l" t="t" r="r" b="b"/>
                <a:pathLst>
                  <a:path w="1040817" h="955490">
                    <a:moveTo>
                      <a:pt x="520409" y="0"/>
                    </a:moveTo>
                    <a:cubicBezTo>
                      <a:pt x="232995" y="0"/>
                      <a:pt x="0" y="213894"/>
                      <a:pt x="0" y="477745"/>
                    </a:cubicBezTo>
                    <a:cubicBezTo>
                      <a:pt x="0" y="741596"/>
                      <a:pt x="232995" y="955490"/>
                      <a:pt x="520409" y="955490"/>
                    </a:cubicBezTo>
                    <a:cubicBezTo>
                      <a:pt x="807822" y="955490"/>
                      <a:pt x="1040817" y="741596"/>
                      <a:pt x="1040817" y="477745"/>
                    </a:cubicBezTo>
                    <a:cubicBezTo>
                      <a:pt x="1040817" y="213894"/>
                      <a:pt x="807822" y="0"/>
                      <a:pt x="520409" y="0"/>
                    </a:cubicBezTo>
                    <a:close/>
                  </a:path>
                </a:pathLst>
              </a:custGeom>
              <a:solidFill>
                <a:srgbClr val="8DC441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7577" y="51477"/>
                <a:ext cx="845664" cy="814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379624" y="331040"/>
              <a:ext cx="207999" cy="198922"/>
            </a:xfrm>
            <a:custGeom>
              <a:avLst/>
              <a:gdLst/>
              <a:ahLst/>
              <a:cxnLst/>
              <a:rect l="l" t="t" r="r" b="b"/>
              <a:pathLst>
                <a:path w="207999" h="198922">
                  <a:moveTo>
                    <a:pt x="0" y="0"/>
                  </a:moveTo>
                  <a:lnTo>
                    <a:pt x="207998" y="0"/>
                  </a:lnTo>
                  <a:lnTo>
                    <a:pt x="207998" y="198922"/>
                  </a:lnTo>
                  <a:lnTo>
                    <a:pt x="0" y="198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863412" y="652984"/>
              <a:ext cx="2949233" cy="0"/>
            </a:xfrm>
            <a:prstGeom prst="line">
              <a:avLst/>
            </a:prstGeom>
            <a:ln w="46014" cap="flat">
              <a:solidFill>
                <a:srgbClr val="1B5E2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3412" y="220232"/>
              <a:ext cx="2949233" cy="382437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409"/>
                </a:lnSpc>
                <a:spcBef>
                  <a:spcPct val="0"/>
                </a:spcBef>
              </a:pPr>
              <a:r>
                <a:rPr lang="en-US" sz="1720" b="1">
                  <a:solidFill>
                    <a:srgbClr val="1B5E2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Ongoing Projects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16281301" y="6711843"/>
            <a:ext cx="445827" cy="445827"/>
          </a:xfrm>
          <a:custGeom>
            <a:avLst/>
            <a:gdLst/>
            <a:ahLst/>
            <a:cxnLst/>
            <a:rect l="l" t="t" r="r" b="b"/>
            <a:pathLst>
              <a:path w="445827" h="445827">
                <a:moveTo>
                  <a:pt x="0" y="0"/>
                </a:moveTo>
                <a:lnTo>
                  <a:pt x="445828" y="0"/>
                </a:lnTo>
                <a:lnTo>
                  <a:pt x="445828" y="445828"/>
                </a:lnTo>
                <a:lnTo>
                  <a:pt x="0" y="4458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80878" y="1442742"/>
            <a:ext cx="8063122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61"/>
              </a:lnSpc>
            </a:pPr>
            <a:r>
              <a:rPr lang="en-US" sz="3983" b="1" dirty="0">
                <a:solidFill>
                  <a:srgbClr val="8EC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Major COMPLETED</a:t>
            </a:r>
            <a:r>
              <a:rPr lang="en-US" sz="3983" dirty="0">
                <a:solidFill>
                  <a:srgbClr val="8EC33F"/>
                </a:solidFill>
                <a:latin typeface="Montserrat"/>
                <a:ea typeface="Montserrat"/>
                <a:cs typeface="Montserrat"/>
                <a:sym typeface="Montserrat"/>
              </a:rPr>
              <a:t> PROJECTS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916598" y="732938"/>
            <a:ext cx="3882293" cy="591524"/>
            <a:chOff x="0" y="0"/>
            <a:chExt cx="5176391" cy="788698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176391" cy="788698"/>
              <a:chOff x="0" y="0"/>
              <a:chExt cx="2436661" cy="37126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436661" cy="371261"/>
              </a:xfrm>
              <a:custGeom>
                <a:avLst/>
                <a:gdLst/>
                <a:ahLst/>
                <a:cxnLst/>
                <a:rect l="l" t="t" r="r" b="b"/>
                <a:pathLst>
                  <a:path w="2436661" h="371261">
                    <a:moveTo>
                      <a:pt x="2233461" y="0"/>
                    </a:moveTo>
                    <a:cubicBezTo>
                      <a:pt x="2345685" y="0"/>
                      <a:pt x="2436661" y="83110"/>
                      <a:pt x="2436661" y="185630"/>
                    </a:cubicBezTo>
                    <a:cubicBezTo>
                      <a:pt x="2436661" y="288151"/>
                      <a:pt x="2345685" y="371261"/>
                      <a:pt x="2233461" y="371261"/>
                    </a:cubicBezTo>
                    <a:lnTo>
                      <a:pt x="203200" y="371261"/>
                    </a:lnTo>
                    <a:cubicBezTo>
                      <a:pt x="90976" y="371261"/>
                      <a:pt x="0" y="288151"/>
                      <a:pt x="0" y="185630"/>
                    </a:cubicBezTo>
                    <a:cubicBezTo>
                      <a:pt x="0" y="8311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0C0C0">
                  <a:alpha val="58824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2436661" cy="4093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38699" y="123307"/>
              <a:ext cx="590456" cy="542049"/>
              <a:chOff x="0" y="0"/>
              <a:chExt cx="1040817" cy="95549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040817" cy="955490"/>
              </a:xfrm>
              <a:custGeom>
                <a:avLst/>
                <a:gdLst/>
                <a:ahLst/>
                <a:cxnLst/>
                <a:rect l="l" t="t" r="r" b="b"/>
                <a:pathLst>
                  <a:path w="1040817" h="955490">
                    <a:moveTo>
                      <a:pt x="520409" y="0"/>
                    </a:moveTo>
                    <a:cubicBezTo>
                      <a:pt x="232995" y="0"/>
                      <a:pt x="0" y="213894"/>
                      <a:pt x="0" y="477745"/>
                    </a:cubicBezTo>
                    <a:cubicBezTo>
                      <a:pt x="0" y="741596"/>
                      <a:pt x="232995" y="955490"/>
                      <a:pt x="520409" y="955490"/>
                    </a:cubicBezTo>
                    <a:cubicBezTo>
                      <a:pt x="807822" y="955490"/>
                      <a:pt x="1040817" y="741596"/>
                      <a:pt x="1040817" y="477745"/>
                    </a:cubicBezTo>
                    <a:cubicBezTo>
                      <a:pt x="1040817" y="213894"/>
                      <a:pt x="807822" y="0"/>
                      <a:pt x="520409" y="0"/>
                    </a:cubicBezTo>
                    <a:close/>
                  </a:path>
                </a:pathLst>
              </a:custGeom>
              <a:solidFill>
                <a:srgbClr val="8DC441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7577" y="51477"/>
                <a:ext cx="845664" cy="814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419110" y="284525"/>
              <a:ext cx="229633" cy="219613"/>
            </a:xfrm>
            <a:custGeom>
              <a:avLst/>
              <a:gdLst/>
              <a:ahLst/>
              <a:cxnLst/>
              <a:rect l="l" t="t" r="r" b="b"/>
              <a:pathLst>
                <a:path w="229633" h="219613">
                  <a:moveTo>
                    <a:pt x="0" y="0"/>
                  </a:moveTo>
                  <a:lnTo>
                    <a:pt x="229634" y="0"/>
                  </a:lnTo>
                  <a:lnTo>
                    <a:pt x="229634" y="219613"/>
                  </a:lnTo>
                  <a:lnTo>
                    <a:pt x="0" y="219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934494" y="571708"/>
              <a:ext cx="3648654" cy="0"/>
            </a:xfrm>
            <a:prstGeom prst="line">
              <a:avLst/>
            </a:prstGeom>
            <a:ln w="50800" cap="flat">
              <a:solidFill>
                <a:srgbClr val="1B5E2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4494" y="153455"/>
              <a:ext cx="3648654" cy="41825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1">
                  <a:solidFill>
                    <a:srgbClr val="1B5E2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Completed Projects</a:t>
              </a:r>
            </a:p>
          </p:txBody>
        </p:sp>
      </p:grpSp>
      <p:sp>
        <p:nvSpPr>
          <p:cNvPr id="24" name="Freeform 24"/>
          <p:cNvSpPr/>
          <p:nvPr/>
        </p:nvSpPr>
        <p:spPr>
          <a:xfrm rot="-2700000">
            <a:off x="15877001" y="6555807"/>
            <a:ext cx="422706" cy="422706"/>
          </a:xfrm>
          <a:custGeom>
            <a:avLst/>
            <a:gdLst/>
            <a:ahLst/>
            <a:cxnLst/>
            <a:rect l="l" t="t" r="r" b="b"/>
            <a:pathLst>
              <a:path w="422706" h="422706">
                <a:moveTo>
                  <a:pt x="0" y="0"/>
                </a:moveTo>
                <a:lnTo>
                  <a:pt x="422706" y="0"/>
                </a:lnTo>
                <a:lnTo>
                  <a:pt x="422706" y="422706"/>
                </a:lnTo>
                <a:lnTo>
                  <a:pt x="0" y="422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25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786296"/>
              </p:ext>
            </p:extLst>
          </p:nvPr>
        </p:nvGraphicFramePr>
        <p:xfrm>
          <a:off x="566915" y="2543661"/>
          <a:ext cx="17154170" cy="6399333"/>
        </p:xfrm>
        <a:graphic>
          <a:graphicData uri="http://schemas.openxmlformats.org/drawingml/2006/table">
            <a:tbl>
              <a:tblPr/>
              <a:tblGrid>
                <a:gridCol w="2812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2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2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37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1183"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endParaRPr lang="en-US" sz="1100"/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endParaRPr lang="en-US" sz="1100"/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endParaRPr lang="en-US" sz="1100"/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endParaRPr lang="en-US" sz="1100"/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endParaRPr lang="en-US" sz="1100"/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651"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83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Industrial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Kanagala Industrial Area, Belagavi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23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SFS Group India Pvt Ltd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12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Scon Projects, Pune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5089"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Institutional (School)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Near Rani Channamma University, Belagavi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Phase-II Indus Altum International School – DP &amp; Hostel Blocks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Crownstone Constructions Pvt Ltd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3641"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23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Industrial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2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KIADB Industrial Area, Budigere, Devanahalli, Bengaluru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2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Thyssenkrupp Aerospace India Pvt Ltd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2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Crownstone Constructions Pvt Ltd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5614">
                <a:tc>
                  <a:txBody>
                    <a:bodyPr/>
                    <a:lstStyle/>
                    <a:p>
                      <a:pPr algn="ctr">
                        <a:lnSpc>
                          <a:spcPts val="2522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23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Industrial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2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KIADB Industrial Area, Arebannimangala, Bengaluru – 562149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23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Sterling Tech Mobility Ltd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2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Sterling Tech Mobility Ltd</a:t>
                      </a:r>
                    </a:p>
                  </a:txBody>
                  <a:tcPr marL="180620" marR="180620" marT="180620" marB="180620" anchor="ctr">
                    <a:lnL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24" cap="flat" cmpd="sng" algn="ctr">
                      <a:solidFill>
                        <a:srgbClr val="8CC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Box 26"/>
          <p:cNvSpPr txBox="1"/>
          <p:nvPr/>
        </p:nvSpPr>
        <p:spPr>
          <a:xfrm>
            <a:off x="1615011" y="2896870"/>
            <a:ext cx="693602" cy="32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Sno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25425" y="2921879"/>
            <a:ext cx="1886184" cy="32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Type of Project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68984" y="2921879"/>
            <a:ext cx="1098334" cy="32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Location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944969" y="2896870"/>
            <a:ext cx="1789518" cy="32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 Name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617383" y="2921879"/>
            <a:ext cx="1603055" cy="32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Client Name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935329" y="-4255491"/>
            <a:ext cx="12097180" cy="20608162"/>
          </a:xfrm>
          <a:custGeom>
            <a:avLst/>
            <a:gdLst/>
            <a:ahLst/>
            <a:cxnLst/>
            <a:rect l="l" t="t" r="r" b="b"/>
            <a:pathLst>
              <a:path w="12097180" h="20608162">
                <a:moveTo>
                  <a:pt x="0" y="0"/>
                </a:moveTo>
                <a:lnTo>
                  <a:pt x="12097180" y="0"/>
                </a:lnTo>
                <a:lnTo>
                  <a:pt x="12097180" y="20608162"/>
                </a:lnTo>
                <a:lnTo>
                  <a:pt x="0" y="20608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2000"/>
            </a:blip>
            <a:stretch>
              <a:fillRect l="-26703" r="-5593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0" y="3067164"/>
            <a:ext cx="17916483" cy="402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74B9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Portfolio</a:t>
            </a:r>
          </a:p>
          <a:p>
            <a:pPr algn="ctr">
              <a:lnSpc>
                <a:spcPts val="12880"/>
              </a:lnSpc>
            </a:pPr>
            <a:r>
              <a:rPr lang="en-US" sz="6900">
                <a:solidFill>
                  <a:srgbClr val="433938"/>
                </a:solidFill>
                <a:latin typeface="Montserrat"/>
                <a:ea typeface="Montserrat"/>
                <a:cs typeface="Montserrat"/>
                <a:sym typeface="Montserrat"/>
              </a:rPr>
              <a:t>Completed &amp; Ongoing Projects</a:t>
            </a:r>
          </a:p>
        </p:txBody>
      </p:sp>
      <p:sp>
        <p:nvSpPr>
          <p:cNvPr id="4" name="Freeform 4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4714747" y="705485"/>
            <a:ext cx="113551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275496" y="511337"/>
            <a:ext cx="4983804" cy="585253"/>
            <a:chOff x="0" y="0"/>
            <a:chExt cx="3128007" cy="3673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28007" cy="367325"/>
            </a:xfrm>
            <a:custGeom>
              <a:avLst/>
              <a:gdLst/>
              <a:ahLst/>
              <a:cxnLst/>
              <a:rect l="l" t="t" r="r" b="b"/>
              <a:pathLst>
                <a:path w="3128007" h="367325">
                  <a:moveTo>
                    <a:pt x="2924807" y="0"/>
                  </a:moveTo>
                  <a:cubicBezTo>
                    <a:pt x="3037031" y="0"/>
                    <a:pt x="3128007" y="82228"/>
                    <a:pt x="3128007" y="183662"/>
                  </a:cubicBezTo>
                  <a:cubicBezTo>
                    <a:pt x="3128007" y="285096"/>
                    <a:pt x="3037031" y="367325"/>
                    <a:pt x="2924807" y="367325"/>
                  </a:cubicBezTo>
                  <a:lnTo>
                    <a:pt x="203200" y="367325"/>
                  </a:lnTo>
                  <a:cubicBezTo>
                    <a:pt x="90976" y="367325"/>
                    <a:pt x="0" y="285096"/>
                    <a:pt x="0" y="183662"/>
                  </a:cubicBezTo>
                  <a:cubicBezTo>
                    <a:pt x="0" y="822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128007" cy="40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98982" y="600695"/>
            <a:ext cx="442842" cy="406537"/>
            <a:chOff x="0" y="0"/>
            <a:chExt cx="1040817" cy="9554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534291" y="721609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5" y="0"/>
                </a:lnTo>
                <a:lnTo>
                  <a:pt x="172225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 flipV="1">
            <a:off x="12918027" y="920804"/>
            <a:ext cx="2100000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2918027" y="677599"/>
            <a:ext cx="210000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7350000"/>
            <a:ext cx="17916483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600" b="1" dirty="0">
                <a:solidFill>
                  <a:srgbClr val="1B5E20"/>
                </a:solidFill>
                <a:latin typeface="Montserrat Bold"/>
              </a:rPr>
              <a:t>14</a:t>
            </a:r>
            <a:r>
              <a:rPr sz="2600" b="1" dirty="0">
                <a:solidFill>
                  <a:srgbClr val="1B5E20"/>
                </a:solidFill>
                <a:latin typeface="Montserrat Bold"/>
              </a:rPr>
              <a:t> projects  ·  ₹10.7 Cr+ project value  ·  27 MVA+ capacity  ·  Karnataka &amp; Tamil Nadu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317037" y="-4077994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0" y="0"/>
                </a:moveTo>
                <a:lnTo>
                  <a:pt x="13653926" y="0"/>
                </a:lnTo>
                <a:lnTo>
                  <a:pt x="13653926" y="18823917"/>
                </a:lnTo>
                <a:lnTo>
                  <a:pt x="0" y="18823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4714747" y="705485"/>
            <a:ext cx="113551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7502" y="1415800"/>
            <a:ext cx="4006945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INFORMATION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7502" y="1805815"/>
            <a:ext cx="13000000" cy="6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3"/>
              </a:lnSpc>
              <a:spcBef>
                <a:spcPct val="0"/>
              </a:spcBef>
            </a:pPr>
            <a:r>
              <a:rPr lang="en-US" sz="36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SFS GROUP INDIA PVT LTD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916598" y="732938"/>
            <a:ext cx="3882293" cy="591524"/>
            <a:chOff x="0" y="0"/>
            <a:chExt cx="5176391" cy="78869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5176391" cy="788698"/>
              <a:chOff x="0" y="0"/>
              <a:chExt cx="2436661" cy="37126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436661" cy="371261"/>
              </a:xfrm>
              <a:custGeom>
                <a:avLst/>
                <a:gdLst/>
                <a:ahLst/>
                <a:cxnLst/>
                <a:rect l="l" t="t" r="r" b="b"/>
                <a:pathLst>
                  <a:path w="2436661" h="371261">
                    <a:moveTo>
                      <a:pt x="2233461" y="0"/>
                    </a:moveTo>
                    <a:cubicBezTo>
                      <a:pt x="2345685" y="0"/>
                      <a:pt x="2436661" y="83110"/>
                      <a:pt x="2436661" y="185630"/>
                    </a:cubicBezTo>
                    <a:cubicBezTo>
                      <a:pt x="2436661" y="288151"/>
                      <a:pt x="2345685" y="371261"/>
                      <a:pt x="2233461" y="371261"/>
                    </a:cubicBezTo>
                    <a:lnTo>
                      <a:pt x="203200" y="371261"/>
                    </a:lnTo>
                    <a:cubicBezTo>
                      <a:pt x="90976" y="371261"/>
                      <a:pt x="0" y="288151"/>
                      <a:pt x="0" y="185630"/>
                    </a:cubicBezTo>
                    <a:cubicBezTo>
                      <a:pt x="0" y="8311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0C0C0">
                  <a:alpha val="58824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2436661" cy="4093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238699" y="123307"/>
              <a:ext cx="590456" cy="542049"/>
              <a:chOff x="0" y="0"/>
              <a:chExt cx="1040817" cy="95549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40817" cy="955490"/>
              </a:xfrm>
              <a:custGeom>
                <a:avLst/>
                <a:gdLst/>
                <a:ahLst/>
                <a:cxnLst/>
                <a:rect l="l" t="t" r="r" b="b"/>
                <a:pathLst>
                  <a:path w="1040817" h="955490">
                    <a:moveTo>
                      <a:pt x="520409" y="0"/>
                    </a:moveTo>
                    <a:cubicBezTo>
                      <a:pt x="232995" y="0"/>
                      <a:pt x="0" y="213894"/>
                      <a:pt x="0" y="477745"/>
                    </a:cubicBezTo>
                    <a:cubicBezTo>
                      <a:pt x="0" y="741596"/>
                      <a:pt x="232995" y="955490"/>
                      <a:pt x="520409" y="955490"/>
                    </a:cubicBezTo>
                    <a:cubicBezTo>
                      <a:pt x="807822" y="955490"/>
                      <a:pt x="1040817" y="741596"/>
                      <a:pt x="1040817" y="477745"/>
                    </a:cubicBezTo>
                    <a:cubicBezTo>
                      <a:pt x="1040817" y="213894"/>
                      <a:pt x="807822" y="0"/>
                      <a:pt x="520409" y="0"/>
                    </a:cubicBezTo>
                    <a:close/>
                  </a:path>
                </a:pathLst>
              </a:custGeom>
              <a:solidFill>
                <a:srgbClr val="8DC441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7577" y="51477"/>
                <a:ext cx="845664" cy="814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419110" y="284525"/>
              <a:ext cx="229633" cy="219613"/>
            </a:xfrm>
            <a:custGeom>
              <a:avLst/>
              <a:gdLst/>
              <a:ahLst/>
              <a:cxnLst/>
              <a:rect l="l" t="t" r="r" b="b"/>
              <a:pathLst>
                <a:path w="229633" h="219613">
                  <a:moveTo>
                    <a:pt x="0" y="0"/>
                  </a:moveTo>
                  <a:lnTo>
                    <a:pt x="229634" y="0"/>
                  </a:lnTo>
                  <a:lnTo>
                    <a:pt x="229634" y="219613"/>
                  </a:lnTo>
                  <a:lnTo>
                    <a:pt x="0" y="219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934494" y="571708"/>
              <a:ext cx="753508" cy="0"/>
            </a:xfrm>
            <a:prstGeom prst="line">
              <a:avLst/>
            </a:prstGeom>
            <a:ln w="50800" cap="flat">
              <a:solidFill>
                <a:srgbClr val="1B5E2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8783" y="153455"/>
              <a:ext cx="789219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1">
                  <a:solidFill>
                    <a:srgbClr val="1B5E2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SFS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39116" y="2689594"/>
            <a:ext cx="15500000" cy="5944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Scon Projects, Pune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SFS Group India Pvt Ltd – industrial facility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Location: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Kanagala Industrial Area, Belagavi, Karnataka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Type: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Industrial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Capacity: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 MVA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 Awarded: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HT/LT supply &amp; installation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Detailed Scope: </a:t>
            </a:r>
            <a:r>
              <a:rPr lang="en-US" sz="2959" spc="168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[Detailed scope – e.g. no. &amp; rating of transformers, HT/LT panels, cable length, CEIG approval]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Value: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₹1.7 Cr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Duration: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 months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Status: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Completed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2202299" y="-4899717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13653925" y="0"/>
                </a:moveTo>
                <a:lnTo>
                  <a:pt x="0" y="0"/>
                </a:lnTo>
                <a:lnTo>
                  <a:pt x="0" y="18823917"/>
                </a:lnTo>
                <a:lnTo>
                  <a:pt x="13653925" y="18823917"/>
                </a:lnTo>
                <a:lnTo>
                  <a:pt x="13653925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796760" y="3030344"/>
            <a:ext cx="5373120" cy="3278333"/>
            <a:chOff x="0" y="0"/>
            <a:chExt cx="631389" cy="3852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1389" cy="385233"/>
            </a:xfrm>
            <a:custGeom>
              <a:avLst/>
              <a:gdLst/>
              <a:ahLst/>
              <a:cxnLst/>
              <a:rect l="l" t="t" r="r" b="b"/>
              <a:pathLst>
                <a:path w="631389" h="385233">
                  <a:moveTo>
                    <a:pt x="34581" y="0"/>
                  </a:moveTo>
                  <a:lnTo>
                    <a:pt x="596809" y="0"/>
                  </a:lnTo>
                  <a:cubicBezTo>
                    <a:pt x="605980" y="0"/>
                    <a:pt x="614776" y="3643"/>
                    <a:pt x="621261" y="10128"/>
                  </a:cubicBezTo>
                  <a:cubicBezTo>
                    <a:pt x="627746" y="16614"/>
                    <a:pt x="631389" y="25409"/>
                    <a:pt x="631389" y="34581"/>
                  </a:cubicBezTo>
                  <a:lnTo>
                    <a:pt x="631389" y="350653"/>
                  </a:lnTo>
                  <a:cubicBezTo>
                    <a:pt x="631389" y="359824"/>
                    <a:pt x="627746" y="368620"/>
                    <a:pt x="621261" y="375105"/>
                  </a:cubicBezTo>
                  <a:cubicBezTo>
                    <a:pt x="614776" y="381590"/>
                    <a:pt x="605980" y="385233"/>
                    <a:pt x="596809" y="385233"/>
                  </a:cubicBezTo>
                  <a:lnTo>
                    <a:pt x="34581" y="385233"/>
                  </a:lnTo>
                  <a:cubicBezTo>
                    <a:pt x="25409" y="385233"/>
                    <a:pt x="16614" y="381590"/>
                    <a:pt x="10128" y="375105"/>
                  </a:cubicBezTo>
                  <a:cubicBezTo>
                    <a:pt x="3643" y="368620"/>
                    <a:pt x="0" y="359824"/>
                    <a:pt x="0" y="350653"/>
                  </a:cubicBezTo>
                  <a:lnTo>
                    <a:pt x="0" y="34581"/>
                  </a:lnTo>
                  <a:cubicBezTo>
                    <a:pt x="0" y="25409"/>
                    <a:pt x="3643" y="16614"/>
                    <a:pt x="10128" y="10128"/>
                  </a:cubicBezTo>
                  <a:cubicBezTo>
                    <a:pt x="16614" y="3643"/>
                    <a:pt x="25409" y="0"/>
                    <a:pt x="34581" y="0"/>
                  </a:cubicBezTo>
                  <a:close/>
                </a:path>
              </a:pathLst>
            </a:custGeom>
            <a:blipFill>
              <a:blip r:embed="rId3"/>
              <a:stretch>
                <a:fillRect t="-4649" b="-4649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6760" y="6578176"/>
            <a:ext cx="5373120" cy="3401904"/>
            <a:chOff x="0" y="0"/>
            <a:chExt cx="631389" cy="3997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1389" cy="399754"/>
            </a:xfrm>
            <a:custGeom>
              <a:avLst/>
              <a:gdLst/>
              <a:ahLst/>
              <a:cxnLst/>
              <a:rect l="l" t="t" r="r" b="b"/>
              <a:pathLst>
                <a:path w="631389" h="399754">
                  <a:moveTo>
                    <a:pt x="34581" y="0"/>
                  </a:moveTo>
                  <a:lnTo>
                    <a:pt x="596809" y="0"/>
                  </a:lnTo>
                  <a:cubicBezTo>
                    <a:pt x="605980" y="0"/>
                    <a:pt x="614776" y="3643"/>
                    <a:pt x="621261" y="10128"/>
                  </a:cubicBezTo>
                  <a:cubicBezTo>
                    <a:pt x="627746" y="16614"/>
                    <a:pt x="631389" y="25409"/>
                    <a:pt x="631389" y="34581"/>
                  </a:cubicBezTo>
                  <a:lnTo>
                    <a:pt x="631389" y="365173"/>
                  </a:lnTo>
                  <a:cubicBezTo>
                    <a:pt x="631389" y="374345"/>
                    <a:pt x="627746" y="383140"/>
                    <a:pt x="621261" y="389626"/>
                  </a:cubicBezTo>
                  <a:cubicBezTo>
                    <a:pt x="614776" y="396111"/>
                    <a:pt x="605980" y="399754"/>
                    <a:pt x="596809" y="399754"/>
                  </a:cubicBezTo>
                  <a:lnTo>
                    <a:pt x="34581" y="399754"/>
                  </a:lnTo>
                  <a:cubicBezTo>
                    <a:pt x="25409" y="399754"/>
                    <a:pt x="16614" y="396111"/>
                    <a:pt x="10128" y="389626"/>
                  </a:cubicBezTo>
                  <a:cubicBezTo>
                    <a:pt x="3643" y="383140"/>
                    <a:pt x="0" y="374345"/>
                    <a:pt x="0" y="365173"/>
                  </a:cubicBezTo>
                  <a:lnTo>
                    <a:pt x="0" y="34581"/>
                  </a:lnTo>
                  <a:cubicBezTo>
                    <a:pt x="0" y="25409"/>
                    <a:pt x="3643" y="16614"/>
                    <a:pt x="10128" y="10128"/>
                  </a:cubicBezTo>
                  <a:cubicBezTo>
                    <a:pt x="16614" y="3643"/>
                    <a:pt x="25409" y="0"/>
                    <a:pt x="34581" y="0"/>
                  </a:cubicBezTo>
                  <a:close/>
                </a:path>
              </a:pathLst>
            </a:custGeom>
            <a:blipFill>
              <a:blip r:embed="rId4"/>
              <a:stretch>
                <a:fillRect t="-1754" b="-3574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526828" y="3030344"/>
            <a:ext cx="5393715" cy="3278333"/>
            <a:chOff x="0" y="0"/>
            <a:chExt cx="633810" cy="385233"/>
          </a:xfrm>
        </p:grpSpPr>
        <p:sp>
          <p:nvSpPr>
            <p:cNvPr id="8" name="Freeform 8" descr="HT yard with double-pole structure and switchgear"/>
            <p:cNvSpPr/>
            <p:nvPr/>
          </p:nvSpPr>
          <p:spPr>
            <a:xfrm>
              <a:off x="0" y="0"/>
              <a:ext cx="633810" cy="385233"/>
            </a:xfrm>
            <a:custGeom>
              <a:avLst/>
              <a:gdLst/>
              <a:ahLst/>
              <a:cxnLst/>
              <a:rect l="l" t="t" r="r" b="b"/>
              <a:pathLst>
                <a:path w="633810" h="385233">
                  <a:moveTo>
                    <a:pt x="34449" y="0"/>
                  </a:moveTo>
                  <a:lnTo>
                    <a:pt x="599361" y="0"/>
                  </a:lnTo>
                  <a:cubicBezTo>
                    <a:pt x="608497" y="0"/>
                    <a:pt x="617259" y="3629"/>
                    <a:pt x="623720" y="10090"/>
                  </a:cubicBezTo>
                  <a:cubicBezTo>
                    <a:pt x="630180" y="16550"/>
                    <a:pt x="633810" y="25312"/>
                    <a:pt x="633810" y="34449"/>
                  </a:cubicBezTo>
                  <a:lnTo>
                    <a:pt x="633810" y="350785"/>
                  </a:lnTo>
                  <a:cubicBezTo>
                    <a:pt x="633810" y="359921"/>
                    <a:pt x="630180" y="368683"/>
                    <a:pt x="623720" y="375144"/>
                  </a:cubicBezTo>
                  <a:cubicBezTo>
                    <a:pt x="617259" y="381604"/>
                    <a:pt x="608497" y="385233"/>
                    <a:pt x="599361" y="385233"/>
                  </a:cubicBezTo>
                  <a:lnTo>
                    <a:pt x="34449" y="385233"/>
                  </a:lnTo>
                  <a:cubicBezTo>
                    <a:pt x="25312" y="385233"/>
                    <a:pt x="16550" y="381604"/>
                    <a:pt x="10090" y="375144"/>
                  </a:cubicBezTo>
                  <a:cubicBezTo>
                    <a:pt x="3629" y="368683"/>
                    <a:pt x="0" y="359921"/>
                    <a:pt x="0" y="350785"/>
                  </a:cubicBezTo>
                  <a:lnTo>
                    <a:pt x="0" y="34449"/>
                  </a:lnTo>
                  <a:cubicBezTo>
                    <a:pt x="0" y="25312"/>
                    <a:pt x="3629" y="16550"/>
                    <a:pt x="10090" y="10090"/>
                  </a:cubicBezTo>
                  <a:cubicBezTo>
                    <a:pt x="16550" y="3629"/>
                    <a:pt x="25312" y="0"/>
                    <a:pt x="34449" y="0"/>
                  </a:cubicBezTo>
                  <a:close/>
                </a:path>
              </a:pathLst>
            </a:custGeom>
            <a:blipFill>
              <a:blip r:embed="rId5"/>
              <a:stretch>
                <a:fillRect t="-4859" b="-4859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29290" y="6578176"/>
            <a:ext cx="5391253" cy="3420954"/>
            <a:chOff x="0" y="0"/>
            <a:chExt cx="633520" cy="401993"/>
          </a:xfrm>
        </p:grpSpPr>
        <p:sp>
          <p:nvSpPr>
            <p:cNvPr id="10" name="Freeform 10" descr="Fenced transformer enclosure"/>
            <p:cNvSpPr/>
            <p:nvPr/>
          </p:nvSpPr>
          <p:spPr>
            <a:xfrm>
              <a:off x="0" y="0"/>
              <a:ext cx="633520" cy="401993"/>
            </a:xfrm>
            <a:custGeom>
              <a:avLst/>
              <a:gdLst/>
              <a:ahLst/>
              <a:cxnLst/>
              <a:rect l="l" t="t" r="r" b="b"/>
              <a:pathLst>
                <a:path w="633520" h="401993">
                  <a:moveTo>
                    <a:pt x="34464" y="0"/>
                  </a:moveTo>
                  <a:lnTo>
                    <a:pt x="599056" y="0"/>
                  </a:lnTo>
                  <a:cubicBezTo>
                    <a:pt x="608196" y="0"/>
                    <a:pt x="616963" y="3631"/>
                    <a:pt x="623426" y="10094"/>
                  </a:cubicBezTo>
                  <a:cubicBezTo>
                    <a:pt x="629889" y="16558"/>
                    <a:pt x="633520" y="25324"/>
                    <a:pt x="633520" y="34464"/>
                  </a:cubicBezTo>
                  <a:lnTo>
                    <a:pt x="633520" y="367528"/>
                  </a:lnTo>
                  <a:cubicBezTo>
                    <a:pt x="633520" y="376669"/>
                    <a:pt x="629889" y="385435"/>
                    <a:pt x="623426" y="391898"/>
                  </a:cubicBezTo>
                  <a:cubicBezTo>
                    <a:pt x="616963" y="398362"/>
                    <a:pt x="608196" y="401993"/>
                    <a:pt x="599056" y="401993"/>
                  </a:cubicBezTo>
                  <a:lnTo>
                    <a:pt x="34464" y="401993"/>
                  </a:lnTo>
                  <a:cubicBezTo>
                    <a:pt x="25324" y="401993"/>
                    <a:pt x="16558" y="398362"/>
                    <a:pt x="10094" y="391898"/>
                  </a:cubicBezTo>
                  <a:cubicBezTo>
                    <a:pt x="3631" y="385435"/>
                    <a:pt x="0" y="376669"/>
                    <a:pt x="0" y="367528"/>
                  </a:cubicBezTo>
                  <a:lnTo>
                    <a:pt x="0" y="34464"/>
                  </a:lnTo>
                  <a:cubicBezTo>
                    <a:pt x="0" y="25324"/>
                    <a:pt x="3631" y="16558"/>
                    <a:pt x="10094" y="10094"/>
                  </a:cubicBezTo>
                  <a:cubicBezTo>
                    <a:pt x="16558" y="3631"/>
                    <a:pt x="25324" y="0"/>
                    <a:pt x="34464" y="0"/>
                  </a:cubicBezTo>
                  <a:close/>
                </a:path>
              </a:pathLst>
            </a:custGeom>
            <a:blipFill>
              <a:blip r:embed="rId6"/>
              <a:stretch>
                <a:fillRect t="-2548" b="-2548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256896" y="3030344"/>
            <a:ext cx="5393715" cy="3278333"/>
            <a:chOff x="0" y="0"/>
            <a:chExt cx="633810" cy="3852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3810" cy="385233"/>
            </a:xfrm>
            <a:custGeom>
              <a:avLst/>
              <a:gdLst/>
              <a:ahLst/>
              <a:cxnLst/>
              <a:rect l="l" t="t" r="r" b="b"/>
              <a:pathLst>
                <a:path w="633810" h="385233">
                  <a:moveTo>
                    <a:pt x="34449" y="0"/>
                  </a:moveTo>
                  <a:lnTo>
                    <a:pt x="599361" y="0"/>
                  </a:lnTo>
                  <a:cubicBezTo>
                    <a:pt x="608497" y="0"/>
                    <a:pt x="617259" y="3629"/>
                    <a:pt x="623720" y="10090"/>
                  </a:cubicBezTo>
                  <a:cubicBezTo>
                    <a:pt x="630180" y="16550"/>
                    <a:pt x="633810" y="25312"/>
                    <a:pt x="633810" y="34449"/>
                  </a:cubicBezTo>
                  <a:lnTo>
                    <a:pt x="633810" y="350785"/>
                  </a:lnTo>
                  <a:cubicBezTo>
                    <a:pt x="633810" y="359921"/>
                    <a:pt x="630180" y="368683"/>
                    <a:pt x="623720" y="375144"/>
                  </a:cubicBezTo>
                  <a:cubicBezTo>
                    <a:pt x="617259" y="381604"/>
                    <a:pt x="608497" y="385233"/>
                    <a:pt x="599361" y="385233"/>
                  </a:cubicBezTo>
                  <a:lnTo>
                    <a:pt x="34449" y="385233"/>
                  </a:lnTo>
                  <a:cubicBezTo>
                    <a:pt x="25312" y="385233"/>
                    <a:pt x="16550" y="381604"/>
                    <a:pt x="10090" y="375144"/>
                  </a:cubicBezTo>
                  <a:cubicBezTo>
                    <a:pt x="3629" y="368683"/>
                    <a:pt x="0" y="359921"/>
                    <a:pt x="0" y="350785"/>
                  </a:cubicBezTo>
                  <a:lnTo>
                    <a:pt x="0" y="34449"/>
                  </a:lnTo>
                  <a:cubicBezTo>
                    <a:pt x="0" y="25312"/>
                    <a:pt x="3629" y="16550"/>
                    <a:pt x="10090" y="10090"/>
                  </a:cubicBezTo>
                  <a:cubicBezTo>
                    <a:pt x="16550" y="3629"/>
                    <a:pt x="25312" y="0"/>
                    <a:pt x="34449" y="0"/>
                  </a:cubicBezTo>
                  <a:close/>
                </a:path>
              </a:pathLst>
            </a:custGeom>
            <a:blipFill>
              <a:blip r:embed="rId7"/>
              <a:stretch>
                <a:fillRect t="-4859" b="-4859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358442" y="6578176"/>
            <a:ext cx="5292169" cy="3401904"/>
            <a:chOff x="0" y="0"/>
            <a:chExt cx="621877" cy="399754"/>
          </a:xfrm>
        </p:grpSpPr>
        <p:sp>
          <p:nvSpPr>
            <p:cNvPr id="14" name="Freeform 14" descr="LT panel room with row of switchboards"/>
            <p:cNvSpPr/>
            <p:nvPr/>
          </p:nvSpPr>
          <p:spPr>
            <a:xfrm>
              <a:off x="0" y="0"/>
              <a:ext cx="621877" cy="399754"/>
            </a:xfrm>
            <a:custGeom>
              <a:avLst/>
              <a:gdLst/>
              <a:ahLst/>
              <a:cxnLst/>
              <a:rect l="l" t="t" r="r" b="b"/>
              <a:pathLst>
                <a:path w="621877" h="399754">
                  <a:moveTo>
                    <a:pt x="35110" y="0"/>
                  </a:moveTo>
                  <a:lnTo>
                    <a:pt x="586767" y="0"/>
                  </a:lnTo>
                  <a:cubicBezTo>
                    <a:pt x="606158" y="0"/>
                    <a:pt x="621877" y="15719"/>
                    <a:pt x="621877" y="35110"/>
                  </a:cubicBezTo>
                  <a:lnTo>
                    <a:pt x="621877" y="364644"/>
                  </a:lnTo>
                  <a:cubicBezTo>
                    <a:pt x="621877" y="373956"/>
                    <a:pt x="618178" y="382886"/>
                    <a:pt x="611594" y="389471"/>
                  </a:cubicBezTo>
                  <a:cubicBezTo>
                    <a:pt x="605009" y="396055"/>
                    <a:pt x="596079" y="399754"/>
                    <a:pt x="586767" y="399754"/>
                  </a:cubicBezTo>
                  <a:lnTo>
                    <a:pt x="35110" y="399754"/>
                  </a:lnTo>
                  <a:cubicBezTo>
                    <a:pt x="25798" y="399754"/>
                    <a:pt x="16868" y="396055"/>
                    <a:pt x="10283" y="389471"/>
                  </a:cubicBezTo>
                  <a:cubicBezTo>
                    <a:pt x="3699" y="382886"/>
                    <a:pt x="0" y="373956"/>
                    <a:pt x="0" y="364644"/>
                  </a:cubicBezTo>
                  <a:lnTo>
                    <a:pt x="0" y="35110"/>
                  </a:lnTo>
                  <a:cubicBezTo>
                    <a:pt x="0" y="25798"/>
                    <a:pt x="3699" y="16868"/>
                    <a:pt x="10283" y="10283"/>
                  </a:cubicBezTo>
                  <a:cubicBezTo>
                    <a:pt x="16868" y="3699"/>
                    <a:pt x="25798" y="0"/>
                    <a:pt x="35110" y="0"/>
                  </a:cubicBezTo>
                  <a:close/>
                </a:path>
              </a:pathLst>
            </a:custGeom>
            <a:blipFill>
              <a:blip r:embed="rId8"/>
              <a:stretch>
                <a:fillRect t="-1871" b="-1871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1187502" y="1415800"/>
            <a:ext cx="3183156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IMAGES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7502" y="1805815"/>
            <a:ext cx="9000000" cy="6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3"/>
              </a:lnSpc>
              <a:spcBef>
                <a:spcPct val="0"/>
              </a:spcBef>
            </a:pPr>
            <a:r>
              <a:rPr lang="en-US" sz="36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SFS GROUP INDIA PVT LTD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916598" y="732938"/>
            <a:ext cx="3882293" cy="591524"/>
            <a:chOff x="0" y="0"/>
            <a:chExt cx="5176391" cy="788698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5176391" cy="788698"/>
              <a:chOff x="0" y="0"/>
              <a:chExt cx="2436661" cy="37126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436661" cy="371261"/>
              </a:xfrm>
              <a:custGeom>
                <a:avLst/>
                <a:gdLst/>
                <a:ahLst/>
                <a:cxnLst/>
                <a:rect l="l" t="t" r="r" b="b"/>
                <a:pathLst>
                  <a:path w="2436661" h="371261">
                    <a:moveTo>
                      <a:pt x="2233461" y="0"/>
                    </a:moveTo>
                    <a:cubicBezTo>
                      <a:pt x="2345685" y="0"/>
                      <a:pt x="2436661" y="83110"/>
                      <a:pt x="2436661" y="185630"/>
                    </a:cubicBezTo>
                    <a:cubicBezTo>
                      <a:pt x="2436661" y="288151"/>
                      <a:pt x="2345685" y="371261"/>
                      <a:pt x="2233461" y="371261"/>
                    </a:cubicBezTo>
                    <a:lnTo>
                      <a:pt x="203200" y="371261"/>
                    </a:lnTo>
                    <a:cubicBezTo>
                      <a:pt x="90976" y="371261"/>
                      <a:pt x="0" y="288151"/>
                      <a:pt x="0" y="185630"/>
                    </a:cubicBezTo>
                    <a:cubicBezTo>
                      <a:pt x="0" y="8311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0C0C0">
                  <a:alpha val="58824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2436661" cy="4093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238699" y="123307"/>
              <a:ext cx="590456" cy="542049"/>
              <a:chOff x="0" y="0"/>
              <a:chExt cx="1040817" cy="95549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040817" cy="955490"/>
              </a:xfrm>
              <a:custGeom>
                <a:avLst/>
                <a:gdLst/>
                <a:ahLst/>
                <a:cxnLst/>
                <a:rect l="l" t="t" r="r" b="b"/>
                <a:pathLst>
                  <a:path w="1040817" h="955490">
                    <a:moveTo>
                      <a:pt x="520409" y="0"/>
                    </a:moveTo>
                    <a:cubicBezTo>
                      <a:pt x="232995" y="0"/>
                      <a:pt x="0" y="213894"/>
                      <a:pt x="0" y="477745"/>
                    </a:cubicBezTo>
                    <a:cubicBezTo>
                      <a:pt x="0" y="741596"/>
                      <a:pt x="232995" y="955490"/>
                      <a:pt x="520409" y="955490"/>
                    </a:cubicBezTo>
                    <a:cubicBezTo>
                      <a:pt x="807822" y="955490"/>
                      <a:pt x="1040817" y="741596"/>
                      <a:pt x="1040817" y="477745"/>
                    </a:cubicBezTo>
                    <a:cubicBezTo>
                      <a:pt x="1040817" y="213894"/>
                      <a:pt x="807822" y="0"/>
                      <a:pt x="520409" y="0"/>
                    </a:cubicBezTo>
                    <a:close/>
                  </a:path>
                </a:pathLst>
              </a:custGeom>
              <a:solidFill>
                <a:srgbClr val="8DC441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7577" y="51477"/>
                <a:ext cx="845664" cy="814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419110" y="284525"/>
              <a:ext cx="229633" cy="219613"/>
            </a:xfrm>
            <a:custGeom>
              <a:avLst/>
              <a:gdLst/>
              <a:ahLst/>
              <a:cxnLst/>
              <a:rect l="l" t="t" r="r" b="b"/>
              <a:pathLst>
                <a:path w="229633" h="219613">
                  <a:moveTo>
                    <a:pt x="0" y="0"/>
                  </a:moveTo>
                  <a:lnTo>
                    <a:pt x="229634" y="0"/>
                  </a:lnTo>
                  <a:lnTo>
                    <a:pt x="229634" y="219613"/>
                  </a:lnTo>
                  <a:lnTo>
                    <a:pt x="0" y="219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934494" y="571708"/>
              <a:ext cx="753508" cy="0"/>
            </a:xfrm>
            <a:prstGeom prst="line">
              <a:avLst/>
            </a:prstGeom>
            <a:ln w="50800" cap="flat">
              <a:solidFill>
                <a:srgbClr val="1B5E2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8783" y="153455"/>
              <a:ext cx="789219" cy="418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1">
                  <a:solidFill>
                    <a:srgbClr val="1B5E2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SFS</a:t>
              </a:r>
            </a:p>
          </p:txBody>
        </p:sp>
      </p:grpSp>
      <p:sp>
        <p:nvSpPr>
          <p:cNvPr id="33" name="Photo caption 33"/>
          <p:cNvSpPr txBox="1"/>
          <p:nvPr/>
        </p:nvSpPr>
        <p:spPr>
          <a:xfrm>
            <a:off x="936760" y="5782597"/>
            <a:ext cx="2885664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LT distribution panel</a:t>
            </a:r>
          </a:p>
        </p:txBody>
      </p:sp>
      <p:sp>
        <p:nvSpPr>
          <p:cNvPr id="34" name="Photo caption 34"/>
          <p:cNvSpPr txBox="1"/>
          <p:nvPr/>
        </p:nvSpPr>
        <p:spPr>
          <a:xfrm>
            <a:off x="6666828" y="5782597"/>
            <a:ext cx="3011648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HT yard &amp; DP structure</a:t>
            </a:r>
          </a:p>
        </p:txBody>
      </p:sp>
      <p:sp>
        <p:nvSpPr>
          <p:cNvPr id="35" name="Photo caption 35"/>
          <p:cNvSpPr txBox="1"/>
          <p:nvPr/>
        </p:nvSpPr>
        <p:spPr>
          <a:xfrm>
            <a:off x="12396896" y="5782597"/>
            <a:ext cx="3263616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Cable trays &amp; sub-panels</a:t>
            </a:r>
          </a:p>
        </p:txBody>
      </p:sp>
      <p:sp>
        <p:nvSpPr>
          <p:cNvPr id="36" name="Photo caption 36"/>
          <p:cNvSpPr txBox="1"/>
          <p:nvPr/>
        </p:nvSpPr>
        <p:spPr>
          <a:xfrm>
            <a:off x="936760" y="9454000"/>
            <a:ext cx="2003776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LT panel board</a:t>
            </a:r>
          </a:p>
        </p:txBody>
      </p:sp>
      <p:sp>
        <p:nvSpPr>
          <p:cNvPr id="37" name="Photo caption 37"/>
          <p:cNvSpPr txBox="1"/>
          <p:nvPr/>
        </p:nvSpPr>
        <p:spPr>
          <a:xfrm>
            <a:off x="6669290" y="9473050"/>
            <a:ext cx="2885664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Transformer enclosure</a:t>
            </a:r>
          </a:p>
        </p:txBody>
      </p:sp>
      <p:sp>
        <p:nvSpPr>
          <p:cNvPr id="38" name="Photo caption 38"/>
          <p:cNvSpPr txBox="1"/>
          <p:nvPr/>
        </p:nvSpPr>
        <p:spPr>
          <a:xfrm>
            <a:off x="12498442" y="9454000"/>
            <a:ext cx="1877792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LT panel room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584996" y="-3245824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0" y="0"/>
                </a:moveTo>
                <a:lnTo>
                  <a:pt x="13653925" y="0"/>
                </a:lnTo>
                <a:lnTo>
                  <a:pt x="13653925" y="18823917"/>
                </a:lnTo>
                <a:lnTo>
                  <a:pt x="0" y="18823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187502" y="1415800"/>
            <a:ext cx="4180490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INFORMATION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7502" y="1805815"/>
            <a:ext cx="16000000" cy="6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3"/>
              </a:lnSpc>
              <a:spcBef>
                <a:spcPct val="0"/>
              </a:spcBef>
            </a:pPr>
            <a:r>
              <a:rPr lang="en-US" sz="36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INDUS ALTUM INTERNATIONAL SCHOOL – DP &amp; HOSTEL BLOCKS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916598" y="732938"/>
            <a:ext cx="3882293" cy="591524"/>
            <a:chOff x="0" y="0"/>
            <a:chExt cx="2436661" cy="3712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6661" cy="371261"/>
            </a:xfrm>
            <a:custGeom>
              <a:avLst/>
              <a:gdLst/>
              <a:ahLst/>
              <a:cxnLst/>
              <a:rect l="l" t="t" r="r" b="b"/>
              <a:pathLst>
                <a:path w="2436661" h="371261">
                  <a:moveTo>
                    <a:pt x="2233461" y="0"/>
                  </a:moveTo>
                  <a:cubicBezTo>
                    <a:pt x="2345685" y="0"/>
                    <a:pt x="2436661" y="83110"/>
                    <a:pt x="2436661" y="185630"/>
                  </a:cubicBezTo>
                  <a:cubicBezTo>
                    <a:pt x="2436661" y="288151"/>
                    <a:pt x="2345685" y="371261"/>
                    <a:pt x="2233461" y="371261"/>
                  </a:cubicBezTo>
                  <a:lnTo>
                    <a:pt x="203200" y="371261"/>
                  </a:lnTo>
                  <a:cubicBezTo>
                    <a:pt x="90976" y="371261"/>
                    <a:pt x="0" y="288151"/>
                    <a:pt x="0" y="185630"/>
                  </a:cubicBezTo>
                  <a:cubicBezTo>
                    <a:pt x="0" y="831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36661" cy="40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095622" y="825418"/>
            <a:ext cx="442842" cy="406537"/>
            <a:chOff x="0" y="0"/>
            <a:chExt cx="1040817" cy="9554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230930" y="946332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6" y="0"/>
                </a:lnTo>
                <a:lnTo>
                  <a:pt x="172226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>
            <a:off x="14617469" y="1161719"/>
            <a:ext cx="1704799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4617469" y="838504"/>
            <a:ext cx="1704799" cy="32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Indus Altum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7502" y="2866477"/>
            <a:ext cx="15500000" cy="5530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759" b="1" spc="15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Client: </a:t>
            </a:r>
            <a:r>
              <a:rPr lang="en-US" sz="2759" spc="1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Crownstone Constructions Pvt Ltd</a:t>
            </a:r>
          </a:p>
          <a:p>
            <a:pPr algn="l">
              <a:lnSpc>
                <a:spcPts val="4400"/>
              </a:lnSpc>
            </a:pPr>
            <a:r>
              <a:rPr lang="en-US" sz="2759" b="1" spc="15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Project: </a:t>
            </a:r>
            <a:r>
              <a:rPr lang="en-US" sz="2759" spc="1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Phase-II, Indus Altum International School – DP &amp; Hostel Blocks</a:t>
            </a:r>
          </a:p>
          <a:p>
            <a:pPr algn="l">
              <a:lnSpc>
                <a:spcPts val="4400"/>
              </a:lnSpc>
            </a:pPr>
            <a:r>
              <a:rPr lang="en-US" sz="2759" b="1" spc="15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Location: </a:t>
            </a:r>
            <a:r>
              <a:rPr lang="en-US" sz="2759" spc="1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Near Rani Channamma University, Belagavi, Karnataka </a:t>
            </a:r>
            <a:r>
              <a:rPr lang="en-US" sz="2759" spc="157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[confirm]</a:t>
            </a:r>
          </a:p>
          <a:p>
            <a:pPr algn="l">
              <a:lnSpc>
                <a:spcPts val="4400"/>
              </a:lnSpc>
            </a:pPr>
            <a:r>
              <a:rPr lang="en-US" sz="2759" b="1" spc="15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Type: </a:t>
            </a:r>
            <a:r>
              <a:rPr lang="en-US" sz="2759" spc="1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Institutional (School)</a:t>
            </a:r>
          </a:p>
          <a:p>
            <a:pPr algn="l">
              <a:lnSpc>
                <a:spcPts val="4400"/>
              </a:lnSpc>
            </a:pPr>
            <a:r>
              <a:rPr lang="en-US" sz="2759" b="1" spc="15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Capacity: </a:t>
            </a:r>
            <a:r>
              <a:rPr lang="en-US" sz="2759" spc="1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500 kVA</a:t>
            </a:r>
          </a:p>
          <a:p>
            <a:pPr algn="l">
              <a:lnSpc>
                <a:spcPts val="4400"/>
              </a:lnSpc>
            </a:pPr>
            <a:r>
              <a:rPr lang="en-US" sz="2759" b="1" spc="15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 Awarded: </a:t>
            </a:r>
            <a:r>
              <a:rPr lang="en-US" sz="2759" spc="1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LT works – supply &amp; installation</a:t>
            </a:r>
          </a:p>
          <a:p>
            <a:pPr algn="l">
              <a:lnSpc>
                <a:spcPts val="4400"/>
              </a:lnSpc>
            </a:pPr>
            <a:r>
              <a:rPr lang="en-US" sz="2759" b="1" spc="15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Detailed Scope: </a:t>
            </a:r>
            <a:r>
              <a:rPr lang="en-US" sz="2759" spc="157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[Detailed scope – e.g. no. &amp; rating of transformers, HT/LT panels, cable length, CEIG approval]</a:t>
            </a:r>
          </a:p>
          <a:p>
            <a:pPr algn="l">
              <a:lnSpc>
                <a:spcPts val="4400"/>
              </a:lnSpc>
            </a:pPr>
            <a:r>
              <a:rPr lang="en-US" sz="2759" b="1" spc="15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Value: </a:t>
            </a:r>
            <a:r>
              <a:rPr lang="en-US" sz="2759" spc="1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₹1 Cr</a:t>
            </a:r>
          </a:p>
          <a:p>
            <a:pPr algn="l">
              <a:lnSpc>
                <a:spcPts val="4400"/>
              </a:lnSpc>
            </a:pPr>
            <a:r>
              <a:rPr lang="en-US" sz="2759" b="1" spc="15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Duration: </a:t>
            </a:r>
            <a:r>
              <a:rPr lang="en-US" sz="2759" spc="1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 months</a:t>
            </a:r>
          </a:p>
          <a:p>
            <a:pPr algn="l">
              <a:lnSpc>
                <a:spcPts val="4400"/>
              </a:lnSpc>
            </a:pPr>
            <a:r>
              <a:rPr lang="en-US" sz="2759" b="1" spc="15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Status: </a:t>
            </a:r>
            <a:r>
              <a:rPr lang="en-US" sz="2759" spc="15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Completed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2202299" y="-4699121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13653925" y="0"/>
                </a:moveTo>
                <a:lnTo>
                  <a:pt x="0" y="0"/>
                </a:lnTo>
                <a:lnTo>
                  <a:pt x="0" y="18823917"/>
                </a:lnTo>
                <a:lnTo>
                  <a:pt x="13653925" y="18823917"/>
                </a:lnTo>
                <a:lnTo>
                  <a:pt x="13653925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80878" y="2647402"/>
            <a:ext cx="5210805" cy="3689850"/>
            <a:chOff x="0" y="0"/>
            <a:chExt cx="612316" cy="4335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2316" cy="433590"/>
            </a:xfrm>
            <a:custGeom>
              <a:avLst/>
              <a:gdLst/>
              <a:ahLst/>
              <a:cxnLst/>
              <a:rect l="l" t="t" r="r" b="b"/>
              <a:pathLst>
                <a:path w="612316" h="433590">
                  <a:moveTo>
                    <a:pt x="35658" y="0"/>
                  </a:moveTo>
                  <a:lnTo>
                    <a:pt x="576658" y="0"/>
                  </a:lnTo>
                  <a:cubicBezTo>
                    <a:pt x="586115" y="0"/>
                    <a:pt x="595185" y="3757"/>
                    <a:pt x="601872" y="10444"/>
                  </a:cubicBezTo>
                  <a:cubicBezTo>
                    <a:pt x="608559" y="17131"/>
                    <a:pt x="612316" y="26201"/>
                    <a:pt x="612316" y="35658"/>
                  </a:cubicBezTo>
                  <a:lnTo>
                    <a:pt x="612316" y="397932"/>
                  </a:lnTo>
                  <a:cubicBezTo>
                    <a:pt x="612316" y="407389"/>
                    <a:pt x="608559" y="416459"/>
                    <a:pt x="601872" y="423146"/>
                  </a:cubicBezTo>
                  <a:cubicBezTo>
                    <a:pt x="595185" y="429833"/>
                    <a:pt x="586115" y="433590"/>
                    <a:pt x="576658" y="433590"/>
                  </a:cubicBezTo>
                  <a:lnTo>
                    <a:pt x="35658" y="433590"/>
                  </a:lnTo>
                  <a:cubicBezTo>
                    <a:pt x="26201" y="433590"/>
                    <a:pt x="17131" y="429833"/>
                    <a:pt x="10444" y="423146"/>
                  </a:cubicBezTo>
                  <a:cubicBezTo>
                    <a:pt x="3757" y="416459"/>
                    <a:pt x="0" y="407389"/>
                    <a:pt x="0" y="397932"/>
                  </a:cubicBezTo>
                  <a:lnTo>
                    <a:pt x="0" y="35658"/>
                  </a:lnTo>
                  <a:cubicBezTo>
                    <a:pt x="0" y="26201"/>
                    <a:pt x="3757" y="17131"/>
                    <a:pt x="10444" y="10444"/>
                  </a:cubicBezTo>
                  <a:cubicBezTo>
                    <a:pt x="17131" y="3757"/>
                    <a:pt x="26201" y="0"/>
                    <a:pt x="35658" y="0"/>
                  </a:cubicBezTo>
                  <a:close/>
                </a:path>
              </a:pathLst>
            </a:custGeom>
            <a:blipFill>
              <a:blip r:embed="rId3"/>
              <a:stretch>
                <a:fillRect l="-3092" r="-3092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10583" y="6565852"/>
            <a:ext cx="5210805" cy="3469835"/>
            <a:chOff x="0" y="0"/>
            <a:chExt cx="612316" cy="4077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2316" cy="407737"/>
            </a:xfrm>
            <a:custGeom>
              <a:avLst/>
              <a:gdLst/>
              <a:ahLst/>
              <a:cxnLst/>
              <a:rect l="l" t="t" r="r" b="b"/>
              <a:pathLst>
                <a:path w="612316" h="407737">
                  <a:moveTo>
                    <a:pt x="35658" y="0"/>
                  </a:moveTo>
                  <a:lnTo>
                    <a:pt x="576658" y="0"/>
                  </a:lnTo>
                  <a:cubicBezTo>
                    <a:pt x="586115" y="0"/>
                    <a:pt x="595185" y="3757"/>
                    <a:pt x="601872" y="10444"/>
                  </a:cubicBezTo>
                  <a:cubicBezTo>
                    <a:pt x="608559" y="17131"/>
                    <a:pt x="612316" y="26201"/>
                    <a:pt x="612316" y="35658"/>
                  </a:cubicBezTo>
                  <a:lnTo>
                    <a:pt x="612316" y="372079"/>
                  </a:lnTo>
                  <a:cubicBezTo>
                    <a:pt x="612316" y="381536"/>
                    <a:pt x="608559" y="390605"/>
                    <a:pt x="601872" y="397293"/>
                  </a:cubicBezTo>
                  <a:cubicBezTo>
                    <a:pt x="595185" y="403980"/>
                    <a:pt x="586115" y="407737"/>
                    <a:pt x="576658" y="407737"/>
                  </a:cubicBezTo>
                  <a:lnTo>
                    <a:pt x="35658" y="407737"/>
                  </a:lnTo>
                  <a:cubicBezTo>
                    <a:pt x="26201" y="407737"/>
                    <a:pt x="17131" y="403980"/>
                    <a:pt x="10444" y="397293"/>
                  </a:cubicBezTo>
                  <a:cubicBezTo>
                    <a:pt x="3757" y="390605"/>
                    <a:pt x="0" y="381536"/>
                    <a:pt x="0" y="372079"/>
                  </a:cubicBezTo>
                  <a:lnTo>
                    <a:pt x="0" y="35658"/>
                  </a:lnTo>
                  <a:cubicBezTo>
                    <a:pt x="0" y="26201"/>
                    <a:pt x="3757" y="17131"/>
                    <a:pt x="10444" y="10444"/>
                  </a:cubicBezTo>
                  <a:cubicBezTo>
                    <a:pt x="17131" y="3757"/>
                    <a:pt x="26201" y="0"/>
                    <a:pt x="35658" y="0"/>
                  </a:cubicBezTo>
                  <a:close/>
                </a:path>
              </a:pathLst>
            </a:custGeom>
            <a:blipFill>
              <a:blip r:embed="rId4"/>
              <a:stretch>
                <a:fillRect t="-73" b="-73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19912" y="2647402"/>
            <a:ext cx="5471306" cy="3689850"/>
            <a:chOff x="0" y="0"/>
            <a:chExt cx="642927" cy="4335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2927" cy="433590"/>
            </a:xfrm>
            <a:custGeom>
              <a:avLst/>
              <a:gdLst/>
              <a:ahLst/>
              <a:cxnLst/>
              <a:rect l="l" t="t" r="r" b="b"/>
              <a:pathLst>
                <a:path w="642927" h="433590">
                  <a:moveTo>
                    <a:pt x="33960" y="0"/>
                  </a:moveTo>
                  <a:lnTo>
                    <a:pt x="608967" y="0"/>
                  </a:lnTo>
                  <a:cubicBezTo>
                    <a:pt x="627723" y="0"/>
                    <a:pt x="642927" y="15204"/>
                    <a:pt x="642927" y="33960"/>
                  </a:cubicBezTo>
                  <a:lnTo>
                    <a:pt x="642927" y="399630"/>
                  </a:lnTo>
                  <a:cubicBezTo>
                    <a:pt x="642927" y="418386"/>
                    <a:pt x="627723" y="433590"/>
                    <a:pt x="608967" y="433590"/>
                  </a:cubicBezTo>
                  <a:lnTo>
                    <a:pt x="33960" y="433590"/>
                  </a:lnTo>
                  <a:cubicBezTo>
                    <a:pt x="15204" y="433590"/>
                    <a:pt x="0" y="418386"/>
                    <a:pt x="0" y="399630"/>
                  </a:cubicBezTo>
                  <a:lnTo>
                    <a:pt x="0" y="33960"/>
                  </a:lnTo>
                  <a:cubicBezTo>
                    <a:pt x="0" y="15204"/>
                    <a:pt x="15204" y="0"/>
                    <a:pt x="33960" y="0"/>
                  </a:cubicBezTo>
                  <a:close/>
                </a:path>
              </a:pathLst>
            </a:custGeom>
            <a:blipFill>
              <a:blip r:embed="rId5"/>
              <a:stretch>
                <a:fillRect l="-564" r="-564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43113" y="6565852"/>
            <a:ext cx="5277810" cy="3488885"/>
            <a:chOff x="0" y="0"/>
            <a:chExt cx="620190" cy="4099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0190" cy="409975"/>
            </a:xfrm>
            <a:custGeom>
              <a:avLst/>
              <a:gdLst/>
              <a:ahLst/>
              <a:cxnLst/>
              <a:rect l="l" t="t" r="r" b="b"/>
              <a:pathLst>
                <a:path w="620190" h="409975">
                  <a:moveTo>
                    <a:pt x="35205" y="0"/>
                  </a:moveTo>
                  <a:lnTo>
                    <a:pt x="584984" y="0"/>
                  </a:lnTo>
                  <a:cubicBezTo>
                    <a:pt x="594322" y="0"/>
                    <a:pt x="603276" y="3709"/>
                    <a:pt x="609878" y="10311"/>
                  </a:cubicBezTo>
                  <a:cubicBezTo>
                    <a:pt x="616481" y="16914"/>
                    <a:pt x="620190" y="25868"/>
                    <a:pt x="620190" y="35205"/>
                  </a:cubicBezTo>
                  <a:lnTo>
                    <a:pt x="620190" y="374770"/>
                  </a:lnTo>
                  <a:cubicBezTo>
                    <a:pt x="620190" y="394213"/>
                    <a:pt x="604428" y="409975"/>
                    <a:pt x="584984" y="409975"/>
                  </a:cubicBezTo>
                  <a:lnTo>
                    <a:pt x="35205" y="409975"/>
                  </a:lnTo>
                  <a:cubicBezTo>
                    <a:pt x="15762" y="409975"/>
                    <a:pt x="0" y="394213"/>
                    <a:pt x="0" y="374770"/>
                  </a:cubicBezTo>
                  <a:lnTo>
                    <a:pt x="0" y="35205"/>
                  </a:lnTo>
                  <a:cubicBezTo>
                    <a:pt x="0" y="15762"/>
                    <a:pt x="15762" y="0"/>
                    <a:pt x="35205" y="0"/>
                  </a:cubicBezTo>
                  <a:close/>
                </a:path>
              </a:pathLst>
            </a:custGeom>
            <a:blipFill>
              <a:blip r:embed="rId6"/>
              <a:stretch>
                <a:fillRect t="-440" b="-440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415068" y="2647402"/>
            <a:ext cx="5354118" cy="3689850"/>
            <a:chOff x="0" y="0"/>
            <a:chExt cx="629157" cy="4335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9157" cy="433590"/>
            </a:xfrm>
            <a:custGeom>
              <a:avLst/>
              <a:gdLst/>
              <a:ahLst/>
              <a:cxnLst/>
              <a:rect l="l" t="t" r="r" b="b"/>
              <a:pathLst>
                <a:path w="629157" h="433590">
                  <a:moveTo>
                    <a:pt x="34703" y="0"/>
                  </a:moveTo>
                  <a:lnTo>
                    <a:pt x="594453" y="0"/>
                  </a:lnTo>
                  <a:cubicBezTo>
                    <a:pt x="603657" y="0"/>
                    <a:pt x="612484" y="3656"/>
                    <a:pt x="618992" y="10164"/>
                  </a:cubicBezTo>
                  <a:cubicBezTo>
                    <a:pt x="625500" y="16673"/>
                    <a:pt x="629157" y="25499"/>
                    <a:pt x="629157" y="34703"/>
                  </a:cubicBezTo>
                  <a:lnTo>
                    <a:pt x="629157" y="398887"/>
                  </a:lnTo>
                  <a:cubicBezTo>
                    <a:pt x="629157" y="408091"/>
                    <a:pt x="625500" y="416918"/>
                    <a:pt x="618992" y="423426"/>
                  </a:cubicBezTo>
                  <a:cubicBezTo>
                    <a:pt x="612484" y="429934"/>
                    <a:pt x="603657" y="433590"/>
                    <a:pt x="594453" y="433590"/>
                  </a:cubicBezTo>
                  <a:lnTo>
                    <a:pt x="34703" y="433590"/>
                  </a:lnTo>
                  <a:cubicBezTo>
                    <a:pt x="15537" y="433590"/>
                    <a:pt x="0" y="418053"/>
                    <a:pt x="0" y="398887"/>
                  </a:cubicBezTo>
                  <a:lnTo>
                    <a:pt x="0" y="34703"/>
                  </a:lnTo>
                  <a:cubicBezTo>
                    <a:pt x="0" y="25499"/>
                    <a:pt x="3656" y="16673"/>
                    <a:pt x="10164" y="10164"/>
                  </a:cubicBezTo>
                  <a:cubicBezTo>
                    <a:pt x="16673" y="3656"/>
                    <a:pt x="25499" y="0"/>
                    <a:pt x="34703" y="0"/>
                  </a:cubicBezTo>
                  <a:close/>
                </a:path>
              </a:pathLst>
            </a:custGeom>
            <a:blipFill>
              <a:blip r:embed="rId7"/>
              <a:stretch>
                <a:fillRect l="-1670" r="-1670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415068" y="6565852"/>
            <a:ext cx="5383823" cy="3469835"/>
            <a:chOff x="0" y="0"/>
            <a:chExt cx="632647" cy="40773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2647" cy="407737"/>
            </a:xfrm>
            <a:custGeom>
              <a:avLst/>
              <a:gdLst/>
              <a:ahLst/>
              <a:cxnLst/>
              <a:rect l="l" t="t" r="r" b="b"/>
              <a:pathLst>
                <a:path w="632647" h="407737">
                  <a:moveTo>
                    <a:pt x="34512" y="0"/>
                  </a:moveTo>
                  <a:lnTo>
                    <a:pt x="598135" y="0"/>
                  </a:lnTo>
                  <a:cubicBezTo>
                    <a:pt x="607288" y="0"/>
                    <a:pt x="616067" y="3636"/>
                    <a:pt x="622539" y="10108"/>
                  </a:cubicBezTo>
                  <a:cubicBezTo>
                    <a:pt x="629011" y="16581"/>
                    <a:pt x="632647" y="25359"/>
                    <a:pt x="632647" y="34512"/>
                  </a:cubicBezTo>
                  <a:lnTo>
                    <a:pt x="632647" y="373225"/>
                  </a:lnTo>
                  <a:cubicBezTo>
                    <a:pt x="632647" y="392285"/>
                    <a:pt x="617196" y="407737"/>
                    <a:pt x="598135" y="407737"/>
                  </a:cubicBezTo>
                  <a:lnTo>
                    <a:pt x="34512" y="407737"/>
                  </a:lnTo>
                  <a:cubicBezTo>
                    <a:pt x="15452" y="407737"/>
                    <a:pt x="0" y="392285"/>
                    <a:pt x="0" y="373225"/>
                  </a:cubicBezTo>
                  <a:lnTo>
                    <a:pt x="0" y="34512"/>
                  </a:lnTo>
                  <a:cubicBezTo>
                    <a:pt x="0" y="15452"/>
                    <a:pt x="15452" y="0"/>
                    <a:pt x="34512" y="0"/>
                  </a:cubicBezTo>
                  <a:close/>
                </a:path>
              </a:pathLst>
            </a:custGeom>
            <a:blipFill>
              <a:blip r:embed="rId8"/>
              <a:stretch>
                <a:fillRect t="-66334" b="-66334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1187502" y="1415800"/>
            <a:ext cx="3183156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IMAGES 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916598" y="732938"/>
            <a:ext cx="3882293" cy="591524"/>
            <a:chOff x="0" y="0"/>
            <a:chExt cx="2436661" cy="3712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6661" cy="371261"/>
            </a:xfrm>
            <a:custGeom>
              <a:avLst/>
              <a:gdLst/>
              <a:ahLst/>
              <a:cxnLst/>
              <a:rect l="l" t="t" r="r" b="b"/>
              <a:pathLst>
                <a:path w="2436661" h="371261">
                  <a:moveTo>
                    <a:pt x="2233461" y="0"/>
                  </a:moveTo>
                  <a:cubicBezTo>
                    <a:pt x="2345685" y="0"/>
                    <a:pt x="2436661" y="83110"/>
                    <a:pt x="2436661" y="185630"/>
                  </a:cubicBezTo>
                  <a:cubicBezTo>
                    <a:pt x="2436661" y="288151"/>
                    <a:pt x="2345685" y="371261"/>
                    <a:pt x="2233461" y="371261"/>
                  </a:cubicBezTo>
                  <a:lnTo>
                    <a:pt x="203200" y="371261"/>
                  </a:lnTo>
                  <a:cubicBezTo>
                    <a:pt x="90976" y="371261"/>
                    <a:pt x="0" y="288151"/>
                    <a:pt x="0" y="185630"/>
                  </a:cubicBezTo>
                  <a:cubicBezTo>
                    <a:pt x="0" y="831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436661" cy="40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095622" y="825418"/>
            <a:ext cx="442842" cy="406537"/>
            <a:chOff x="0" y="0"/>
            <a:chExt cx="1040817" cy="9554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4230930" y="946332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6" y="0"/>
                </a:lnTo>
                <a:lnTo>
                  <a:pt x="172226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AutoShape 24"/>
          <p:cNvSpPr/>
          <p:nvPr/>
        </p:nvSpPr>
        <p:spPr>
          <a:xfrm>
            <a:off x="14617469" y="1161719"/>
            <a:ext cx="1704799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Box 25"/>
          <p:cNvSpPr txBox="1"/>
          <p:nvPr/>
        </p:nvSpPr>
        <p:spPr>
          <a:xfrm>
            <a:off x="1187502" y="1805815"/>
            <a:ext cx="12000000" cy="6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3"/>
              </a:lnSpc>
              <a:spcBef>
                <a:spcPct val="0"/>
              </a:spcBef>
            </a:pPr>
            <a:r>
              <a:rPr lang="en-US" sz="36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INDUS ALTUM SCHOOL – DP &amp; HOSTEL BLOCKS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617469" y="848042"/>
            <a:ext cx="1704799" cy="32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Indus Altum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0000" y="1480000"/>
            <a:ext cx="90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Montserrat Bold"/>
              </a:rPr>
              <a:t>[Add a 2–4 word caption under each photo, e.g. “Main LT Panel”]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317037" y="-3299658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0" y="0"/>
                </a:moveTo>
                <a:lnTo>
                  <a:pt x="13653926" y="0"/>
                </a:lnTo>
                <a:lnTo>
                  <a:pt x="13653926" y="18823917"/>
                </a:lnTo>
                <a:lnTo>
                  <a:pt x="0" y="18823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187502" y="1415800"/>
            <a:ext cx="4180490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INFORMATION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7502" y="1786256"/>
            <a:ext cx="13000000" cy="54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3"/>
              </a:lnSpc>
              <a:spcBef>
                <a:spcPct val="0"/>
              </a:spcBef>
            </a:pPr>
            <a:r>
              <a:rPr lang="en-US" sz="32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THYSSENKRUPP AEROSPACE INDIA PVT LTD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377007" y="437176"/>
            <a:ext cx="3882293" cy="591524"/>
            <a:chOff x="0" y="0"/>
            <a:chExt cx="2436661" cy="3712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6661" cy="371261"/>
            </a:xfrm>
            <a:custGeom>
              <a:avLst/>
              <a:gdLst/>
              <a:ahLst/>
              <a:cxnLst/>
              <a:rect l="l" t="t" r="r" b="b"/>
              <a:pathLst>
                <a:path w="2436661" h="371261">
                  <a:moveTo>
                    <a:pt x="2233461" y="0"/>
                  </a:moveTo>
                  <a:cubicBezTo>
                    <a:pt x="2345685" y="0"/>
                    <a:pt x="2436661" y="83110"/>
                    <a:pt x="2436661" y="185630"/>
                  </a:cubicBezTo>
                  <a:cubicBezTo>
                    <a:pt x="2436661" y="288151"/>
                    <a:pt x="2345685" y="371261"/>
                    <a:pt x="2233461" y="371261"/>
                  </a:cubicBezTo>
                  <a:lnTo>
                    <a:pt x="203200" y="371261"/>
                  </a:lnTo>
                  <a:cubicBezTo>
                    <a:pt x="90976" y="371261"/>
                    <a:pt x="0" y="288151"/>
                    <a:pt x="0" y="185630"/>
                  </a:cubicBezTo>
                  <a:cubicBezTo>
                    <a:pt x="0" y="831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36661" cy="40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556032" y="529656"/>
            <a:ext cx="442842" cy="406537"/>
            <a:chOff x="0" y="0"/>
            <a:chExt cx="1040817" cy="9554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691340" y="650570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5" y="0"/>
                </a:lnTo>
                <a:lnTo>
                  <a:pt x="172225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 flipV="1">
            <a:off x="14077878" y="865957"/>
            <a:ext cx="1854327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4077878" y="517437"/>
            <a:ext cx="1854327" cy="32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Thyssenkrupp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7502" y="2752302"/>
            <a:ext cx="15500000" cy="661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Crownstone Constructions Pvt Ltd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Thyssenkrupp Aerospace India Pvt Ltd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Location: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KIADB Industrial Area, Budigere, Devanahalli, Bengaluru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Type: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Industrial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Capacity: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500 kVA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 Awarded: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Temporary power connection, HT/LT power connection, supply &amp; installation, CEIG approval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Value: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₹2.1 Cr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Duration: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 months</a:t>
            </a:r>
          </a:p>
          <a:p>
            <a:pPr algn="l">
              <a:lnSpc>
                <a:spcPts val="4400"/>
              </a:lnSpc>
            </a:pPr>
            <a:r>
              <a:rPr lang="en-US" sz="2959" b="1" spc="1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Status: </a:t>
            </a:r>
            <a:r>
              <a:rPr lang="en-US" sz="2959" spc="1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Completed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2317037" y="-4710931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13653926" y="0"/>
                </a:moveTo>
                <a:lnTo>
                  <a:pt x="0" y="0"/>
                </a:lnTo>
                <a:lnTo>
                  <a:pt x="0" y="18823916"/>
                </a:lnTo>
                <a:lnTo>
                  <a:pt x="13653926" y="18823916"/>
                </a:lnTo>
                <a:lnTo>
                  <a:pt x="13653926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01220" y="2418802"/>
            <a:ext cx="5002404" cy="3596929"/>
            <a:chOff x="0" y="0"/>
            <a:chExt cx="587827" cy="4226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7827" cy="422671"/>
            </a:xfrm>
            <a:custGeom>
              <a:avLst/>
              <a:gdLst/>
              <a:ahLst/>
              <a:cxnLst/>
              <a:rect l="l" t="t" r="r" b="b"/>
              <a:pathLst>
                <a:path w="587827" h="422671">
                  <a:moveTo>
                    <a:pt x="37143" y="0"/>
                  </a:moveTo>
                  <a:lnTo>
                    <a:pt x="550684" y="0"/>
                  </a:lnTo>
                  <a:cubicBezTo>
                    <a:pt x="560535" y="0"/>
                    <a:pt x="569982" y="3913"/>
                    <a:pt x="576948" y="10879"/>
                  </a:cubicBezTo>
                  <a:cubicBezTo>
                    <a:pt x="583914" y="17845"/>
                    <a:pt x="587827" y="27292"/>
                    <a:pt x="587827" y="37143"/>
                  </a:cubicBezTo>
                  <a:lnTo>
                    <a:pt x="587827" y="385528"/>
                  </a:lnTo>
                  <a:cubicBezTo>
                    <a:pt x="587827" y="395379"/>
                    <a:pt x="583914" y="404826"/>
                    <a:pt x="576948" y="411792"/>
                  </a:cubicBezTo>
                  <a:cubicBezTo>
                    <a:pt x="569982" y="418758"/>
                    <a:pt x="560535" y="422671"/>
                    <a:pt x="550684" y="422671"/>
                  </a:cubicBezTo>
                  <a:lnTo>
                    <a:pt x="37143" y="422671"/>
                  </a:lnTo>
                  <a:cubicBezTo>
                    <a:pt x="27292" y="422671"/>
                    <a:pt x="17845" y="418758"/>
                    <a:pt x="10879" y="411792"/>
                  </a:cubicBezTo>
                  <a:cubicBezTo>
                    <a:pt x="3913" y="404826"/>
                    <a:pt x="0" y="395379"/>
                    <a:pt x="0" y="385528"/>
                  </a:cubicBezTo>
                  <a:lnTo>
                    <a:pt x="0" y="37143"/>
                  </a:lnTo>
                  <a:cubicBezTo>
                    <a:pt x="0" y="27292"/>
                    <a:pt x="3913" y="17845"/>
                    <a:pt x="10879" y="10879"/>
                  </a:cubicBezTo>
                  <a:cubicBezTo>
                    <a:pt x="17845" y="3913"/>
                    <a:pt x="27292" y="0"/>
                    <a:pt x="37143" y="0"/>
                  </a:cubicBezTo>
                  <a:close/>
                </a:path>
              </a:pathLst>
            </a:custGeom>
            <a:blipFill>
              <a:blip r:embed="rId3"/>
              <a:stretch>
                <a:fillRect t="-42716" b="-42716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01220" y="6282431"/>
            <a:ext cx="5002404" cy="3671404"/>
            <a:chOff x="0" y="0"/>
            <a:chExt cx="587827" cy="431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7827" cy="431423"/>
            </a:xfrm>
            <a:custGeom>
              <a:avLst/>
              <a:gdLst/>
              <a:ahLst/>
              <a:cxnLst/>
              <a:rect l="l" t="t" r="r" b="b"/>
              <a:pathLst>
                <a:path w="587827" h="431423">
                  <a:moveTo>
                    <a:pt x="37143" y="0"/>
                  </a:moveTo>
                  <a:lnTo>
                    <a:pt x="550684" y="0"/>
                  </a:lnTo>
                  <a:cubicBezTo>
                    <a:pt x="560535" y="0"/>
                    <a:pt x="569982" y="3913"/>
                    <a:pt x="576948" y="10879"/>
                  </a:cubicBezTo>
                  <a:cubicBezTo>
                    <a:pt x="583914" y="17845"/>
                    <a:pt x="587827" y="27292"/>
                    <a:pt x="587827" y="37143"/>
                  </a:cubicBezTo>
                  <a:lnTo>
                    <a:pt x="587827" y="394279"/>
                  </a:lnTo>
                  <a:cubicBezTo>
                    <a:pt x="587827" y="404130"/>
                    <a:pt x="583914" y="413578"/>
                    <a:pt x="576948" y="420544"/>
                  </a:cubicBezTo>
                  <a:cubicBezTo>
                    <a:pt x="569982" y="427509"/>
                    <a:pt x="560535" y="431423"/>
                    <a:pt x="550684" y="431423"/>
                  </a:cubicBezTo>
                  <a:lnTo>
                    <a:pt x="37143" y="431423"/>
                  </a:lnTo>
                  <a:cubicBezTo>
                    <a:pt x="16630" y="431423"/>
                    <a:pt x="0" y="414793"/>
                    <a:pt x="0" y="394279"/>
                  </a:cubicBezTo>
                  <a:lnTo>
                    <a:pt x="0" y="37143"/>
                  </a:lnTo>
                  <a:cubicBezTo>
                    <a:pt x="0" y="27292"/>
                    <a:pt x="3913" y="17845"/>
                    <a:pt x="10879" y="10879"/>
                  </a:cubicBezTo>
                  <a:cubicBezTo>
                    <a:pt x="17845" y="3913"/>
                    <a:pt x="27292" y="0"/>
                    <a:pt x="37143" y="0"/>
                  </a:cubicBezTo>
                  <a:close/>
                </a:path>
              </a:pathLst>
            </a:custGeom>
            <a:blipFill>
              <a:blip r:embed="rId4"/>
              <a:stretch>
                <a:fillRect t="-55566" b="-26104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52000" y="2418802"/>
            <a:ext cx="4999942" cy="3610242"/>
            <a:chOff x="0" y="0"/>
            <a:chExt cx="587538" cy="4242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87538" cy="424236"/>
            </a:xfrm>
            <a:custGeom>
              <a:avLst/>
              <a:gdLst/>
              <a:ahLst/>
              <a:cxnLst/>
              <a:rect l="l" t="t" r="r" b="b"/>
              <a:pathLst>
                <a:path w="587538" h="424236">
                  <a:moveTo>
                    <a:pt x="37162" y="0"/>
                  </a:moveTo>
                  <a:lnTo>
                    <a:pt x="550376" y="0"/>
                  </a:lnTo>
                  <a:cubicBezTo>
                    <a:pt x="570900" y="0"/>
                    <a:pt x="587538" y="16638"/>
                    <a:pt x="587538" y="37162"/>
                  </a:cubicBezTo>
                  <a:lnTo>
                    <a:pt x="587538" y="387074"/>
                  </a:lnTo>
                  <a:cubicBezTo>
                    <a:pt x="587538" y="396930"/>
                    <a:pt x="583622" y="406382"/>
                    <a:pt x="576653" y="413351"/>
                  </a:cubicBezTo>
                  <a:cubicBezTo>
                    <a:pt x="569684" y="420320"/>
                    <a:pt x="560232" y="424236"/>
                    <a:pt x="550376" y="424236"/>
                  </a:cubicBezTo>
                  <a:lnTo>
                    <a:pt x="37162" y="424236"/>
                  </a:lnTo>
                  <a:cubicBezTo>
                    <a:pt x="27306" y="424236"/>
                    <a:pt x="17854" y="420320"/>
                    <a:pt x="10884" y="413351"/>
                  </a:cubicBezTo>
                  <a:cubicBezTo>
                    <a:pt x="3915" y="406382"/>
                    <a:pt x="0" y="396930"/>
                    <a:pt x="0" y="387074"/>
                  </a:cubicBezTo>
                  <a:lnTo>
                    <a:pt x="0" y="37162"/>
                  </a:lnTo>
                  <a:cubicBezTo>
                    <a:pt x="0" y="27306"/>
                    <a:pt x="3915" y="17854"/>
                    <a:pt x="10884" y="10884"/>
                  </a:cubicBezTo>
                  <a:cubicBezTo>
                    <a:pt x="17854" y="3915"/>
                    <a:pt x="27306" y="0"/>
                    <a:pt x="37162" y="0"/>
                  </a:cubicBez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52000" y="6282431"/>
            <a:ext cx="4999942" cy="3690454"/>
            <a:chOff x="0" y="0"/>
            <a:chExt cx="587538" cy="4336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7538" cy="433661"/>
            </a:xfrm>
            <a:custGeom>
              <a:avLst/>
              <a:gdLst/>
              <a:ahLst/>
              <a:cxnLst/>
              <a:rect l="l" t="t" r="r" b="b"/>
              <a:pathLst>
                <a:path w="587538" h="433661">
                  <a:moveTo>
                    <a:pt x="37162" y="0"/>
                  </a:moveTo>
                  <a:lnTo>
                    <a:pt x="550376" y="0"/>
                  </a:lnTo>
                  <a:cubicBezTo>
                    <a:pt x="570900" y="0"/>
                    <a:pt x="587538" y="16638"/>
                    <a:pt x="587538" y="37162"/>
                  </a:cubicBezTo>
                  <a:lnTo>
                    <a:pt x="587538" y="396500"/>
                  </a:lnTo>
                  <a:cubicBezTo>
                    <a:pt x="587538" y="417023"/>
                    <a:pt x="570900" y="433661"/>
                    <a:pt x="550376" y="433661"/>
                  </a:cubicBezTo>
                  <a:lnTo>
                    <a:pt x="37162" y="433661"/>
                  </a:lnTo>
                  <a:cubicBezTo>
                    <a:pt x="27306" y="433661"/>
                    <a:pt x="17854" y="429746"/>
                    <a:pt x="10884" y="422777"/>
                  </a:cubicBezTo>
                  <a:cubicBezTo>
                    <a:pt x="3915" y="415808"/>
                    <a:pt x="0" y="406355"/>
                    <a:pt x="0" y="396500"/>
                  </a:cubicBezTo>
                  <a:lnTo>
                    <a:pt x="0" y="37162"/>
                  </a:lnTo>
                  <a:cubicBezTo>
                    <a:pt x="0" y="27306"/>
                    <a:pt x="3915" y="17854"/>
                    <a:pt x="10884" y="10884"/>
                  </a:cubicBezTo>
                  <a:cubicBezTo>
                    <a:pt x="17854" y="3915"/>
                    <a:pt x="27306" y="0"/>
                    <a:pt x="37162" y="0"/>
                  </a:cubicBez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507633" y="2418802"/>
            <a:ext cx="4900858" cy="3596929"/>
            <a:chOff x="0" y="0"/>
            <a:chExt cx="575895" cy="4226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5894" cy="422671"/>
            </a:xfrm>
            <a:custGeom>
              <a:avLst/>
              <a:gdLst/>
              <a:ahLst/>
              <a:cxnLst/>
              <a:rect l="l" t="t" r="r" b="b"/>
              <a:pathLst>
                <a:path w="575894" h="422671">
                  <a:moveTo>
                    <a:pt x="37913" y="0"/>
                  </a:moveTo>
                  <a:lnTo>
                    <a:pt x="537982" y="0"/>
                  </a:lnTo>
                  <a:cubicBezTo>
                    <a:pt x="558920" y="0"/>
                    <a:pt x="575894" y="16974"/>
                    <a:pt x="575894" y="37913"/>
                  </a:cubicBezTo>
                  <a:lnTo>
                    <a:pt x="575894" y="384758"/>
                  </a:lnTo>
                  <a:cubicBezTo>
                    <a:pt x="575894" y="405697"/>
                    <a:pt x="558920" y="422671"/>
                    <a:pt x="537982" y="422671"/>
                  </a:cubicBezTo>
                  <a:lnTo>
                    <a:pt x="37913" y="422671"/>
                  </a:lnTo>
                  <a:cubicBezTo>
                    <a:pt x="16974" y="422671"/>
                    <a:pt x="0" y="405697"/>
                    <a:pt x="0" y="384758"/>
                  </a:cubicBezTo>
                  <a:lnTo>
                    <a:pt x="0" y="37913"/>
                  </a:lnTo>
                  <a:cubicBezTo>
                    <a:pt x="0" y="16974"/>
                    <a:pt x="16974" y="0"/>
                    <a:pt x="37913" y="0"/>
                  </a:cubicBezTo>
                  <a:close/>
                </a:path>
              </a:pathLst>
            </a:custGeom>
            <a:blipFill>
              <a:blip r:embed="rId7"/>
              <a:stretch>
                <a:fillRect t="-4072" r="-5828" b="-4072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07633" y="6327727"/>
            <a:ext cx="4900858" cy="3671404"/>
            <a:chOff x="0" y="0"/>
            <a:chExt cx="575895" cy="4314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5894" cy="431423"/>
            </a:xfrm>
            <a:custGeom>
              <a:avLst/>
              <a:gdLst/>
              <a:ahLst/>
              <a:cxnLst/>
              <a:rect l="l" t="t" r="r" b="b"/>
              <a:pathLst>
                <a:path w="575894" h="431423">
                  <a:moveTo>
                    <a:pt x="37913" y="0"/>
                  </a:moveTo>
                  <a:lnTo>
                    <a:pt x="537982" y="0"/>
                  </a:lnTo>
                  <a:cubicBezTo>
                    <a:pt x="558920" y="0"/>
                    <a:pt x="575894" y="16974"/>
                    <a:pt x="575894" y="37913"/>
                  </a:cubicBezTo>
                  <a:lnTo>
                    <a:pt x="575894" y="393510"/>
                  </a:lnTo>
                  <a:cubicBezTo>
                    <a:pt x="575894" y="414448"/>
                    <a:pt x="558920" y="431423"/>
                    <a:pt x="537982" y="431423"/>
                  </a:cubicBezTo>
                  <a:lnTo>
                    <a:pt x="37913" y="431423"/>
                  </a:lnTo>
                  <a:cubicBezTo>
                    <a:pt x="16974" y="431423"/>
                    <a:pt x="0" y="414448"/>
                    <a:pt x="0" y="393510"/>
                  </a:cubicBezTo>
                  <a:lnTo>
                    <a:pt x="0" y="37913"/>
                  </a:lnTo>
                  <a:cubicBezTo>
                    <a:pt x="0" y="16974"/>
                    <a:pt x="16974" y="0"/>
                    <a:pt x="37913" y="0"/>
                  </a:cubicBez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87502" y="323289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13377007" y="437176"/>
            <a:ext cx="3882293" cy="591524"/>
            <a:chOff x="0" y="0"/>
            <a:chExt cx="2436661" cy="3712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6661" cy="371261"/>
            </a:xfrm>
            <a:custGeom>
              <a:avLst/>
              <a:gdLst/>
              <a:ahLst/>
              <a:cxnLst/>
              <a:rect l="l" t="t" r="r" b="b"/>
              <a:pathLst>
                <a:path w="2436661" h="371261">
                  <a:moveTo>
                    <a:pt x="2233461" y="0"/>
                  </a:moveTo>
                  <a:cubicBezTo>
                    <a:pt x="2345685" y="0"/>
                    <a:pt x="2436661" y="83110"/>
                    <a:pt x="2436661" y="185630"/>
                  </a:cubicBezTo>
                  <a:cubicBezTo>
                    <a:pt x="2436661" y="288151"/>
                    <a:pt x="2345685" y="371261"/>
                    <a:pt x="2233461" y="371261"/>
                  </a:cubicBezTo>
                  <a:lnTo>
                    <a:pt x="203200" y="371261"/>
                  </a:lnTo>
                  <a:cubicBezTo>
                    <a:pt x="90976" y="371261"/>
                    <a:pt x="0" y="288151"/>
                    <a:pt x="0" y="185630"/>
                  </a:cubicBezTo>
                  <a:cubicBezTo>
                    <a:pt x="0" y="831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436661" cy="40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56032" y="529656"/>
            <a:ext cx="442842" cy="406537"/>
            <a:chOff x="0" y="0"/>
            <a:chExt cx="1040817" cy="9554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691340" y="650570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5" y="0"/>
                </a:lnTo>
                <a:lnTo>
                  <a:pt x="172225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AutoShape 23"/>
          <p:cNvSpPr/>
          <p:nvPr/>
        </p:nvSpPr>
        <p:spPr>
          <a:xfrm flipV="1">
            <a:off x="14077878" y="865957"/>
            <a:ext cx="1854327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14077878" y="517437"/>
            <a:ext cx="1854327" cy="32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Thyssenkrupp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7502" y="1235080"/>
            <a:ext cx="3183156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IMAGES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7502" y="1605535"/>
            <a:ext cx="9833364" cy="54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3"/>
              </a:lnSpc>
              <a:spcBef>
                <a:spcPct val="0"/>
              </a:spcBef>
            </a:pPr>
            <a:r>
              <a:rPr lang="en-US" sz="32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THYSSENKRUPP AEROSPACE INDIA PVT LTD</a:t>
            </a:r>
          </a:p>
        </p:txBody>
      </p:sp>
      <p:sp>
        <p:nvSpPr>
          <p:cNvPr id="27" name="Photo caption 27"/>
          <p:cNvSpPr txBox="1"/>
          <p:nvPr/>
        </p:nvSpPr>
        <p:spPr>
          <a:xfrm>
            <a:off x="7092000" y="5492964"/>
            <a:ext cx="338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LT panel commissioning</a:t>
            </a:r>
          </a:p>
        </p:txBody>
      </p:sp>
      <p:sp>
        <p:nvSpPr>
          <p:cNvPr id="28" name="Photo caption 28"/>
          <p:cNvSpPr txBox="1"/>
          <p:nvPr/>
        </p:nvSpPr>
        <p:spPr>
          <a:xfrm>
            <a:off x="7092000" y="9436805"/>
            <a:ext cx="282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Main LT panel room</a:t>
            </a:r>
          </a:p>
        </p:txBody>
      </p:sp>
      <p:sp>
        <p:nvSpPr>
          <p:cNvPr id="29" name="Photo caption 29"/>
          <p:cNvSpPr txBox="1"/>
          <p:nvPr/>
        </p:nvSpPr>
        <p:spPr>
          <a:xfrm>
            <a:off x="12647633" y="9463051"/>
            <a:ext cx="254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Transformer yard</a:t>
            </a:r>
          </a:p>
        </p:txBody>
      </p:sp>
      <p:sp>
        <p:nvSpPr>
          <p:cNvPr id="30" name="Photo caption 30"/>
          <p:cNvSpPr txBox="1"/>
          <p:nvPr/>
        </p:nvSpPr>
        <p:spPr>
          <a:xfrm>
            <a:off x="1441220" y="5479651"/>
            <a:ext cx="380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Industrial socket outlets</a:t>
            </a:r>
          </a:p>
        </p:txBody>
      </p:sp>
      <p:sp>
        <p:nvSpPr>
          <p:cNvPr id="31" name="Photo caption 31"/>
          <p:cNvSpPr txBox="1"/>
          <p:nvPr/>
        </p:nvSpPr>
        <p:spPr>
          <a:xfrm>
            <a:off x="1441220" y="9417755"/>
            <a:ext cx="282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Distribution board</a:t>
            </a:r>
          </a:p>
        </p:txBody>
      </p:sp>
      <p:sp>
        <p:nvSpPr>
          <p:cNvPr id="32" name="Photo caption 32"/>
          <p:cNvSpPr txBox="1"/>
          <p:nvPr/>
        </p:nvSpPr>
        <p:spPr>
          <a:xfrm>
            <a:off x="12647633" y="5479651"/>
            <a:ext cx="394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LT panels &amp; cable trunking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317037" y="-4268458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0" y="0"/>
                </a:moveTo>
                <a:lnTo>
                  <a:pt x="13653926" y="0"/>
                </a:lnTo>
                <a:lnTo>
                  <a:pt x="13653926" y="18823916"/>
                </a:lnTo>
                <a:lnTo>
                  <a:pt x="0" y="18823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187502" y="1415800"/>
            <a:ext cx="4180490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INFORMATION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7502" y="1805815"/>
            <a:ext cx="6000000" cy="6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3"/>
              </a:lnSpc>
              <a:spcBef>
                <a:spcPct val="0"/>
              </a:spcBef>
            </a:pPr>
            <a:r>
              <a:rPr lang="en-US" sz="36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FOXCONN – A03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377007" y="590381"/>
            <a:ext cx="3882293" cy="591524"/>
            <a:chOff x="0" y="0"/>
            <a:chExt cx="2436661" cy="3712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6661" cy="371261"/>
            </a:xfrm>
            <a:custGeom>
              <a:avLst/>
              <a:gdLst/>
              <a:ahLst/>
              <a:cxnLst/>
              <a:rect l="l" t="t" r="r" b="b"/>
              <a:pathLst>
                <a:path w="2436661" h="371261">
                  <a:moveTo>
                    <a:pt x="2233461" y="0"/>
                  </a:moveTo>
                  <a:cubicBezTo>
                    <a:pt x="2345685" y="0"/>
                    <a:pt x="2436661" y="83110"/>
                    <a:pt x="2436661" y="185630"/>
                  </a:cubicBezTo>
                  <a:cubicBezTo>
                    <a:pt x="2436661" y="288151"/>
                    <a:pt x="2345685" y="371261"/>
                    <a:pt x="2233461" y="371261"/>
                  </a:cubicBezTo>
                  <a:lnTo>
                    <a:pt x="203200" y="371261"/>
                  </a:lnTo>
                  <a:cubicBezTo>
                    <a:pt x="90976" y="371261"/>
                    <a:pt x="0" y="288151"/>
                    <a:pt x="0" y="185630"/>
                  </a:cubicBezTo>
                  <a:cubicBezTo>
                    <a:pt x="0" y="831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36661" cy="40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556032" y="682861"/>
            <a:ext cx="442842" cy="406537"/>
            <a:chOff x="0" y="0"/>
            <a:chExt cx="1040817" cy="9554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691340" y="803774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5" y="0"/>
                </a:lnTo>
                <a:lnTo>
                  <a:pt x="172225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>
            <a:off x="14077878" y="1019162"/>
            <a:ext cx="1106690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4077878" y="695947"/>
            <a:ext cx="1106690" cy="32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Foxconn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7502" y="2466427"/>
            <a:ext cx="15500000" cy="5685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Scon Projects, Pune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Axana Estate LLP – A03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Location: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Oragadam, Walajabad Taluk, Tamil Nadu – 631604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Type: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Industrial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Capacity: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 MVA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 Awarded: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HT/LT installation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Detailed Scope: </a:t>
            </a:r>
            <a:r>
              <a:rPr lang="en-US" sz="2859" spc="162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[Detailed scope – e.g. no. &amp; rating of transformers, HT/LT panels, cable length, CEIG approval]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Value: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₹2 Cr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Duration: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 months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Status: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Ongoing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0000" y="1900000"/>
            <a:ext cx="9000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0000"/>
                </a:solidFill>
                <a:latin typeface="Montserrat Bold"/>
              </a:rPr>
              <a:t>[Confirm you are permitted to use the Foxconn name]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6760" y="2756783"/>
            <a:ext cx="5415743" cy="3669134"/>
            <a:chOff x="0" y="0"/>
            <a:chExt cx="636398" cy="4311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6398" cy="431156"/>
            </a:xfrm>
            <a:custGeom>
              <a:avLst/>
              <a:gdLst/>
              <a:ahLst/>
              <a:cxnLst/>
              <a:rect l="l" t="t" r="r" b="b"/>
              <a:pathLst>
                <a:path w="636398" h="431156">
                  <a:moveTo>
                    <a:pt x="34309" y="0"/>
                  </a:moveTo>
                  <a:lnTo>
                    <a:pt x="602090" y="0"/>
                  </a:lnTo>
                  <a:cubicBezTo>
                    <a:pt x="611189" y="0"/>
                    <a:pt x="619915" y="3615"/>
                    <a:pt x="626349" y="10049"/>
                  </a:cubicBezTo>
                  <a:cubicBezTo>
                    <a:pt x="632783" y="16483"/>
                    <a:pt x="636398" y="25209"/>
                    <a:pt x="636398" y="34309"/>
                  </a:cubicBezTo>
                  <a:lnTo>
                    <a:pt x="636398" y="396847"/>
                  </a:lnTo>
                  <a:cubicBezTo>
                    <a:pt x="636398" y="415796"/>
                    <a:pt x="621038" y="431156"/>
                    <a:pt x="602090" y="431156"/>
                  </a:cubicBezTo>
                  <a:lnTo>
                    <a:pt x="34309" y="431156"/>
                  </a:lnTo>
                  <a:cubicBezTo>
                    <a:pt x="25209" y="431156"/>
                    <a:pt x="16483" y="427541"/>
                    <a:pt x="10049" y="421107"/>
                  </a:cubicBezTo>
                  <a:cubicBezTo>
                    <a:pt x="3615" y="414673"/>
                    <a:pt x="0" y="405947"/>
                    <a:pt x="0" y="396847"/>
                  </a:cubicBezTo>
                  <a:lnTo>
                    <a:pt x="0" y="34309"/>
                  </a:lnTo>
                  <a:cubicBezTo>
                    <a:pt x="0" y="25209"/>
                    <a:pt x="3615" y="16483"/>
                    <a:pt x="10049" y="10049"/>
                  </a:cubicBezTo>
                  <a:cubicBezTo>
                    <a:pt x="16483" y="3615"/>
                    <a:pt x="25209" y="0"/>
                    <a:pt x="34309" y="0"/>
                  </a:cubicBezTo>
                  <a:close/>
                </a:path>
              </a:pathLst>
            </a:custGeom>
            <a:blipFill>
              <a:blip r:embed="rId2"/>
              <a:stretch>
                <a:fillRect l="-25486" r="-25486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96760" y="6701748"/>
            <a:ext cx="5415743" cy="3278333"/>
            <a:chOff x="0" y="0"/>
            <a:chExt cx="636398" cy="3852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6398" cy="385233"/>
            </a:xfrm>
            <a:custGeom>
              <a:avLst/>
              <a:gdLst/>
              <a:ahLst/>
              <a:cxnLst/>
              <a:rect l="l" t="t" r="r" b="b"/>
              <a:pathLst>
                <a:path w="636398" h="385233">
                  <a:moveTo>
                    <a:pt x="34309" y="0"/>
                  </a:moveTo>
                  <a:lnTo>
                    <a:pt x="602090" y="0"/>
                  </a:lnTo>
                  <a:cubicBezTo>
                    <a:pt x="611189" y="0"/>
                    <a:pt x="619915" y="3615"/>
                    <a:pt x="626349" y="10049"/>
                  </a:cubicBezTo>
                  <a:cubicBezTo>
                    <a:pt x="632783" y="16483"/>
                    <a:pt x="636398" y="25209"/>
                    <a:pt x="636398" y="34309"/>
                  </a:cubicBezTo>
                  <a:lnTo>
                    <a:pt x="636398" y="350925"/>
                  </a:lnTo>
                  <a:cubicBezTo>
                    <a:pt x="636398" y="360024"/>
                    <a:pt x="632783" y="368750"/>
                    <a:pt x="626349" y="375185"/>
                  </a:cubicBezTo>
                  <a:cubicBezTo>
                    <a:pt x="619915" y="381619"/>
                    <a:pt x="611189" y="385233"/>
                    <a:pt x="602090" y="385233"/>
                  </a:cubicBezTo>
                  <a:lnTo>
                    <a:pt x="34309" y="385233"/>
                  </a:lnTo>
                  <a:cubicBezTo>
                    <a:pt x="15360" y="385233"/>
                    <a:pt x="0" y="369873"/>
                    <a:pt x="0" y="350925"/>
                  </a:cubicBezTo>
                  <a:lnTo>
                    <a:pt x="0" y="34309"/>
                  </a:lnTo>
                  <a:cubicBezTo>
                    <a:pt x="0" y="25209"/>
                    <a:pt x="3615" y="16483"/>
                    <a:pt x="10049" y="10049"/>
                  </a:cubicBezTo>
                  <a:cubicBezTo>
                    <a:pt x="16483" y="3615"/>
                    <a:pt x="25209" y="0"/>
                    <a:pt x="34309" y="0"/>
                  </a:cubicBezTo>
                  <a:close/>
                </a:path>
              </a:pathLst>
            </a:custGeom>
            <a:blipFill>
              <a:blip r:embed="rId3"/>
              <a:stretch>
                <a:fillRect l="-17446" r="-17446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26828" y="2756783"/>
            <a:ext cx="5412746" cy="3669134"/>
            <a:chOff x="0" y="0"/>
            <a:chExt cx="636046" cy="4311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6046" cy="431156"/>
            </a:xfrm>
            <a:custGeom>
              <a:avLst/>
              <a:gdLst/>
              <a:ahLst/>
              <a:cxnLst/>
              <a:rect l="l" t="t" r="r" b="b"/>
              <a:pathLst>
                <a:path w="636046" h="431156">
                  <a:moveTo>
                    <a:pt x="34328" y="0"/>
                  </a:moveTo>
                  <a:lnTo>
                    <a:pt x="601718" y="0"/>
                  </a:lnTo>
                  <a:cubicBezTo>
                    <a:pt x="620677" y="0"/>
                    <a:pt x="636046" y="15369"/>
                    <a:pt x="636046" y="34328"/>
                  </a:cubicBezTo>
                  <a:lnTo>
                    <a:pt x="636046" y="396828"/>
                  </a:lnTo>
                  <a:cubicBezTo>
                    <a:pt x="636046" y="415787"/>
                    <a:pt x="620677" y="431156"/>
                    <a:pt x="601718" y="431156"/>
                  </a:cubicBezTo>
                  <a:lnTo>
                    <a:pt x="34328" y="431156"/>
                  </a:lnTo>
                  <a:cubicBezTo>
                    <a:pt x="15369" y="431156"/>
                    <a:pt x="0" y="415787"/>
                    <a:pt x="0" y="396828"/>
                  </a:cubicBezTo>
                  <a:lnTo>
                    <a:pt x="0" y="34328"/>
                  </a:lnTo>
                  <a:cubicBezTo>
                    <a:pt x="0" y="15369"/>
                    <a:pt x="15369" y="0"/>
                    <a:pt x="34328" y="0"/>
                  </a:cubicBezTo>
                  <a:close/>
                </a:path>
              </a:pathLst>
            </a:custGeom>
            <a:blipFill>
              <a:blip r:embed="rId4"/>
              <a:stretch>
                <a:fillRect l="-10255" r="-10255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29290" y="6720798"/>
            <a:ext cx="5410284" cy="3278333"/>
            <a:chOff x="0" y="0"/>
            <a:chExt cx="635757" cy="3852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757" cy="385233"/>
            </a:xfrm>
            <a:custGeom>
              <a:avLst/>
              <a:gdLst/>
              <a:ahLst/>
              <a:cxnLst/>
              <a:rect l="l" t="t" r="r" b="b"/>
              <a:pathLst>
                <a:path w="635757" h="385233">
                  <a:moveTo>
                    <a:pt x="34343" y="0"/>
                  </a:moveTo>
                  <a:lnTo>
                    <a:pt x="601413" y="0"/>
                  </a:lnTo>
                  <a:cubicBezTo>
                    <a:pt x="620381" y="0"/>
                    <a:pt x="635757" y="15376"/>
                    <a:pt x="635757" y="34343"/>
                  </a:cubicBezTo>
                  <a:lnTo>
                    <a:pt x="635757" y="350890"/>
                  </a:lnTo>
                  <a:cubicBezTo>
                    <a:pt x="635757" y="359998"/>
                    <a:pt x="632138" y="368734"/>
                    <a:pt x="625698" y="375174"/>
                  </a:cubicBezTo>
                  <a:cubicBezTo>
                    <a:pt x="619257" y="381615"/>
                    <a:pt x="610522" y="385233"/>
                    <a:pt x="601413" y="385233"/>
                  </a:cubicBezTo>
                  <a:lnTo>
                    <a:pt x="34343" y="385233"/>
                  </a:lnTo>
                  <a:cubicBezTo>
                    <a:pt x="15376" y="385233"/>
                    <a:pt x="0" y="369857"/>
                    <a:pt x="0" y="350890"/>
                  </a:cubicBezTo>
                  <a:lnTo>
                    <a:pt x="0" y="34343"/>
                  </a:lnTo>
                  <a:cubicBezTo>
                    <a:pt x="0" y="25235"/>
                    <a:pt x="3618" y="16499"/>
                    <a:pt x="10059" y="10059"/>
                  </a:cubicBezTo>
                  <a:cubicBezTo>
                    <a:pt x="16499" y="3618"/>
                    <a:pt x="25235" y="0"/>
                    <a:pt x="34343" y="0"/>
                  </a:cubicBezTo>
                  <a:close/>
                </a:path>
              </a:pathLst>
            </a:custGeom>
            <a:blipFill>
              <a:blip r:embed="rId5"/>
              <a:stretch>
                <a:fillRect t="-89377" b="-178381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256896" y="2756783"/>
            <a:ext cx="5002404" cy="3669134"/>
            <a:chOff x="0" y="0"/>
            <a:chExt cx="587827" cy="4311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7827" cy="431156"/>
            </a:xfrm>
            <a:custGeom>
              <a:avLst/>
              <a:gdLst/>
              <a:ahLst/>
              <a:cxnLst/>
              <a:rect l="l" t="t" r="r" b="b"/>
              <a:pathLst>
                <a:path w="587827" h="431156">
                  <a:moveTo>
                    <a:pt x="37143" y="0"/>
                  </a:moveTo>
                  <a:lnTo>
                    <a:pt x="550684" y="0"/>
                  </a:lnTo>
                  <a:cubicBezTo>
                    <a:pt x="560535" y="0"/>
                    <a:pt x="569982" y="3913"/>
                    <a:pt x="576948" y="10879"/>
                  </a:cubicBezTo>
                  <a:cubicBezTo>
                    <a:pt x="583914" y="17845"/>
                    <a:pt x="587827" y="27292"/>
                    <a:pt x="587827" y="37143"/>
                  </a:cubicBezTo>
                  <a:lnTo>
                    <a:pt x="587827" y="394013"/>
                  </a:lnTo>
                  <a:cubicBezTo>
                    <a:pt x="587827" y="403864"/>
                    <a:pt x="583914" y="413311"/>
                    <a:pt x="576948" y="420277"/>
                  </a:cubicBezTo>
                  <a:cubicBezTo>
                    <a:pt x="569982" y="427243"/>
                    <a:pt x="560535" y="431156"/>
                    <a:pt x="550684" y="431156"/>
                  </a:cubicBezTo>
                  <a:lnTo>
                    <a:pt x="37143" y="431156"/>
                  </a:lnTo>
                  <a:cubicBezTo>
                    <a:pt x="27292" y="431156"/>
                    <a:pt x="17845" y="427243"/>
                    <a:pt x="10879" y="420277"/>
                  </a:cubicBezTo>
                  <a:cubicBezTo>
                    <a:pt x="3913" y="413311"/>
                    <a:pt x="0" y="403864"/>
                    <a:pt x="0" y="394013"/>
                  </a:cubicBezTo>
                  <a:lnTo>
                    <a:pt x="0" y="37143"/>
                  </a:lnTo>
                  <a:cubicBezTo>
                    <a:pt x="0" y="27292"/>
                    <a:pt x="3913" y="17845"/>
                    <a:pt x="10879" y="10879"/>
                  </a:cubicBezTo>
                  <a:cubicBezTo>
                    <a:pt x="17845" y="3913"/>
                    <a:pt x="27292" y="0"/>
                    <a:pt x="37143" y="0"/>
                  </a:cubicBezTo>
                  <a:close/>
                </a:path>
              </a:pathLst>
            </a:custGeom>
            <a:blipFill>
              <a:blip r:embed="rId6"/>
              <a:stretch>
                <a:fillRect t="-85398" b="-118417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256896" y="6720798"/>
            <a:ext cx="5002404" cy="3259283"/>
            <a:chOff x="0" y="0"/>
            <a:chExt cx="587827" cy="3829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87827" cy="382995"/>
            </a:xfrm>
            <a:custGeom>
              <a:avLst/>
              <a:gdLst/>
              <a:ahLst/>
              <a:cxnLst/>
              <a:rect l="l" t="t" r="r" b="b"/>
              <a:pathLst>
                <a:path w="587827" h="382995">
                  <a:moveTo>
                    <a:pt x="37143" y="0"/>
                  </a:moveTo>
                  <a:lnTo>
                    <a:pt x="550684" y="0"/>
                  </a:lnTo>
                  <a:cubicBezTo>
                    <a:pt x="560535" y="0"/>
                    <a:pt x="569982" y="3913"/>
                    <a:pt x="576948" y="10879"/>
                  </a:cubicBezTo>
                  <a:cubicBezTo>
                    <a:pt x="583914" y="17845"/>
                    <a:pt x="587827" y="27292"/>
                    <a:pt x="587827" y="37143"/>
                  </a:cubicBezTo>
                  <a:lnTo>
                    <a:pt x="587827" y="345851"/>
                  </a:lnTo>
                  <a:cubicBezTo>
                    <a:pt x="587827" y="355702"/>
                    <a:pt x="583914" y="365150"/>
                    <a:pt x="576948" y="372116"/>
                  </a:cubicBezTo>
                  <a:cubicBezTo>
                    <a:pt x="569982" y="379081"/>
                    <a:pt x="560535" y="382995"/>
                    <a:pt x="550684" y="382995"/>
                  </a:cubicBezTo>
                  <a:lnTo>
                    <a:pt x="37143" y="382995"/>
                  </a:lnTo>
                  <a:cubicBezTo>
                    <a:pt x="16630" y="382995"/>
                    <a:pt x="0" y="366365"/>
                    <a:pt x="0" y="345851"/>
                  </a:cubicBezTo>
                  <a:lnTo>
                    <a:pt x="0" y="37143"/>
                  </a:lnTo>
                  <a:cubicBezTo>
                    <a:pt x="0" y="27292"/>
                    <a:pt x="3913" y="17845"/>
                    <a:pt x="10879" y="10879"/>
                  </a:cubicBezTo>
                  <a:cubicBezTo>
                    <a:pt x="17845" y="3913"/>
                    <a:pt x="27292" y="0"/>
                    <a:pt x="37143" y="0"/>
                  </a:cubicBezTo>
                  <a:close/>
                </a:path>
              </a:pathLst>
            </a:custGeom>
            <a:blipFill>
              <a:blip r:embed="rId7"/>
              <a:stretch>
                <a:fillRect t="-77562" b="-164458"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13377007" y="590381"/>
            <a:ext cx="3882293" cy="591524"/>
            <a:chOff x="0" y="0"/>
            <a:chExt cx="2436661" cy="3712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6661" cy="371261"/>
            </a:xfrm>
            <a:custGeom>
              <a:avLst/>
              <a:gdLst/>
              <a:ahLst/>
              <a:cxnLst/>
              <a:rect l="l" t="t" r="r" b="b"/>
              <a:pathLst>
                <a:path w="2436661" h="371261">
                  <a:moveTo>
                    <a:pt x="2233461" y="0"/>
                  </a:moveTo>
                  <a:cubicBezTo>
                    <a:pt x="2345685" y="0"/>
                    <a:pt x="2436661" y="83110"/>
                    <a:pt x="2436661" y="185630"/>
                  </a:cubicBezTo>
                  <a:cubicBezTo>
                    <a:pt x="2436661" y="288151"/>
                    <a:pt x="2345685" y="371261"/>
                    <a:pt x="2233461" y="371261"/>
                  </a:cubicBezTo>
                  <a:lnTo>
                    <a:pt x="203200" y="371261"/>
                  </a:lnTo>
                  <a:cubicBezTo>
                    <a:pt x="90976" y="371261"/>
                    <a:pt x="0" y="288151"/>
                    <a:pt x="0" y="185630"/>
                  </a:cubicBezTo>
                  <a:cubicBezTo>
                    <a:pt x="0" y="831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436661" cy="40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556032" y="682861"/>
            <a:ext cx="442842" cy="406537"/>
            <a:chOff x="0" y="0"/>
            <a:chExt cx="1040817" cy="9554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3691340" y="803774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5" y="0"/>
                </a:lnTo>
                <a:lnTo>
                  <a:pt x="172225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AutoShape 22"/>
          <p:cNvSpPr/>
          <p:nvPr/>
        </p:nvSpPr>
        <p:spPr>
          <a:xfrm>
            <a:off x="14077878" y="1019162"/>
            <a:ext cx="1106690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14077878" y="695947"/>
            <a:ext cx="1106690" cy="32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Foxconn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7502" y="1415800"/>
            <a:ext cx="3183156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IMAGES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7502" y="1805815"/>
            <a:ext cx="6000000" cy="6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3"/>
              </a:lnSpc>
              <a:spcBef>
                <a:spcPct val="0"/>
              </a:spcBef>
            </a:pPr>
            <a:r>
              <a:rPr lang="en-US" sz="36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FOXCONN – A03</a:t>
            </a:r>
          </a:p>
        </p:txBody>
      </p:sp>
      <p:sp>
        <p:nvSpPr>
          <p:cNvPr id="26" name="Freeform 26"/>
          <p:cNvSpPr/>
          <p:nvPr/>
        </p:nvSpPr>
        <p:spPr>
          <a:xfrm rot="5400000" flipH="1">
            <a:off x="2317037" y="-4820608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13653926" y="0"/>
                </a:moveTo>
                <a:lnTo>
                  <a:pt x="0" y="0"/>
                </a:lnTo>
                <a:lnTo>
                  <a:pt x="0" y="18823917"/>
                </a:lnTo>
                <a:lnTo>
                  <a:pt x="13653926" y="18823917"/>
                </a:lnTo>
                <a:lnTo>
                  <a:pt x="13653926" y="0"/>
                </a:lnTo>
                <a:close/>
              </a:path>
            </a:pathLst>
          </a:custGeom>
          <a:blipFill>
            <a:blip r:embed="rId10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TextBox 26"/>
          <p:cNvSpPr txBox="1"/>
          <p:nvPr/>
        </p:nvSpPr>
        <p:spPr>
          <a:xfrm>
            <a:off x="6700000" y="1650000"/>
            <a:ext cx="1080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Montserrat Bold"/>
              </a:rPr>
              <a:t>[Add a 2–4 word caption under each photo, e.g. “Main LT Panel”]</a:t>
            </a:r>
          </a:p>
          <a:p>
            <a:pPr algn="l"/>
            <a:r>
              <a:rPr sz="1400" b="1">
                <a:solidFill>
                  <a:srgbClr val="FF0000"/>
                </a:solidFill>
                <a:latin typeface="Montserrat Bold"/>
              </a:rPr>
              <a:t>[Check work-at-height photos: harness &amp; guardrails must be clearly visible]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317037" y="-4268458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0" y="0"/>
                </a:moveTo>
                <a:lnTo>
                  <a:pt x="13653926" y="0"/>
                </a:lnTo>
                <a:lnTo>
                  <a:pt x="13653926" y="18823916"/>
                </a:lnTo>
                <a:lnTo>
                  <a:pt x="0" y="18823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4714747" y="705485"/>
            <a:ext cx="113551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377007" y="590381"/>
            <a:ext cx="3882293" cy="591524"/>
            <a:chOff x="0" y="0"/>
            <a:chExt cx="5176391" cy="78869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5176391" cy="788698"/>
              <a:chOff x="0" y="0"/>
              <a:chExt cx="2436661" cy="3712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436661" cy="371261"/>
              </a:xfrm>
              <a:custGeom>
                <a:avLst/>
                <a:gdLst/>
                <a:ahLst/>
                <a:cxnLst/>
                <a:rect l="l" t="t" r="r" b="b"/>
                <a:pathLst>
                  <a:path w="2436661" h="371261">
                    <a:moveTo>
                      <a:pt x="2233461" y="0"/>
                    </a:moveTo>
                    <a:cubicBezTo>
                      <a:pt x="2345685" y="0"/>
                      <a:pt x="2436661" y="83110"/>
                      <a:pt x="2436661" y="185630"/>
                    </a:cubicBezTo>
                    <a:cubicBezTo>
                      <a:pt x="2436661" y="288151"/>
                      <a:pt x="2345685" y="371261"/>
                      <a:pt x="2233461" y="371261"/>
                    </a:cubicBezTo>
                    <a:lnTo>
                      <a:pt x="203200" y="371261"/>
                    </a:lnTo>
                    <a:cubicBezTo>
                      <a:pt x="90976" y="371261"/>
                      <a:pt x="0" y="288151"/>
                      <a:pt x="0" y="185630"/>
                    </a:cubicBezTo>
                    <a:cubicBezTo>
                      <a:pt x="0" y="8311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0C0C0">
                  <a:alpha val="58824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436661" cy="4093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38699" y="123307"/>
              <a:ext cx="590456" cy="542049"/>
              <a:chOff x="0" y="0"/>
              <a:chExt cx="1040817" cy="95549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40817" cy="955490"/>
              </a:xfrm>
              <a:custGeom>
                <a:avLst/>
                <a:gdLst/>
                <a:ahLst/>
                <a:cxnLst/>
                <a:rect l="l" t="t" r="r" b="b"/>
                <a:pathLst>
                  <a:path w="1040817" h="955490">
                    <a:moveTo>
                      <a:pt x="520409" y="0"/>
                    </a:moveTo>
                    <a:cubicBezTo>
                      <a:pt x="232995" y="0"/>
                      <a:pt x="0" y="213894"/>
                      <a:pt x="0" y="477745"/>
                    </a:cubicBezTo>
                    <a:cubicBezTo>
                      <a:pt x="0" y="741596"/>
                      <a:pt x="232995" y="955490"/>
                      <a:pt x="520409" y="955490"/>
                    </a:cubicBezTo>
                    <a:cubicBezTo>
                      <a:pt x="807822" y="955490"/>
                      <a:pt x="1040817" y="741596"/>
                      <a:pt x="1040817" y="477745"/>
                    </a:cubicBezTo>
                    <a:cubicBezTo>
                      <a:pt x="1040817" y="213894"/>
                      <a:pt x="807822" y="0"/>
                      <a:pt x="520409" y="0"/>
                    </a:cubicBezTo>
                    <a:close/>
                  </a:path>
                </a:pathLst>
              </a:custGeom>
              <a:solidFill>
                <a:srgbClr val="8DC441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7577" y="51477"/>
                <a:ext cx="845664" cy="814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419110" y="284525"/>
              <a:ext cx="229633" cy="219613"/>
            </a:xfrm>
            <a:custGeom>
              <a:avLst/>
              <a:gdLst/>
              <a:ahLst/>
              <a:cxnLst/>
              <a:rect l="l" t="t" r="r" b="b"/>
              <a:pathLst>
                <a:path w="229633" h="219613">
                  <a:moveTo>
                    <a:pt x="0" y="0"/>
                  </a:moveTo>
                  <a:lnTo>
                    <a:pt x="229634" y="0"/>
                  </a:lnTo>
                  <a:lnTo>
                    <a:pt x="229634" y="219613"/>
                  </a:lnTo>
                  <a:lnTo>
                    <a:pt x="0" y="219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AutoShape 13"/>
            <p:cNvSpPr/>
            <p:nvPr/>
          </p:nvSpPr>
          <p:spPr>
            <a:xfrm flipV="1">
              <a:off x="934494" y="571708"/>
              <a:ext cx="2452436" cy="0"/>
            </a:xfrm>
            <a:prstGeom prst="line">
              <a:avLst/>
            </a:prstGeom>
            <a:ln w="50800" cap="flat">
              <a:solidFill>
                <a:srgbClr val="1B5E2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4494" y="100475"/>
              <a:ext cx="2452436" cy="41825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1">
                  <a:solidFill>
                    <a:srgbClr val="1B5E2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Aequs Unit-4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87502" y="1415800"/>
            <a:ext cx="4018240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INFORMATION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7502" y="1805815"/>
            <a:ext cx="13000000" cy="6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3"/>
              </a:lnSpc>
              <a:spcBef>
                <a:spcPct val="0"/>
              </a:spcBef>
            </a:pPr>
            <a:r>
              <a:rPr lang="en-US" sz="36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AEQUS UNIT-4, HUBBALLI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7502" y="2620821"/>
            <a:ext cx="15500000" cy="5685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Crownstone Constructions Pvt Ltd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Unit-4, Aequs HDC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Location: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Aequs HDC, Itigatti, Hubballi – 580114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Type: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Industrial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Capacity: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 MVA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 Awarded: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HT/LT supply &amp; installation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Detailed Scope: </a:t>
            </a:r>
            <a:r>
              <a:rPr lang="en-US" sz="2859" spc="162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[Detailed scope – e.g. no. &amp; rating of transformers, HT/LT panels, cable length, CEIG approval]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Value: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₹2.2 Cr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Duration: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 months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Status: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Ongoing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2202299" y="-4899717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13653925" y="0"/>
                </a:moveTo>
                <a:lnTo>
                  <a:pt x="0" y="0"/>
                </a:lnTo>
                <a:lnTo>
                  <a:pt x="0" y="18823917"/>
                </a:lnTo>
                <a:lnTo>
                  <a:pt x="13653925" y="18823917"/>
                </a:lnTo>
                <a:lnTo>
                  <a:pt x="13653925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796760" y="2814744"/>
            <a:ext cx="5372004" cy="3493933"/>
            <a:chOff x="0" y="0"/>
            <a:chExt cx="631258" cy="4105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1258" cy="410568"/>
            </a:xfrm>
            <a:custGeom>
              <a:avLst/>
              <a:gdLst/>
              <a:ahLst/>
              <a:cxnLst/>
              <a:rect l="l" t="t" r="r" b="b"/>
              <a:pathLst>
                <a:path w="631258" h="410568">
                  <a:moveTo>
                    <a:pt x="34588" y="0"/>
                  </a:moveTo>
                  <a:lnTo>
                    <a:pt x="596671" y="0"/>
                  </a:lnTo>
                  <a:cubicBezTo>
                    <a:pt x="615773" y="0"/>
                    <a:pt x="631258" y="15486"/>
                    <a:pt x="631258" y="34588"/>
                  </a:cubicBezTo>
                  <a:lnTo>
                    <a:pt x="631258" y="375980"/>
                  </a:lnTo>
                  <a:cubicBezTo>
                    <a:pt x="631258" y="395083"/>
                    <a:pt x="615773" y="410568"/>
                    <a:pt x="596671" y="410568"/>
                  </a:cubicBezTo>
                  <a:lnTo>
                    <a:pt x="34588" y="410568"/>
                  </a:lnTo>
                  <a:cubicBezTo>
                    <a:pt x="15486" y="410568"/>
                    <a:pt x="0" y="395083"/>
                    <a:pt x="0" y="375980"/>
                  </a:cubicBezTo>
                  <a:lnTo>
                    <a:pt x="0" y="34588"/>
                  </a:lnTo>
                  <a:cubicBezTo>
                    <a:pt x="0" y="15486"/>
                    <a:pt x="15486" y="0"/>
                    <a:pt x="34588" y="0"/>
                  </a:cubicBez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6760" y="6508702"/>
            <a:ext cx="5372004" cy="3471379"/>
            <a:chOff x="0" y="0"/>
            <a:chExt cx="631258" cy="4079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1258" cy="407918"/>
            </a:xfrm>
            <a:custGeom>
              <a:avLst/>
              <a:gdLst/>
              <a:ahLst/>
              <a:cxnLst/>
              <a:rect l="l" t="t" r="r" b="b"/>
              <a:pathLst>
                <a:path w="631258" h="407918">
                  <a:moveTo>
                    <a:pt x="34588" y="0"/>
                  </a:moveTo>
                  <a:lnTo>
                    <a:pt x="596671" y="0"/>
                  </a:lnTo>
                  <a:cubicBezTo>
                    <a:pt x="615773" y="0"/>
                    <a:pt x="631258" y="15486"/>
                    <a:pt x="631258" y="34588"/>
                  </a:cubicBezTo>
                  <a:lnTo>
                    <a:pt x="631258" y="373330"/>
                  </a:lnTo>
                  <a:cubicBezTo>
                    <a:pt x="631258" y="392432"/>
                    <a:pt x="615773" y="407918"/>
                    <a:pt x="596671" y="407918"/>
                  </a:cubicBezTo>
                  <a:lnTo>
                    <a:pt x="34588" y="407918"/>
                  </a:lnTo>
                  <a:cubicBezTo>
                    <a:pt x="15486" y="407918"/>
                    <a:pt x="0" y="392432"/>
                    <a:pt x="0" y="373330"/>
                  </a:cubicBezTo>
                  <a:lnTo>
                    <a:pt x="0" y="34588"/>
                  </a:lnTo>
                  <a:cubicBezTo>
                    <a:pt x="0" y="15486"/>
                    <a:pt x="15486" y="0"/>
                    <a:pt x="34588" y="0"/>
                  </a:cubicBez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526828" y="2814744"/>
            <a:ext cx="5279604" cy="3493933"/>
            <a:chOff x="0" y="0"/>
            <a:chExt cx="620401" cy="4105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0401" cy="410568"/>
            </a:xfrm>
            <a:custGeom>
              <a:avLst/>
              <a:gdLst/>
              <a:ahLst/>
              <a:cxnLst/>
              <a:rect l="l" t="t" r="r" b="b"/>
              <a:pathLst>
                <a:path w="620401" h="410568">
                  <a:moveTo>
                    <a:pt x="35193" y="0"/>
                  </a:moveTo>
                  <a:lnTo>
                    <a:pt x="585207" y="0"/>
                  </a:lnTo>
                  <a:cubicBezTo>
                    <a:pt x="604644" y="0"/>
                    <a:pt x="620401" y="15757"/>
                    <a:pt x="620401" y="35193"/>
                  </a:cubicBezTo>
                  <a:lnTo>
                    <a:pt x="620401" y="375375"/>
                  </a:lnTo>
                  <a:cubicBezTo>
                    <a:pt x="620401" y="384709"/>
                    <a:pt x="616693" y="393660"/>
                    <a:pt x="610093" y="400260"/>
                  </a:cubicBezTo>
                  <a:cubicBezTo>
                    <a:pt x="603493" y="406860"/>
                    <a:pt x="594541" y="410568"/>
                    <a:pt x="585207" y="410568"/>
                  </a:cubicBezTo>
                  <a:lnTo>
                    <a:pt x="35193" y="410568"/>
                  </a:lnTo>
                  <a:cubicBezTo>
                    <a:pt x="15757" y="410568"/>
                    <a:pt x="0" y="394812"/>
                    <a:pt x="0" y="375375"/>
                  </a:cubicBezTo>
                  <a:lnTo>
                    <a:pt x="0" y="35193"/>
                  </a:lnTo>
                  <a:cubicBezTo>
                    <a:pt x="0" y="25859"/>
                    <a:pt x="3708" y="16908"/>
                    <a:pt x="10308" y="10308"/>
                  </a:cubicBezTo>
                  <a:cubicBezTo>
                    <a:pt x="16908" y="3708"/>
                    <a:pt x="25859" y="0"/>
                    <a:pt x="35193" y="0"/>
                  </a:cubicBez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29290" y="6508702"/>
            <a:ext cx="5277142" cy="3490429"/>
            <a:chOff x="0" y="0"/>
            <a:chExt cx="620111" cy="4101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0111" cy="410156"/>
            </a:xfrm>
            <a:custGeom>
              <a:avLst/>
              <a:gdLst/>
              <a:ahLst/>
              <a:cxnLst/>
              <a:rect l="l" t="t" r="r" b="b"/>
              <a:pathLst>
                <a:path w="620111" h="410156">
                  <a:moveTo>
                    <a:pt x="35210" y="0"/>
                  </a:moveTo>
                  <a:lnTo>
                    <a:pt x="584902" y="0"/>
                  </a:lnTo>
                  <a:cubicBezTo>
                    <a:pt x="594240" y="0"/>
                    <a:pt x="603195" y="3710"/>
                    <a:pt x="609799" y="10313"/>
                  </a:cubicBezTo>
                  <a:cubicBezTo>
                    <a:pt x="616402" y="16916"/>
                    <a:pt x="620111" y="25871"/>
                    <a:pt x="620111" y="35210"/>
                  </a:cubicBezTo>
                  <a:lnTo>
                    <a:pt x="620111" y="374947"/>
                  </a:lnTo>
                  <a:cubicBezTo>
                    <a:pt x="620111" y="384285"/>
                    <a:pt x="616402" y="393241"/>
                    <a:pt x="609799" y="399844"/>
                  </a:cubicBezTo>
                  <a:cubicBezTo>
                    <a:pt x="603195" y="406447"/>
                    <a:pt x="594240" y="410156"/>
                    <a:pt x="584902" y="410156"/>
                  </a:cubicBezTo>
                  <a:lnTo>
                    <a:pt x="35210" y="410156"/>
                  </a:lnTo>
                  <a:cubicBezTo>
                    <a:pt x="25871" y="410156"/>
                    <a:pt x="16916" y="406447"/>
                    <a:pt x="10313" y="399844"/>
                  </a:cubicBezTo>
                  <a:cubicBezTo>
                    <a:pt x="3710" y="393241"/>
                    <a:pt x="0" y="384285"/>
                    <a:pt x="0" y="374947"/>
                  </a:cubicBezTo>
                  <a:lnTo>
                    <a:pt x="0" y="35210"/>
                  </a:lnTo>
                  <a:cubicBezTo>
                    <a:pt x="0" y="25871"/>
                    <a:pt x="3710" y="16916"/>
                    <a:pt x="10313" y="10313"/>
                  </a:cubicBezTo>
                  <a:cubicBezTo>
                    <a:pt x="16916" y="3710"/>
                    <a:pt x="25871" y="0"/>
                    <a:pt x="35210" y="0"/>
                  </a:cubicBez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68382" y="2814744"/>
            <a:ext cx="5278767" cy="3493933"/>
            <a:chOff x="0" y="0"/>
            <a:chExt cx="620302" cy="4105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20302" cy="410568"/>
            </a:xfrm>
            <a:custGeom>
              <a:avLst/>
              <a:gdLst/>
              <a:ahLst/>
              <a:cxnLst/>
              <a:rect l="l" t="t" r="r" b="b"/>
              <a:pathLst>
                <a:path w="620302" h="410568">
                  <a:moveTo>
                    <a:pt x="35199" y="0"/>
                  </a:moveTo>
                  <a:lnTo>
                    <a:pt x="585103" y="0"/>
                  </a:lnTo>
                  <a:cubicBezTo>
                    <a:pt x="604543" y="0"/>
                    <a:pt x="620302" y="15759"/>
                    <a:pt x="620302" y="35199"/>
                  </a:cubicBezTo>
                  <a:lnTo>
                    <a:pt x="620302" y="375369"/>
                  </a:lnTo>
                  <a:cubicBezTo>
                    <a:pt x="620302" y="394809"/>
                    <a:pt x="604543" y="410568"/>
                    <a:pt x="585103" y="410568"/>
                  </a:cubicBezTo>
                  <a:lnTo>
                    <a:pt x="35199" y="410568"/>
                  </a:lnTo>
                  <a:cubicBezTo>
                    <a:pt x="15759" y="410568"/>
                    <a:pt x="0" y="394809"/>
                    <a:pt x="0" y="375369"/>
                  </a:cubicBezTo>
                  <a:lnTo>
                    <a:pt x="0" y="35199"/>
                  </a:lnTo>
                  <a:cubicBezTo>
                    <a:pt x="0" y="15759"/>
                    <a:pt x="15759" y="0"/>
                    <a:pt x="35199" y="0"/>
                  </a:cubicBez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68382" y="6508702"/>
            <a:ext cx="5278767" cy="3490429"/>
            <a:chOff x="0" y="0"/>
            <a:chExt cx="620302" cy="4101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0302" cy="410156"/>
            </a:xfrm>
            <a:custGeom>
              <a:avLst/>
              <a:gdLst/>
              <a:ahLst/>
              <a:cxnLst/>
              <a:rect l="l" t="t" r="r" b="b"/>
              <a:pathLst>
                <a:path w="620302" h="410156">
                  <a:moveTo>
                    <a:pt x="35199" y="0"/>
                  </a:moveTo>
                  <a:lnTo>
                    <a:pt x="585103" y="0"/>
                  </a:lnTo>
                  <a:cubicBezTo>
                    <a:pt x="604543" y="0"/>
                    <a:pt x="620302" y="15759"/>
                    <a:pt x="620302" y="35199"/>
                  </a:cubicBezTo>
                  <a:lnTo>
                    <a:pt x="620302" y="374958"/>
                  </a:lnTo>
                  <a:cubicBezTo>
                    <a:pt x="620302" y="384293"/>
                    <a:pt x="616594" y="393246"/>
                    <a:pt x="609993" y="399847"/>
                  </a:cubicBezTo>
                  <a:cubicBezTo>
                    <a:pt x="603392" y="406448"/>
                    <a:pt x="594439" y="410156"/>
                    <a:pt x="585103" y="410156"/>
                  </a:cubicBezTo>
                  <a:lnTo>
                    <a:pt x="35199" y="410156"/>
                  </a:lnTo>
                  <a:cubicBezTo>
                    <a:pt x="15759" y="410156"/>
                    <a:pt x="0" y="394397"/>
                    <a:pt x="0" y="374958"/>
                  </a:cubicBezTo>
                  <a:lnTo>
                    <a:pt x="0" y="35199"/>
                  </a:lnTo>
                  <a:cubicBezTo>
                    <a:pt x="0" y="15759"/>
                    <a:pt x="15759" y="0"/>
                    <a:pt x="35199" y="0"/>
                  </a:cubicBezTo>
                  <a:close/>
                </a:path>
              </a:pathLst>
            </a:custGeom>
            <a:blipFill>
              <a:blip r:embed="rId8"/>
              <a:stretch>
                <a:fillRect t="-50823" b="-50823"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13377007" y="871901"/>
            <a:ext cx="3882293" cy="591524"/>
            <a:chOff x="0" y="0"/>
            <a:chExt cx="2436661" cy="3712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6661" cy="371261"/>
            </a:xfrm>
            <a:custGeom>
              <a:avLst/>
              <a:gdLst/>
              <a:ahLst/>
              <a:cxnLst/>
              <a:rect l="l" t="t" r="r" b="b"/>
              <a:pathLst>
                <a:path w="2436661" h="371261">
                  <a:moveTo>
                    <a:pt x="2233461" y="0"/>
                  </a:moveTo>
                  <a:cubicBezTo>
                    <a:pt x="2345685" y="0"/>
                    <a:pt x="2436661" y="83110"/>
                    <a:pt x="2436661" y="185630"/>
                  </a:cubicBezTo>
                  <a:cubicBezTo>
                    <a:pt x="2436661" y="288151"/>
                    <a:pt x="2345685" y="371261"/>
                    <a:pt x="2233461" y="371261"/>
                  </a:cubicBezTo>
                  <a:lnTo>
                    <a:pt x="203200" y="371261"/>
                  </a:lnTo>
                  <a:cubicBezTo>
                    <a:pt x="90976" y="371261"/>
                    <a:pt x="0" y="288151"/>
                    <a:pt x="0" y="185630"/>
                  </a:cubicBezTo>
                  <a:cubicBezTo>
                    <a:pt x="0" y="831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436661" cy="40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56032" y="964381"/>
            <a:ext cx="442842" cy="406537"/>
            <a:chOff x="0" y="0"/>
            <a:chExt cx="1040817" cy="9554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691340" y="1085295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5" y="0"/>
                </a:lnTo>
                <a:lnTo>
                  <a:pt x="172225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AutoShape 23"/>
          <p:cNvSpPr/>
          <p:nvPr/>
        </p:nvSpPr>
        <p:spPr>
          <a:xfrm>
            <a:off x="14077878" y="1310000"/>
            <a:ext cx="1853382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14077878" y="977467"/>
            <a:ext cx="1853382" cy="33746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482"/>
              </a:lnSpc>
              <a:spcBef>
                <a:spcPct val="0"/>
              </a:spcBef>
            </a:pPr>
            <a:r>
              <a:rPr lang="en-US" sz="1898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Aequs Unit-4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7502" y="1415800"/>
            <a:ext cx="3183156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IMAGES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7502" y="1824865"/>
            <a:ext cx="8000000" cy="39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3"/>
              </a:lnSpc>
              <a:spcBef>
                <a:spcPct val="0"/>
              </a:spcBef>
            </a:pPr>
            <a:r>
              <a:rPr lang="en-US" sz="23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AEQUS UNIT-4, HUBBALLI</a:t>
            </a:r>
          </a:p>
        </p:txBody>
      </p:sp>
      <p:sp>
        <p:nvSpPr>
          <p:cNvPr id="27" name="Photo caption 27"/>
          <p:cNvSpPr txBox="1"/>
          <p:nvPr/>
        </p:nvSpPr>
        <p:spPr>
          <a:xfrm>
            <a:off x="936760" y="5772597"/>
            <a:ext cx="324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HT panel installation</a:t>
            </a:r>
          </a:p>
        </p:txBody>
      </p:sp>
      <p:sp>
        <p:nvSpPr>
          <p:cNvPr id="28" name="Photo caption 28"/>
          <p:cNvSpPr txBox="1"/>
          <p:nvPr/>
        </p:nvSpPr>
        <p:spPr>
          <a:xfrm>
            <a:off x="6666828" y="5772597"/>
            <a:ext cx="282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Compact substation</a:t>
            </a:r>
          </a:p>
        </p:txBody>
      </p:sp>
      <p:sp>
        <p:nvSpPr>
          <p:cNvPr id="29" name="Photo caption 29"/>
          <p:cNvSpPr txBox="1"/>
          <p:nvPr/>
        </p:nvSpPr>
        <p:spPr>
          <a:xfrm>
            <a:off x="12308382" y="5772597"/>
            <a:ext cx="366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Transformer installation</a:t>
            </a:r>
          </a:p>
        </p:txBody>
      </p:sp>
      <p:sp>
        <p:nvSpPr>
          <p:cNvPr id="30" name="Photo caption 30"/>
          <p:cNvSpPr txBox="1"/>
          <p:nvPr/>
        </p:nvSpPr>
        <p:spPr>
          <a:xfrm>
            <a:off x="936760" y="9444001"/>
            <a:ext cx="338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MCB distribution board</a:t>
            </a:r>
          </a:p>
        </p:txBody>
      </p:sp>
      <p:sp>
        <p:nvSpPr>
          <p:cNvPr id="31" name="Photo caption 31"/>
          <p:cNvSpPr txBox="1"/>
          <p:nvPr/>
        </p:nvSpPr>
        <p:spPr>
          <a:xfrm>
            <a:off x="6669290" y="9463051"/>
            <a:ext cx="268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Outdoor LT panels</a:t>
            </a:r>
          </a:p>
        </p:txBody>
      </p:sp>
      <p:sp>
        <p:nvSpPr>
          <p:cNvPr id="32" name="Photo caption 32"/>
          <p:cNvSpPr txBox="1"/>
          <p:nvPr/>
        </p:nvSpPr>
        <p:spPr>
          <a:xfrm>
            <a:off x="12308382" y="9463051"/>
            <a:ext cx="282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Wiring in progress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317037" y="-4268458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0" y="0"/>
                </a:moveTo>
                <a:lnTo>
                  <a:pt x="13653926" y="0"/>
                </a:lnTo>
                <a:lnTo>
                  <a:pt x="13653926" y="18823916"/>
                </a:lnTo>
                <a:lnTo>
                  <a:pt x="0" y="18823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4714747" y="705485"/>
            <a:ext cx="113551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377007" y="590381"/>
            <a:ext cx="3882293" cy="591524"/>
            <a:chOff x="0" y="0"/>
            <a:chExt cx="5176391" cy="78869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5176391" cy="788698"/>
              <a:chOff x="0" y="0"/>
              <a:chExt cx="2436661" cy="3712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436661" cy="371261"/>
              </a:xfrm>
              <a:custGeom>
                <a:avLst/>
                <a:gdLst/>
                <a:ahLst/>
                <a:cxnLst/>
                <a:rect l="l" t="t" r="r" b="b"/>
                <a:pathLst>
                  <a:path w="2436661" h="371261">
                    <a:moveTo>
                      <a:pt x="2233461" y="0"/>
                    </a:moveTo>
                    <a:cubicBezTo>
                      <a:pt x="2345685" y="0"/>
                      <a:pt x="2436661" y="83110"/>
                      <a:pt x="2436661" y="185630"/>
                    </a:cubicBezTo>
                    <a:cubicBezTo>
                      <a:pt x="2436661" y="288151"/>
                      <a:pt x="2345685" y="371261"/>
                      <a:pt x="2233461" y="371261"/>
                    </a:cubicBezTo>
                    <a:lnTo>
                      <a:pt x="203200" y="371261"/>
                    </a:lnTo>
                    <a:cubicBezTo>
                      <a:pt x="90976" y="371261"/>
                      <a:pt x="0" y="288151"/>
                      <a:pt x="0" y="185630"/>
                    </a:cubicBezTo>
                    <a:cubicBezTo>
                      <a:pt x="0" y="8311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0C0C0">
                  <a:alpha val="58824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436661" cy="4093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38699" y="123307"/>
              <a:ext cx="590456" cy="542049"/>
              <a:chOff x="0" y="0"/>
              <a:chExt cx="1040817" cy="95549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40817" cy="955490"/>
              </a:xfrm>
              <a:custGeom>
                <a:avLst/>
                <a:gdLst/>
                <a:ahLst/>
                <a:cxnLst/>
                <a:rect l="l" t="t" r="r" b="b"/>
                <a:pathLst>
                  <a:path w="1040817" h="955490">
                    <a:moveTo>
                      <a:pt x="520409" y="0"/>
                    </a:moveTo>
                    <a:cubicBezTo>
                      <a:pt x="232995" y="0"/>
                      <a:pt x="0" y="213894"/>
                      <a:pt x="0" y="477745"/>
                    </a:cubicBezTo>
                    <a:cubicBezTo>
                      <a:pt x="0" y="741596"/>
                      <a:pt x="232995" y="955490"/>
                      <a:pt x="520409" y="955490"/>
                    </a:cubicBezTo>
                    <a:cubicBezTo>
                      <a:pt x="807822" y="955490"/>
                      <a:pt x="1040817" y="741596"/>
                      <a:pt x="1040817" y="477745"/>
                    </a:cubicBezTo>
                    <a:cubicBezTo>
                      <a:pt x="1040817" y="213894"/>
                      <a:pt x="807822" y="0"/>
                      <a:pt x="520409" y="0"/>
                    </a:cubicBezTo>
                    <a:close/>
                  </a:path>
                </a:pathLst>
              </a:custGeom>
              <a:solidFill>
                <a:srgbClr val="8DC441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7577" y="51477"/>
                <a:ext cx="845664" cy="814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419110" y="284525"/>
              <a:ext cx="229633" cy="219613"/>
            </a:xfrm>
            <a:custGeom>
              <a:avLst/>
              <a:gdLst/>
              <a:ahLst/>
              <a:cxnLst/>
              <a:rect l="l" t="t" r="r" b="b"/>
              <a:pathLst>
                <a:path w="229633" h="219613">
                  <a:moveTo>
                    <a:pt x="0" y="0"/>
                  </a:moveTo>
                  <a:lnTo>
                    <a:pt x="229634" y="0"/>
                  </a:lnTo>
                  <a:lnTo>
                    <a:pt x="229634" y="219613"/>
                  </a:lnTo>
                  <a:lnTo>
                    <a:pt x="0" y="219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AutoShape 13"/>
            <p:cNvSpPr/>
            <p:nvPr/>
          </p:nvSpPr>
          <p:spPr>
            <a:xfrm flipV="1">
              <a:off x="934494" y="571708"/>
              <a:ext cx="2651806" cy="0"/>
            </a:xfrm>
            <a:prstGeom prst="line">
              <a:avLst/>
            </a:prstGeom>
            <a:ln w="50800" cap="flat">
              <a:solidFill>
                <a:srgbClr val="1B5E2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4494" y="100475"/>
              <a:ext cx="2651806" cy="41825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1">
                  <a:solidFill>
                    <a:srgbClr val="1B5E2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Sterling Tech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87502" y="1415800"/>
            <a:ext cx="4018240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INFORMATION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7502" y="1805815"/>
            <a:ext cx="13000000" cy="6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3"/>
              </a:lnSpc>
              <a:spcBef>
                <a:spcPct val="0"/>
              </a:spcBef>
            </a:pPr>
            <a:r>
              <a:rPr lang="en-US" sz="36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STERLING TECH MOBILITY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7110" y="2745147"/>
            <a:ext cx="15500000" cy="5685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Sterling Tech Mobility Ltd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Project: </a:t>
            </a:r>
            <a:r>
              <a:rPr lang="en-US" sz="2859" spc="162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[Describe the facility – e.g. EV manufacturing plant]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Location: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KIADB Industrial Area, Arebannimangala, Bengaluru – 562149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Type: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Industrial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Capacity: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1,000 kVA (1 MVA)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 Awarded: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LT-side supply &amp; installation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Value: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₹1.2 Cr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Duration: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 months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Status: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Completed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2202299" y="-4899717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13653925" y="0"/>
                </a:moveTo>
                <a:lnTo>
                  <a:pt x="0" y="0"/>
                </a:lnTo>
                <a:lnTo>
                  <a:pt x="0" y="18823917"/>
                </a:lnTo>
                <a:lnTo>
                  <a:pt x="13653925" y="18823917"/>
                </a:lnTo>
                <a:lnTo>
                  <a:pt x="13653925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796760" y="2814744"/>
            <a:ext cx="5372004" cy="3493933"/>
            <a:chOff x="0" y="0"/>
            <a:chExt cx="631258" cy="410568"/>
          </a:xfrm>
        </p:grpSpPr>
        <p:sp>
          <p:nvSpPr>
            <p:cNvPr id="4" name="Freeform 4" descr="Cummins diesel generator set on plinth"/>
            <p:cNvSpPr/>
            <p:nvPr/>
          </p:nvSpPr>
          <p:spPr>
            <a:xfrm>
              <a:off x="0" y="0"/>
              <a:ext cx="631258" cy="410568"/>
            </a:xfrm>
            <a:custGeom>
              <a:avLst/>
              <a:gdLst/>
              <a:ahLst/>
              <a:cxnLst/>
              <a:rect l="l" t="t" r="r" b="b"/>
              <a:pathLst>
                <a:path w="631258" h="410568">
                  <a:moveTo>
                    <a:pt x="34588" y="0"/>
                  </a:moveTo>
                  <a:lnTo>
                    <a:pt x="596671" y="0"/>
                  </a:lnTo>
                  <a:cubicBezTo>
                    <a:pt x="615773" y="0"/>
                    <a:pt x="631258" y="15486"/>
                    <a:pt x="631258" y="34588"/>
                  </a:cubicBezTo>
                  <a:lnTo>
                    <a:pt x="631258" y="375980"/>
                  </a:lnTo>
                  <a:cubicBezTo>
                    <a:pt x="631258" y="395083"/>
                    <a:pt x="615773" y="410568"/>
                    <a:pt x="596671" y="410568"/>
                  </a:cubicBezTo>
                  <a:lnTo>
                    <a:pt x="34588" y="410568"/>
                  </a:lnTo>
                  <a:cubicBezTo>
                    <a:pt x="15486" y="410568"/>
                    <a:pt x="0" y="395083"/>
                    <a:pt x="0" y="375980"/>
                  </a:cubicBezTo>
                  <a:lnTo>
                    <a:pt x="0" y="34588"/>
                  </a:lnTo>
                  <a:cubicBezTo>
                    <a:pt x="0" y="15486"/>
                    <a:pt x="15486" y="0"/>
                    <a:pt x="34588" y="0"/>
                  </a:cubicBezTo>
                  <a:close/>
                </a:path>
              </a:pathLst>
            </a:custGeom>
            <a:blipFill>
              <a:blip r:embed="rId3"/>
              <a:stretch>
                <a:fillRect t="-9188" b="-6125"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6760" y="6508702"/>
            <a:ext cx="5372004" cy="3471379"/>
            <a:chOff x="0" y="0"/>
            <a:chExt cx="631258" cy="407918"/>
          </a:xfrm>
        </p:grpSpPr>
        <p:sp>
          <p:nvSpPr>
            <p:cNvPr id="6" name="Freeform 6" descr="LT panel board with cable entry from above"/>
            <p:cNvSpPr/>
            <p:nvPr/>
          </p:nvSpPr>
          <p:spPr>
            <a:xfrm>
              <a:off x="0" y="0"/>
              <a:ext cx="631258" cy="407918"/>
            </a:xfrm>
            <a:custGeom>
              <a:avLst/>
              <a:gdLst/>
              <a:ahLst/>
              <a:cxnLst/>
              <a:rect l="l" t="t" r="r" b="b"/>
              <a:pathLst>
                <a:path w="631258" h="407918">
                  <a:moveTo>
                    <a:pt x="34588" y="0"/>
                  </a:moveTo>
                  <a:lnTo>
                    <a:pt x="596671" y="0"/>
                  </a:lnTo>
                  <a:cubicBezTo>
                    <a:pt x="615773" y="0"/>
                    <a:pt x="631258" y="15486"/>
                    <a:pt x="631258" y="34588"/>
                  </a:cubicBezTo>
                  <a:lnTo>
                    <a:pt x="631258" y="373330"/>
                  </a:lnTo>
                  <a:cubicBezTo>
                    <a:pt x="631258" y="392432"/>
                    <a:pt x="615773" y="407918"/>
                    <a:pt x="596671" y="407918"/>
                  </a:cubicBezTo>
                  <a:lnTo>
                    <a:pt x="34588" y="407918"/>
                  </a:lnTo>
                  <a:cubicBezTo>
                    <a:pt x="15486" y="407918"/>
                    <a:pt x="0" y="392432"/>
                    <a:pt x="0" y="373330"/>
                  </a:cubicBezTo>
                  <a:lnTo>
                    <a:pt x="0" y="34588"/>
                  </a:lnTo>
                  <a:cubicBezTo>
                    <a:pt x="0" y="15486"/>
                    <a:pt x="15486" y="0"/>
                    <a:pt x="34588" y="0"/>
                  </a:cubicBezTo>
                  <a:close/>
                </a:path>
              </a:pathLst>
            </a:custGeom>
            <a:blipFill>
              <a:blip r:embed="rId4"/>
              <a:stretch>
                <a:fillRect t="-53167" b="-53167"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526828" y="2814744"/>
            <a:ext cx="5279604" cy="3493933"/>
            <a:chOff x="0" y="0"/>
            <a:chExt cx="620401" cy="410568"/>
          </a:xfrm>
        </p:grpSpPr>
        <p:sp>
          <p:nvSpPr>
            <p:cNvPr id="8" name="Freeform 8" descr="Outdoor transformer with kiosk on gravel yard"/>
            <p:cNvSpPr/>
            <p:nvPr/>
          </p:nvSpPr>
          <p:spPr>
            <a:xfrm>
              <a:off x="0" y="0"/>
              <a:ext cx="620401" cy="410568"/>
            </a:xfrm>
            <a:custGeom>
              <a:avLst/>
              <a:gdLst/>
              <a:ahLst/>
              <a:cxnLst/>
              <a:rect l="l" t="t" r="r" b="b"/>
              <a:pathLst>
                <a:path w="620401" h="410568">
                  <a:moveTo>
                    <a:pt x="35193" y="0"/>
                  </a:moveTo>
                  <a:lnTo>
                    <a:pt x="585207" y="0"/>
                  </a:lnTo>
                  <a:cubicBezTo>
                    <a:pt x="604644" y="0"/>
                    <a:pt x="620401" y="15757"/>
                    <a:pt x="620401" y="35193"/>
                  </a:cubicBezTo>
                  <a:lnTo>
                    <a:pt x="620401" y="375375"/>
                  </a:lnTo>
                  <a:cubicBezTo>
                    <a:pt x="620401" y="384709"/>
                    <a:pt x="616693" y="393660"/>
                    <a:pt x="610093" y="400260"/>
                  </a:cubicBezTo>
                  <a:cubicBezTo>
                    <a:pt x="603493" y="406860"/>
                    <a:pt x="594541" y="410568"/>
                    <a:pt x="585207" y="410568"/>
                  </a:cubicBezTo>
                  <a:lnTo>
                    <a:pt x="35193" y="410568"/>
                  </a:lnTo>
                  <a:cubicBezTo>
                    <a:pt x="15757" y="410568"/>
                    <a:pt x="0" y="394812"/>
                    <a:pt x="0" y="375375"/>
                  </a:cubicBezTo>
                  <a:lnTo>
                    <a:pt x="0" y="35193"/>
                  </a:lnTo>
                  <a:cubicBezTo>
                    <a:pt x="0" y="25859"/>
                    <a:pt x="3708" y="16908"/>
                    <a:pt x="10308" y="10308"/>
                  </a:cubicBezTo>
                  <a:cubicBezTo>
                    <a:pt x="16908" y="3708"/>
                    <a:pt x="25859" y="0"/>
                    <a:pt x="35193" y="0"/>
                  </a:cubicBezTo>
                  <a:close/>
                </a:path>
              </a:pathLst>
            </a:custGeom>
            <a:blipFill>
              <a:blip r:embed="rId5"/>
              <a:stretch>
                <a:fillRect t="-62915" b="-38561"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29290" y="6508702"/>
            <a:ext cx="5277142" cy="3490429"/>
            <a:chOff x="0" y="0"/>
            <a:chExt cx="620111" cy="410156"/>
          </a:xfrm>
        </p:grpSpPr>
        <p:sp>
          <p:nvSpPr>
            <p:cNvPr id="10" name="Freeform 10" descr="UPS distribution board with labelled MCBs"/>
            <p:cNvSpPr/>
            <p:nvPr/>
          </p:nvSpPr>
          <p:spPr>
            <a:xfrm>
              <a:off x="0" y="0"/>
              <a:ext cx="620111" cy="410156"/>
            </a:xfrm>
            <a:custGeom>
              <a:avLst/>
              <a:gdLst/>
              <a:ahLst/>
              <a:cxnLst/>
              <a:rect l="l" t="t" r="r" b="b"/>
              <a:pathLst>
                <a:path w="620111" h="410156">
                  <a:moveTo>
                    <a:pt x="35210" y="0"/>
                  </a:moveTo>
                  <a:lnTo>
                    <a:pt x="584902" y="0"/>
                  </a:lnTo>
                  <a:cubicBezTo>
                    <a:pt x="594240" y="0"/>
                    <a:pt x="603195" y="3710"/>
                    <a:pt x="609799" y="10313"/>
                  </a:cubicBezTo>
                  <a:cubicBezTo>
                    <a:pt x="616402" y="16916"/>
                    <a:pt x="620111" y="25871"/>
                    <a:pt x="620111" y="35210"/>
                  </a:cubicBezTo>
                  <a:lnTo>
                    <a:pt x="620111" y="374947"/>
                  </a:lnTo>
                  <a:cubicBezTo>
                    <a:pt x="620111" y="384285"/>
                    <a:pt x="616402" y="393241"/>
                    <a:pt x="609799" y="399844"/>
                  </a:cubicBezTo>
                  <a:cubicBezTo>
                    <a:pt x="603195" y="406447"/>
                    <a:pt x="594240" y="410156"/>
                    <a:pt x="584902" y="410156"/>
                  </a:cubicBezTo>
                  <a:lnTo>
                    <a:pt x="35210" y="410156"/>
                  </a:lnTo>
                  <a:cubicBezTo>
                    <a:pt x="25871" y="410156"/>
                    <a:pt x="16916" y="406447"/>
                    <a:pt x="10313" y="399844"/>
                  </a:cubicBezTo>
                  <a:cubicBezTo>
                    <a:pt x="3710" y="393241"/>
                    <a:pt x="0" y="384285"/>
                    <a:pt x="0" y="374947"/>
                  </a:cubicBezTo>
                  <a:lnTo>
                    <a:pt x="0" y="35210"/>
                  </a:lnTo>
                  <a:cubicBezTo>
                    <a:pt x="0" y="25871"/>
                    <a:pt x="3710" y="16916"/>
                    <a:pt x="10313" y="10313"/>
                  </a:cubicBezTo>
                  <a:cubicBezTo>
                    <a:pt x="16916" y="3710"/>
                    <a:pt x="25871" y="0"/>
                    <a:pt x="35210" y="0"/>
                  </a:cubicBezTo>
                  <a:close/>
                </a:path>
              </a:pathLst>
            </a:custGeom>
            <a:blipFill>
              <a:blip r:embed="rId6"/>
              <a:stretch>
                <a:fillRect t="-6695" b="-6695"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68382" y="2814744"/>
            <a:ext cx="5278767" cy="3493933"/>
            <a:chOff x="0" y="0"/>
            <a:chExt cx="620302" cy="410568"/>
          </a:xfrm>
        </p:grpSpPr>
        <p:sp>
          <p:nvSpPr>
            <p:cNvPr id="12" name="Freeform 12" descr="UPS units and battery banks with UPS panel"/>
            <p:cNvSpPr/>
            <p:nvPr/>
          </p:nvSpPr>
          <p:spPr>
            <a:xfrm>
              <a:off x="0" y="0"/>
              <a:ext cx="620302" cy="410568"/>
            </a:xfrm>
            <a:custGeom>
              <a:avLst/>
              <a:gdLst/>
              <a:ahLst/>
              <a:cxnLst/>
              <a:rect l="l" t="t" r="r" b="b"/>
              <a:pathLst>
                <a:path w="620302" h="410568">
                  <a:moveTo>
                    <a:pt x="35199" y="0"/>
                  </a:moveTo>
                  <a:lnTo>
                    <a:pt x="585103" y="0"/>
                  </a:lnTo>
                  <a:cubicBezTo>
                    <a:pt x="604543" y="0"/>
                    <a:pt x="620302" y="15759"/>
                    <a:pt x="620302" y="35199"/>
                  </a:cubicBezTo>
                  <a:lnTo>
                    <a:pt x="620302" y="375369"/>
                  </a:lnTo>
                  <a:cubicBezTo>
                    <a:pt x="620302" y="394809"/>
                    <a:pt x="604543" y="410568"/>
                    <a:pt x="585103" y="410568"/>
                  </a:cubicBezTo>
                  <a:lnTo>
                    <a:pt x="35199" y="410568"/>
                  </a:lnTo>
                  <a:cubicBezTo>
                    <a:pt x="15759" y="410568"/>
                    <a:pt x="0" y="394809"/>
                    <a:pt x="0" y="375369"/>
                  </a:cubicBezTo>
                  <a:lnTo>
                    <a:pt x="0" y="35199"/>
                  </a:lnTo>
                  <a:cubicBezTo>
                    <a:pt x="0" y="15759"/>
                    <a:pt x="15759" y="0"/>
                    <a:pt x="35199" y="0"/>
                  </a:cubicBezTo>
                  <a:close/>
                </a:path>
              </a:pathLst>
            </a:custGeom>
            <a:blipFill>
              <a:blip r:embed="rId7"/>
              <a:stretch>
                <a:fillRect t="-55794" b="-45650"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68382" y="6508702"/>
            <a:ext cx="5278767" cy="3490429"/>
            <a:chOff x="0" y="0"/>
            <a:chExt cx="620302" cy="410156"/>
          </a:xfrm>
        </p:grpSpPr>
        <p:sp>
          <p:nvSpPr>
            <p:cNvPr id="14" name="Freeform 14" descr="Office with LED panel lighting"/>
            <p:cNvSpPr/>
            <p:nvPr/>
          </p:nvSpPr>
          <p:spPr>
            <a:xfrm>
              <a:off x="0" y="0"/>
              <a:ext cx="620302" cy="410156"/>
            </a:xfrm>
            <a:custGeom>
              <a:avLst/>
              <a:gdLst/>
              <a:ahLst/>
              <a:cxnLst/>
              <a:rect l="l" t="t" r="r" b="b"/>
              <a:pathLst>
                <a:path w="620302" h="410156">
                  <a:moveTo>
                    <a:pt x="35199" y="0"/>
                  </a:moveTo>
                  <a:lnTo>
                    <a:pt x="585103" y="0"/>
                  </a:lnTo>
                  <a:cubicBezTo>
                    <a:pt x="604543" y="0"/>
                    <a:pt x="620302" y="15759"/>
                    <a:pt x="620302" y="35199"/>
                  </a:cubicBezTo>
                  <a:lnTo>
                    <a:pt x="620302" y="374958"/>
                  </a:lnTo>
                  <a:cubicBezTo>
                    <a:pt x="620302" y="384293"/>
                    <a:pt x="616594" y="393246"/>
                    <a:pt x="609993" y="399847"/>
                  </a:cubicBezTo>
                  <a:cubicBezTo>
                    <a:pt x="603392" y="406448"/>
                    <a:pt x="594439" y="410156"/>
                    <a:pt x="585103" y="410156"/>
                  </a:cubicBezTo>
                  <a:lnTo>
                    <a:pt x="35199" y="410156"/>
                  </a:lnTo>
                  <a:cubicBezTo>
                    <a:pt x="15759" y="410156"/>
                    <a:pt x="0" y="394397"/>
                    <a:pt x="0" y="374958"/>
                  </a:cubicBezTo>
                  <a:lnTo>
                    <a:pt x="0" y="35199"/>
                  </a:lnTo>
                  <a:cubicBezTo>
                    <a:pt x="0" y="15759"/>
                    <a:pt x="15759" y="0"/>
                    <a:pt x="35199" y="0"/>
                  </a:cubicBezTo>
                  <a:close/>
                </a:path>
              </a:pathLst>
            </a:custGeom>
            <a:blipFill>
              <a:blip r:embed="rId8"/>
              <a:stretch>
                <a:fillRect t="-6713" b="-6713"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13377007" y="871901"/>
            <a:ext cx="3882293" cy="591524"/>
            <a:chOff x="0" y="0"/>
            <a:chExt cx="2436661" cy="3712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6661" cy="371261"/>
            </a:xfrm>
            <a:custGeom>
              <a:avLst/>
              <a:gdLst/>
              <a:ahLst/>
              <a:cxnLst/>
              <a:rect l="l" t="t" r="r" b="b"/>
              <a:pathLst>
                <a:path w="2436661" h="371261">
                  <a:moveTo>
                    <a:pt x="2233461" y="0"/>
                  </a:moveTo>
                  <a:cubicBezTo>
                    <a:pt x="2345685" y="0"/>
                    <a:pt x="2436661" y="83110"/>
                    <a:pt x="2436661" y="185630"/>
                  </a:cubicBezTo>
                  <a:cubicBezTo>
                    <a:pt x="2436661" y="288151"/>
                    <a:pt x="2345685" y="371261"/>
                    <a:pt x="2233461" y="371261"/>
                  </a:cubicBezTo>
                  <a:lnTo>
                    <a:pt x="203200" y="371261"/>
                  </a:lnTo>
                  <a:cubicBezTo>
                    <a:pt x="90976" y="371261"/>
                    <a:pt x="0" y="288151"/>
                    <a:pt x="0" y="185630"/>
                  </a:cubicBezTo>
                  <a:cubicBezTo>
                    <a:pt x="0" y="831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436661" cy="40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56032" y="964381"/>
            <a:ext cx="442842" cy="406537"/>
            <a:chOff x="0" y="0"/>
            <a:chExt cx="1040817" cy="9554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691340" y="1085295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5" y="0"/>
                </a:lnTo>
                <a:lnTo>
                  <a:pt x="172225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AutoShape 23"/>
          <p:cNvSpPr/>
          <p:nvPr/>
        </p:nvSpPr>
        <p:spPr>
          <a:xfrm>
            <a:off x="14077878" y="1310000"/>
            <a:ext cx="2002830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14077878" y="977467"/>
            <a:ext cx="2002830" cy="33746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482"/>
              </a:lnSpc>
              <a:spcBef>
                <a:spcPct val="0"/>
              </a:spcBef>
            </a:pPr>
            <a:r>
              <a:rPr lang="en-US" sz="1898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Sterling Tech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7502" y="1415800"/>
            <a:ext cx="3183156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IMAGES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7502" y="1824865"/>
            <a:ext cx="6603358" cy="39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3"/>
              </a:lnSpc>
              <a:spcBef>
                <a:spcPct val="0"/>
              </a:spcBef>
            </a:pPr>
            <a:r>
              <a:rPr lang="en-US" sz="23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STERLING TECH MOBILITY</a:t>
            </a:r>
          </a:p>
        </p:txBody>
      </p:sp>
      <p:sp>
        <p:nvSpPr>
          <p:cNvPr id="29" name="Photo caption 29"/>
          <p:cNvSpPr txBox="1"/>
          <p:nvPr/>
        </p:nvSpPr>
        <p:spPr>
          <a:xfrm>
            <a:off x="936760" y="5782597"/>
            <a:ext cx="2633696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DG set installation</a:t>
            </a:r>
          </a:p>
        </p:txBody>
      </p:sp>
      <p:sp>
        <p:nvSpPr>
          <p:cNvPr id="30" name="Photo caption 30"/>
          <p:cNvSpPr txBox="1"/>
          <p:nvPr/>
        </p:nvSpPr>
        <p:spPr>
          <a:xfrm>
            <a:off x="6666828" y="5782597"/>
            <a:ext cx="2255744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Transformer yard</a:t>
            </a:r>
          </a:p>
        </p:txBody>
      </p:sp>
      <p:sp>
        <p:nvSpPr>
          <p:cNvPr id="31" name="Photo caption 31"/>
          <p:cNvSpPr txBox="1"/>
          <p:nvPr/>
        </p:nvSpPr>
        <p:spPr>
          <a:xfrm>
            <a:off x="12308382" y="5782597"/>
            <a:ext cx="2507712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UPS &amp; battery bank</a:t>
            </a:r>
          </a:p>
        </p:txBody>
      </p:sp>
      <p:sp>
        <p:nvSpPr>
          <p:cNvPr id="32" name="Photo caption 32"/>
          <p:cNvSpPr txBox="1"/>
          <p:nvPr/>
        </p:nvSpPr>
        <p:spPr>
          <a:xfrm>
            <a:off x="936760" y="9454001"/>
            <a:ext cx="2003776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LT panel board</a:t>
            </a:r>
          </a:p>
        </p:txBody>
      </p:sp>
      <p:sp>
        <p:nvSpPr>
          <p:cNvPr id="33" name="Photo caption 33"/>
          <p:cNvSpPr txBox="1"/>
          <p:nvPr/>
        </p:nvSpPr>
        <p:spPr>
          <a:xfrm>
            <a:off x="6669290" y="9473051"/>
            <a:ext cx="3011648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UPS distribution board</a:t>
            </a:r>
          </a:p>
        </p:txBody>
      </p:sp>
      <p:sp>
        <p:nvSpPr>
          <p:cNvPr id="34" name="Photo caption 34"/>
          <p:cNvSpPr txBox="1"/>
          <p:nvPr/>
        </p:nvSpPr>
        <p:spPr>
          <a:xfrm>
            <a:off x="12308382" y="9473051"/>
            <a:ext cx="212976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Office lighting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2202299" y="-4899717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13653925" y="0"/>
                </a:moveTo>
                <a:lnTo>
                  <a:pt x="0" y="0"/>
                </a:lnTo>
                <a:lnTo>
                  <a:pt x="0" y="18823917"/>
                </a:lnTo>
                <a:lnTo>
                  <a:pt x="13653925" y="18823917"/>
                </a:lnTo>
                <a:lnTo>
                  <a:pt x="13653925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796760" y="2814744"/>
            <a:ext cx="5372004" cy="3493933"/>
            <a:chOff x="0" y="0"/>
            <a:chExt cx="631258" cy="410568"/>
          </a:xfrm>
        </p:grpSpPr>
        <p:sp>
          <p:nvSpPr>
            <p:cNvPr id="4" name="Freeform 4" descr="Facility structure under construction"/>
            <p:cNvSpPr/>
            <p:nvPr/>
          </p:nvSpPr>
          <p:spPr>
            <a:xfrm>
              <a:off x="0" y="0"/>
              <a:ext cx="631258" cy="410568"/>
            </a:xfrm>
            <a:custGeom>
              <a:avLst/>
              <a:gdLst/>
              <a:ahLst/>
              <a:cxnLst/>
              <a:rect l="l" t="t" r="r" b="b"/>
              <a:pathLst>
                <a:path w="631258" h="410568">
                  <a:moveTo>
                    <a:pt x="34588" y="0"/>
                  </a:moveTo>
                  <a:lnTo>
                    <a:pt x="596671" y="0"/>
                  </a:lnTo>
                  <a:cubicBezTo>
                    <a:pt x="615773" y="0"/>
                    <a:pt x="631258" y="15486"/>
                    <a:pt x="631258" y="34588"/>
                  </a:cubicBezTo>
                  <a:lnTo>
                    <a:pt x="631258" y="375980"/>
                  </a:lnTo>
                  <a:cubicBezTo>
                    <a:pt x="631258" y="395083"/>
                    <a:pt x="615773" y="410568"/>
                    <a:pt x="596671" y="410568"/>
                  </a:cubicBezTo>
                  <a:lnTo>
                    <a:pt x="34588" y="410568"/>
                  </a:lnTo>
                  <a:cubicBezTo>
                    <a:pt x="15486" y="410568"/>
                    <a:pt x="0" y="395083"/>
                    <a:pt x="0" y="375980"/>
                  </a:cubicBezTo>
                  <a:lnTo>
                    <a:pt x="0" y="34588"/>
                  </a:lnTo>
                  <a:cubicBezTo>
                    <a:pt x="0" y="15486"/>
                    <a:pt x="15486" y="0"/>
                    <a:pt x="34588" y="0"/>
                  </a:cubicBezTo>
                  <a:close/>
                </a:path>
              </a:pathLst>
            </a:custGeom>
            <a:blipFill>
              <a:blip r:embed="rId3"/>
              <a:stretch>
                <a:fillRect l="-7813" r="-7813"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6760" y="6508702"/>
            <a:ext cx="5372004" cy="3471379"/>
            <a:chOff x="0" y="0"/>
            <a:chExt cx="631258" cy="407918"/>
          </a:xfrm>
        </p:grpSpPr>
        <p:sp>
          <p:nvSpPr>
            <p:cNvPr id="6" name="Freeform 6" descr="Cable routing to junction boxes"/>
            <p:cNvSpPr/>
            <p:nvPr/>
          </p:nvSpPr>
          <p:spPr>
            <a:xfrm>
              <a:off x="0" y="0"/>
              <a:ext cx="631258" cy="407918"/>
            </a:xfrm>
            <a:custGeom>
              <a:avLst/>
              <a:gdLst/>
              <a:ahLst/>
              <a:cxnLst/>
              <a:rect l="l" t="t" r="r" b="b"/>
              <a:pathLst>
                <a:path w="631258" h="407918">
                  <a:moveTo>
                    <a:pt x="34588" y="0"/>
                  </a:moveTo>
                  <a:lnTo>
                    <a:pt x="596671" y="0"/>
                  </a:lnTo>
                  <a:cubicBezTo>
                    <a:pt x="615773" y="0"/>
                    <a:pt x="631258" y="15486"/>
                    <a:pt x="631258" y="34588"/>
                  </a:cubicBezTo>
                  <a:lnTo>
                    <a:pt x="631258" y="373330"/>
                  </a:lnTo>
                  <a:cubicBezTo>
                    <a:pt x="631258" y="392432"/>
                    <a:pt x="615773" y="407918"/>
                    <a:pt x="596671" y="407918"/>
                  </a:cubicBezTo>
                  <a:lnTo>
                    <a:pt x="34588" y="407918"/>
                  </a:lnTo>
                  <a:cubicBezTo>
                    <a:pt x="15486" y="407918"/>
                    <a:pt x="0" y="392432"/>
                    <a:pt x="0" y="373330"/>
                  </a:cubicBezTo>
                  <a:lnTo>
                    <a:pt x="0" y="34588"/>
                  </a:lnTo>
                  <a:cubicBezTo>
                    <a:pt x="0" y="15486"/>
                    <a:pt x="15486" y="0"/>
                    <a:pt x="34588" y="0"/>
                  </a:cubicBezTo>
                  <a:close/>
                </a:path>
              </a:pathLst>
            </a:custGeom>
            <a:blipFill>
              <a:blip r:embed="rId4"/>
              <a:stretch>
                <a:fillRect t="-8031" b="-8031"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526828" y="2814744"/>
            <a:ext cx="5279604" cy="3493933"/>
            <a:chOff x="0" y="0"/>
            <a:chExt cx="620401" cy="410568"/>
          </a:xfrm>
        </p:grpSpPr>
        <p:sp>
          <p:nvSpPr>
            <p:cNvPr id="8" name="Freeform 8" descr="Long LT panel room with switchboards and overhead cable trays"/>
            <p:cNvSpPr/>
            <p:nvPr/>
          </p:nvSpPr>
          <p:spPr>
            <a:xfrm>
              <a:off x="0" y="0"/>
              <a:ext cx="620401" cy="410568"/>
            </a:xfrm>
            <a:custGeom>
              <a:avLst/>
              <a:gdLst/>
              <a:ahLst/>
              <a:cxnLst/>
              <a:rect l="l" t="t" r="r" b="b"/>
              <a:pathLst>
                <a:path w="620401" h="410568">
                  <a:moveTo>
                    <a:pt x="35193" y="0"/>
                  </a:moveTo>
                  <a:lnTo>
                    <a:pt x="585207" y="0"/>
                  </a:lnTo>
                  <a:cubicBezTo>
                    <a:pt x="604644" y="0"/>
                    <a:pt x="620401" y="15757"/>
                    <a:pt x="620401" y="35193"/>
                  </a:cubicBezTo>
                  <a:lnTo>
                    <a:pt x="620401" y="375375"/>
                  </a:lnTo>
                  <a:cubicBezTo>
                    <a:pt x="620401" y="384709"/>
                    <a:pt x="616693" y="393660"/>
                    <a:pt x="610093" y="400260"/>
                  </a:cubicBezTo>
                  <a:cubicBezTo>
                    <a:pt x="603493" y="406860"/>
                    <a:pt x="594541" y="410568"/>
                    <a:pt x="585207" y="410568"/>
                  </a:cubicBezTo>
                  <a:lnTo>
                    <a:pt x="35193" y="410568"/>
                  </a:lnTo>
                  <a:cubicBezTo>
                    <a:pt x="15757" y="410568"/>
                    <a:pt x="0" y="394812"/>
                    <a:pt x="0" y="375375"/>
                  </a:cubicBezTo>
                  <a:lnTo>
                    <a:pt x="0" y="35193"/>
                  </a:lnTo>
                  <a:cubicBezTo>
                    <a:pt x="0" y="25859"/>
                    <a:pt x="3708" y="16908"/>
                    <a:pt x="10308" y="10308"/>
                  </a:cubicBezTo>
                  <a:cubicBezTo>
                    <a:pt x="16908" y="3708"/>
                    <a:pt x="25859" y="0"/>
                    <a:pt x="35193" y="0"/>
                  </a:cubicBezTo>
                  <a:close/>
                </a:path>
              </a:pathLst>
            </a:custGeom>
            <a:blipFill>
              <a:blip r:embed="rId5"/>
              <a:stretch>
                <a:fillRect l="-8853" r="-8853"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29290" y="6508702"/>
            <a:ext cx="5277142" cy="3490429"/>
            <a:chOff x="0" y="0"/>
            <a:chExt cx="620111" cy="410156"/>
          </a:xfrm>
        </p:grpSpPr>
        <p:sp>
          <p:nvSpPr>
            <p:cNvPr id="10" name="Freeform 10" descr="Corridor with lighting"/>
            <p:cNvSpPr/>
            <p:nvPr/>
          </p:nvSpPr>
          <p:spPr>
            <a:xfrm>
              <a:off x="0" y="0"/>
              <a:ext cx="620111" cy="410156"/>
            </a:xfrm>
            <a:custGeom>
              <a:avLst/>
              <a:gdLst/>
              <a:ahLst/>
              <a:cxnLst/>
              <a:rect l="l" t="t" r="r" b="b"/>
              <a:pathLst>
                <a:path w="620111" h="410156">
                  <a:moveTo>
                    <a:pt x="35210" y="0"/>
                  </a:moveTo>
                  <a:lnTo>
                    <a:pt x="584902" y="0"/>
                  </a:lnTo>
                  <a:cubicBezTo>
                    <a:pt x="594240" y="0"/>
                    <a:pt x="603195" y="3710"/>
                    <a:pt x="609799" y="10313"/>
                  </a:cubicBezTo>
                  <a:cubicBezTo>
                    <a:pt x="616402" y="16916"/>
                    <a:pt x="620111" y="25871"/>
                    <a:pt x="620111" y="35210"/>
                  </a:cubicBezTo>
                  <a:lnTo>
                    <a:pt x="620111" y="374947"/>
                  </a:lnTo>
                  <a:cubicBezTo>
                    <a:pt x="620111" y="384285"/>
                    <a:pt x="616402" y="393241"/>
                    <a:pt x="609799" y="399844"/>
                  </a:cubicBezTo>
                  <a:cubicBezTo>
                    <a:pt x="603195" y="406447"/>
                    <a:pt x="594240" y="410156"/>
                    <a:pt x="584902" y="410156"/>
                  </a:cubicBezTo>
                  <a:lnTo>
                    <a:pt x="35210" y="410156"/>
                  </a:lnTo>
                  <a:cubicBezTo>
                    <a:pt x="25871" y="410156"/>
                    <a:pt x="16916" y="406447"/>
                    <a:pt x="10313" y="399844"/>
                  </a:cubicBezTo>
                  <a:cubicBezTo>
                    <a:pt x="3710" y="393241"/>
                    <a:pt x="0" y="384285"/>
                    <a:pt x="0" y="374947"/>
                  </a:cubicBezTo>
                  <a:lnTo>
                    <a:pt x="0" y="35210"/>
                  </a:lnTo>
                  <a:cubicBezTo>
                    <a:pt x="0" y="25871"/>
                    <a:pt x="3710" y="16916"/>
                    <a:pt x="10313" y="10313"/>
                  </a:cubicBezTo>
                  <a:cubicBezTo>
                    <a:pt x="16916" y="3710"/>
                    <a:pt x="25871" y="0"/>
                    <a:pt x="35210" y="0"/>
                  </a:cubicBezTo>
                  <a:close/>
                </a:path>
              </a:pathLst>
            </a:custGeom>
            <a:blipFill>
              <a:blip r:embed="rId6"/>
              <a:stretch>
                <a:fillRect t="-6695" b="-6695"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68382" y="2814744"/>
            <a:ext cx="5278767" cy="3493933"/>
            <a:chOff x="0" y="0"/>
            <a:chExt cx="620302" cy="410568"/>
          </a:xfrm>
        </p:grpSpPr>
        <p:sp>
          <p:nvSpPr>
            <p:cNvPr id="12" name="Freeform 12" descr="Wall-mounted panel with vertical cable trays"/>
            <p:cNvSpPr/>
            <p:nvPr/>
          </p:nvSpPr>
          <p:spPr>
            <a:xfrm>
              <a:off x="0" y="0"/>
              <a:ext cx="620302" cy="410568"/>
            </a:xfrm>
            <a:custGeom>
              <a:avLst/>
              <a:gdLst/>
              <a:ahLst/>
              <a:cxnLst/>
              <a:rect l="l" t="t" r="r" b="b"/>
              <a:pathLst>
                <a:path w="620302" h="410568">
                  <a:moveTo>
                    <a:pt x="35199" y="0"/>
                  </a:moveTo>
                  <a:lnTo>
                    <a:pt x="585103" y="0"/>
                  </a:lnTo>
                  <a:cubicBezTo>
                    <a:pt x="604543" y="0"/>
                    <a:pt x="620302" y="15759"/>
                    <a:pt x="620302" y="35199"/>
                  </a:cubicBezTo>
                  <a:lnTo>
                    <a:pt x="620302" y="375369"/>
                  </a:lnTo>
                  <a:cubicBezTo>
                    <a:pt x="620302" y="394809"/>
                    <a:pt x="604543" y="410568"/>
                    <a:pt x="585103" y="410568"/>
                  </a:cubicBezTo>
                  <a:lnTo>
                    <a:pt x="35199" y="410568"/>
                  </a:lnTo>
                  <a:cubicBezTo>
                    <a:pt x="15759" y="410568"/>
                    <a:pt x="0" y="394809"/>
                    <a:pt x="0" y="375369"/>
                  </a:cubicBezTo>
                  <a:lnTo>
                    <a:pt x="0" y="35199"/>
                  </a:lnTo>
                  <a:cubicBezTo>
                    <a:pt x="0" y="15759"/>
                    <a:pt x="15759" y="0"/>
                    <a:pt x="35199" y="0"/>
                  </a:cubicBezTo>
                  <a:close/>
                </a:path>
              </a:pathLst>
            </a:custGeom>
            <a:blipFill>
              <a:blip r:embed="rId7"/>
              <a:stretch>
                <a:fillRect t="-55794" b="-45650"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68382" y="6508702"/>
            <a:ext cx="5278767" cy="3490429"/>
            <a:chOff x="0" y="0"/>
            <a:chExt cx="620302" cy="410156"/>
          </a:xfrm>
        </p:grpSpPr>
        <p:sp>
          <p:nvSpPr>
            <p:cNvPr id="14" name="Freeform 14" descr="Completed facility exterior with project team"/>
            <p:cNvSpPr/>
            <p:nvPr/>
          </p:nvSpPr>
          <p:spPr>
            <a:xfrm>
              <a:off x="0" y="0"/>
              <a:ext cx="620302" cy="410156"/>
            </a:xfrm>
            <a:custGeom>
              <a:avLst/>
              <a:gdLst/>
              <a:ahLst/>
              <a:cxnLst/>
              <a:rect l="l" t="t" r="r" b="b"/>
              <a:pathLst>
                <a:path w="620302" h="410156">
                  <a:moveTo>
                    <a:pt x="35199" y="0"/>
                  </a:moveTo>
                  <a:lnTo>
                    <a:pt x="585103" y="0"/>
                  </a:lnTo>
                  <a:cubicBezTo>
                    <a:pt x="604543" y="0"/>
                    <a:pt x="620302" y="15759"/>
                    <a:pt x="620302" y="35199"/>
                  </a:cubicBezTo>
                  <a:lnTo>
                    <a:pt x="620302" y="374958"/>
                  </a:lnTo>
                  <a:cubicBezTo>
                    <a:pt x="620302" y="384293"/>
                    <a:pt x="616594" y="393246"/>
                    <a:pt x="609993" y="399847"/>
                  </a:cubicBezTo>
                  <a:cubicBezTo>
                    <a:pt x="603392" y="406448"/>
                    <a:pt x="594439" y="410156"/>
                    <a:pt x="585103" y="410156"/>
                  </a:cubicBezTo>
                  <a:lnTo>
                    <a:pt x="35199" y="410156"/>
                  </a:lnTo>
                  <a:cubicBezTo>
                    <a:pt x="15759" y="410156"/>
                    <a:pt x="0" y="394397"/>
                    <a:pt x="0" y="374958"/>
                  </a:cubicBezTo>
                  <a:lnTo>
                    <a:pt x="0" y="35199"/>
                  </a:lnTo>
                  <a:cubicBezTo>
                    <a:pt x="0" y="15759"/>
                    <a:pt x="15759" y="0"/>
                    <a:pt x="35199" y="0"/>
                  </a:cubicBezTo>
                  <a:close/>
                </a:path>
              </a:pathLst>
            </a:custGeom>
            <a:blipFill>
              <a:blip r:embed="rId8"/>
              <a:stretch>
                <a:fillRect t="-6713" b="-6713"/>
              </a:stretch>
            </a:blipFill>
            <a:ln w="47625" cap="rnd">
              <a:solidFill>
                <a:srgbClr val="8DC341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13377007" y="871901"/>
            <a:ext cx="3882293" cy="591524"/>
            <a:chOff x="0" y="0"/>
            <a:chExt cx="2436661" cy="3712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6661" cy="371261"/>
            </a:xfrm>
            <a:custGeom>
              <a:avLst/>
              <a:gdLst/>
              <a:ahLst/>
              <a:cxnLst/>
              <a:rect l="l" t="t" r="r" b="b"/>
              <a:pathLst>
                <a:path w="2436661" h="371261">
                  <a:moveTo>
                    <a:pt x="2233461" y="0"/>
                  </a:moveTo>
                  <a:cubicBezTo>
                    <a:pt x="2345685" y="0"/>
                    <a:pt x="2436661" y="83110"/>
                    <a:pt x="2436661" y="185630"/>
                  </a:cubicBezTo>
                  <a:cubicBezTo>
                    <a:pt x="2436661" y="288151"/>
                    <a:pt x="2345685" y="371261"/>
                    <a:pt x="2233461" y="371261"/>
                  </a:cubicBezTo>
                  <a:lnTo>
                    <a:pt x="203200" y="371261"/>
                  </a:lnTo>
                  <a:cubicBezTo>
                    <a:pt x="90976" y="371261"/>
                    <a:pt x="0" y="288151"/>
                    <a:pt x="0" y="185630"/>
                  </a:cubicBezTo>
                  <a:cubicBezTo>
                    <a:pt x="0" y="831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436661" cy="40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56032" y="964381"/>
            <a:ext cx="442842" cy="406537"/>
            <a:chOff x="0" y="0"/>
            <a:chExt cx="1040817" cy="9554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691340" y="1085295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5" y="0"/>
                </a:lnTo>
                <a:lnTo>
                  <a:pt x="172225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AutoShape 23"/>
          <p:cNvSpPr/>
          <p:nvPr/>
        </p:nvSpPr>
        <p:spPr>
          <a:xfrm>
            <a:off x="14077878" y="1310000"/>
            <a:ext cx="2002830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14077878" y="977467"/>
            <a:ext cx="2002830" cy="33746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482"/>
              </a:lnSpc>
              <a:spcBef>
                <a:spcPct val="0"/>
              </a:spcBef>
            </a:pPr>
            <a:r>
              <a:rPr lang="en-US" sz="1898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Sterling Tech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7502" y="1415800"/>
            <a:ext cx="3183156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IMAGES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7502" y="1824865"/>
            <a:ext cx="6603358" cy="39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3"/>
              </a:lnSpc>
              <a:spcBef>
                <a:spcPct val="0"/>
              </a:spcBef>
            </a:pPr>
            <a:r>
              <a:rPr lang="en-US" sz="23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STERLING TECH MOBILITY</a:t>
            </a:r>
          </a:p>
        </p:txBody>
      </p:sp>
      <p:sp>
        <p:nvSpPr>
          <p:cNvPr id="29" name="Photo caption 29"/>
          <p:cNvSpPr txBox="1"/>
          <p:nvPr/>
        </p:nvSpPr>
        <p:spPr>
          <a:xfrm>
            <a:off x="936760" y="5782597"/>
            <a:ext cx="212976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Structure stage</a:t>
            </a:r>
          </a:p>
        </p:txBody>
      </p:sp>
      <p:sp>
        <p:nvSpPr>
          <p:cNvPr id="30" name="Photo caption 30"/>
          <p:cNvSpPr txBox="1"/>
          <p:nvPr/>
        </p:nvSpPr>
        <p:spPr>
          <a:xfrm>
            <a:off x="6666828" y="5782597"/>
            <a:ext cx="2507712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Main LT panel room</a:t>
            </a:r>
          </a:p>
        </p:txBody>
      </p:sp>
      <p:sp>
        <p:nvSpPr>
          <p:cNvPr id="31" name="Photo caption 31"/>
          <p:cNvSpPr txBox="1"/>
          <p:nvPr/>
        </p:nvSpPr>
        <p:spPr>
          <a:xfrm>
            <a:off x="12308382" y="5782597"/>
            <a:ext cx="33896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Wall panel &amp; cable risers</a:t>
            </a:r>
          </a:p>
        </p:txBody>
      </p:sp>
      <p:sp>
        <p:nvSpPr>
          <p:cNvPr id="32" name="Photo caption 32"/>
          <p:cNvSpPr txBox="1"/>
          <p:nvPr/>
        </p:nvSpPr>
        <p:spPr>
          <a:xfrm>
            <a:off x="936760" y="9454001"/>
            <a:ext cx="401952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Cable routing &amp; junction boxes</a:t>
            </a:r>
          </a:p>
        </p:txBody>
      </p:sp>
      <p:sp>
        <p:nvSpPr>
          <p:cNvPr id="33" name="Photo caption 33"/>
          <p:cNvSpPr txBox="1"/>
          <p:nvPr/>
        </p:nvSpPr>
        <p:spPr>
          <a:xfrm>
            <a:off x="6669290" y="9473051"/>
            <a:ext cx="2381728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Corridor lighting</a:t>
            </a:r>
          </a:p>
        </p:txBody>
      </p:sp>
      <p:sp>
        <p:nvSpPr>
          <p:cNvPr id="34" name="Photo caption 34"/>
          <p:cNvSpPr txBox="1"/>
          <p:nvPr/>
        </p:nvSpPr>
        <p:spPr>
          <a:xfrm>
            <a:off x="12308382" y="9473051"/>
            <a:ext cx="2507712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Completed facility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317037" y="-4268458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0" y="0"/>
                </a:moveTo>
                <a:lnTo>
                  <a:pt x="13653926" y="0"/>
                </a:lnTo>
                <a:lnTo>
                  <a:pt x="13653926" y="18823916"/>
                </a:lnTo>
                <a:lnTo>
                  <a:pt x="0" y="18823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4714747" y="705485"/>
            <a:ext cx="113551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377007" y="590381"/>
            <a:ext cx="3882293" cy="591524"/>
            <a:chOff x="0" y="0"/>
            <a:chExt cx="5176391" cy="78869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5176391" cy="788698"/>
              <a:chOff x="0" y="0"/>
              <a:chExt cx="2436661" cy="3712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436661" cy="371261"/>
              </a:xfrm>
              <a:custGeom>
                <a:avLst/>
                <a:gdLst/>
                <a:ahLst/>
                <a:cxnLst/>
                <a:rect l="l" t="t" r="r" b="b"/>
                <a:pathLst>
                  <a:path w="2436661" h="371261">
                    <a:moveTo>
                      <a:pt x="2233461" y="0"/>
                    </a:moveTo>
                    <a:cubicBezTo>
                      <a:pt x="2345685" y="0"/>
                      <a:pt x="2436661" y="83110"/>
                      <a:pt x="2436661" y="185630"/>
                    </a:cubicBezTo>
                    <a:cubicBezTo>
                      <a:pt x="2436661" y="288151"/>
                      <a:pt x="2345685" y="371261"/>
                      <a:pt x="2233461" y="371261"/>
                    </a:cubicBezTo>
                    <a:lnTo>
                      <a:pt x="203200" y="371261"/>
                    </a:lnTo>
                    <a:cubicBezTo>
                      <a:pt x="90976" y="371261"/>
                      <a:pt x="0" y="288151"/>
                      <a:pt x="0" y="185630"/>
                    </a:cubicBezTo>
                    <a:cubicBezTo>
                      <a:pt x="0" y="8311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0C0C0">
                  <a:alpha val="58824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436661" cy="4093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38699" y="123307"/>
              <a:ext cx="590456" cy="542049"/>
              <a:chOff x="0" y="0"/>
              <a:chExt cx="1040817" cy="95549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40817" cy="955490"/>
              </a:xfrm>
              <a:custGeom>
                <a:avLst/>
                <a:gdLst/>
                <a:ahLst/>
                <a:cxnLst/>
                <a:rect l="l" t="t" r="r" b="b"/>
                <a:pathLst>
                  <a:path w="1040817" h="955490">
                    <a:moveTo>
                      <a:pt x="520409" y="0"/>
                    </a:moveTo>
                    <a:cubicBezTo>
                      <a:pt x="232995" y="0"/>
                      <a:pt x="0" y="213894"/>
                      <a:pt x="0" y="477745"/>
                    </a:cubicBezTo>
                    <a:cubicBezTo>
                      <a:pt x="0" y="741596"/>
                      <a:pt x="232995" y="955490"/>
                      <a:pt x="520409" y="955490"/>
                    </a:cubicBezTo>
                    <a:cubicBezTo>
                      <a:pt x="807822" y="955490"/>
                      <a:pt x="1040817" y="741596"/>
                      <a:pt x="1040817" y="477745"/>
                    </a:cubicBezTo>
                    <a:cubicBezTo>
                      <a:pt x="1040817" y="213894"/>
                      <a:pt x="807822" y="0"/>
                      <a:pt x="520409" y="0"/>
                    </a:cubicBezTo>
                    <a:close/>
                  </a:path>
                </a:pathLst>
              </a:custGeom>
              <a:solidFill>
                <a:srgbClr val="8DC441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7577" y="51477"/>
                <a:ext cx="845664" cy="8144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419110" y="284525"/>
              <a:ext cx="229633" cy="219613"/>
            </a:xfrm>
            <a:custGeom>
              <a:avLst/>
              <a:gdLst/>
              <a:ahLst/>
              <a:cxnLst/>
              <a:rect l="l" t="t" r="r" b="b"/>
              <a:pathLst>
                <a:path w="229633" h="219613">
                  <a:moveTo>
                    <a:pt x="0" y="0"/>
                  </a:moveTo>
                  <a:lnTo>
                    <a:pt x="229634" y="0"/>
                  </a:lnTo>
                  <a:lnTo>
                    <a:pt x="229634" y="219613"/>
                  </a:lnTo>
                  <a:lnTo>
                    <a:pt x="0" y="219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AutoShape 13"/>
            <p:cNvSpPr/>
            <p:nvPr/>
          </p:nvSpPr>
          <p:spPr>
            <a:xfrm flipV="1">
              <a:off x="934494" y="571708"/>
              <a:ext cx="1854327" cy="0"/>
            </a:xfrm>
            <a:prstGeom prst="line">
              <a:avLst/>
            </a:prstGeom>
            <a:ln w="50800" cap="flat">
              <a:solidFill>
                <a:srgbClr val="1B5E2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4494" y="100475"/>
              <a:ext cx="1854327" cy="418253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1">
                  <a:solidFill>
                    <a:srgbClr val="1B5E2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Farmhouse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87502" y="1415800"/>
            <a:ext cx="4018240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INFORMATION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7502" y="1805815"/>
            <a:ext cx="13000000" cy="6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3"/>
              </a:lnSpc>
              <a:spcBef>
                <a:spcPct val="0"/>
              </a:spcBef>
            </a:pPr>
            <a:r>
              <a:rPr lang="en-US" sz="36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FARMHOUSE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7502" y="2466427"/>
            <a:ext cx="15500000" cy="5685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Crownstone Constructions Pvt Ltd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Farmhouse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Location: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Belagavi, Karnataka </a:t>
            </a:r>
            <a:r>
              <a:rPr lang="en-US" sz="2859" spc="162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[confirm exact location]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Type: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Residential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Capacity: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500 kVA </a:t>
            </a:r>
            <a:r>
              <a:rPr lang="en-US" sz="2859" spc="162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[confirm – earlier version said 50 kVA]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 Awarded: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LT supply &amp; installation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Value: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₹50 Lakh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Duration: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 years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Status: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Ongoing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7502" y="9000000"/>
            <a:ext cx="150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0000"/>
                </a:solidFill>
                <a:latin typeface="Montserrat Bold"/>
              </a:rPr>
              <a:t>[No photos for this project – add a photo slide, or show it only in the Ongoing Projects table]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317037" y="-4268458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0" y="0"/>
                </a:moveTo>
                <a:lnTo>
                  <a:pt x="13653926" y="0"/>
                </a:lnTo>
                <a:lnTo>
                  <a:pt x="13653926" y="18823916"/>
                </a:lnTo>
                <a:lnTo>
                  <a:pt x="0" y="18823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4714747" y="705485"/>
            <a:ext cx="113551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275496" y="511337"/>
            <a:ext cx="4983804" cy="585253"/>
            <a:chOff x="0" y="0"/>
            <a:chExt cx="3128007" cy="3673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28007" cy="367325"/>
            </a:xfrm>
            <a:custGeom>
              <a:avLst/>
              <a:gdLst/>
              <a:ahLst/>
              <a:cxnLst/>
              <a:rect l="l" t="t" r="r" b="b"/>
              <a:pathLst>
                <a:path w="3128007" h="367325">
                  <a:moveTo>
                    <a:pt x="2924807" y="0"/>
                  </a:moveTo>
                  <a:cubicBezTo>
                    <a:pt x="3037031" y="0"/>
                    <a:pt x="3128007" y="82228"/>
                    <a:pt x="3128007" y="183662"/>
                  </a:cubicBezTo>
                  <a:cubicBezTo>
                    <a:pt x="3128007" y="285096"/>
                    <a:pt x="3037031" y="367325"/>
                    <a:pt x="2924807" y="367325"/>
                  </a:cubicBezTo>
                  <a:lnTo>
                    <a:pt x="203200" y="367325"/>
                  </a:lnTo>
                  <a:cubicBezTo>
                    <a:pt x="90976" y="367325"/>
                    <a:pt x="0" y="285096"/>
                    <a:pt x="0" y="183662"/>
                  </a:cubicBezTo>
                  <a:cubicBezTo>
                    <a:pt x="0" y="822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128007" cy="40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98982" y="600695"/>
            <a:ext cx="442842" cy="406537"/>
            <a:chOff x="0" y="0"/>
            <a:chExt cx="1040817" cy="9554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534291" y="721609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5" y="0"/>
                </a:lnTo>
                <a:lnTo>
                  <a:pt x="172225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AutoShape 12"/>
          <p:cNvSpPr/>
          <p:nvPr/>
        </p:nvSpPr>
        <p:spPr>
          <a:xfrm>
            <a:off x="12918027" y="920804"/>
            <a:ext cx="1256218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3695798" y="2690834"/>
            <a:ext cx="5270809" cy="3026761"/>
          </a:xfrm>
          <a:custGeom>
            <a:avLst/>
            <a:gdLst/>
            <a:ahLst/>
            <a:cxnLst/>
            <a:rect l="l" t="t" r="r" b="b"/>
            <a:pathLst>
              <a:path w="5270809" h="3026761">
                <a:moveTo>
                  <a:pt x="0" y="0"/>
                </a:moveTo>
                <a:lnTo>
                  <a:pt x="5270809" y="0"/>
                </a:lnTo>
                <a:lnTo>
                  <a:pt x="5270809" y="3026761"/>
                </a:lnTo>
                <a:lnTo>
                  <a:pt x="0" y="30267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173" b="-199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9870088" y="2690834"/>
            <a:ext cx="4728612" cy="3026761"/>
          </a:xfrm>
          <a:custGeom>
            <a:avLst/>
            <a:gdLst/>
            <a:ahLst/>
            <a:cxnLst/>
            <a:rect l="l" t="t" r="r" b="b"/>
            <a:pathLst>
              <a:path w="4728612" h="3026761">
                <a:moveTo>
                  <a:pt x="0" y="0"/>
                </a:moveTo>
                <a:lnTo>
                  <a:pt x="4728612" y="0"/>
                </a:lnTo>
                <a:lnTo>
                  <a:pt x="4728612" y="3026761"/>
                </a:lnTo>
                <a:lnTo>
                  <a:pt x="0" y="30267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005" r="-229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9870088" y="5717595"/>
            <a:ext cx="4600606" cy="4148856"/>
          </a:xfrm>
          <a:custGeom>
            <a:avLst/>
            <a:gdLst/>
            <a:ahLst/>
            <a:cxnLst/>
            <a:rect l="l" t="t" r="r" b="b"/>
            <a:pathLst>
              <a:path w="4600606" h="4148856">
                <a:moveTo>
                  <a:pt x="0" y="0"/>
                </a:moveTo>
                <a:lnTo>
                  <a:pt x="4600605" y="0"/>
                </a:lnTo>
                <a:lnTo>
                  <a:pt x="4600605" y="4148856"/>
                </a:lnTo>
                <a:lnTo>
                  <a:pt x="0" y="41488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29" r="-147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3765745" y="5717595"/>
            <a:ext cx="5200862" cy="4027950"/>
          </a:xfrm>
          <a:custGeom>
            <a:avLst/>
            <a:gdLst/>
            <a:ahLst/>
            <a:cxnLst/>
            <a:rect l="l" t="t" r="r" b="b"/>
            <a:pathLst>
              <a:path w="5200862" h="4027950">
                <a:moveTo>
                  <a:pt x="0" y="0"/>
                </a:moveTo>
                <a:lnTo>
                  <a:pt x="5200862" y="0"/>
                </a:lnTo>
                <a:lnTo>
                  <a:pt x="5200862" y="4027950"/>
                </a:lnTo>
                <a:lnTo>
                  <a:pt x="0" y="4027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870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2918027" y="597589"/>
            <a:ext cx="1256218" cy="32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Licences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94000" y="1528779"/>
            <a:ext cx="7300000" cy="69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1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LICENCES &amp; PERMITS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00" y="2750000"/>
            <a:ext cx="2900000" cy="5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1B1B"/>
                </a:solidFill>
                <a:latin typeface="Montserrat Bold"/>
              </a:rPr>
              <a:t>Electrical Supervisor Permit – Grade I</a:t>
            </a:r>
          </a:p>
          <a:p>
            <a:pPr algn="l"/>
            <a:endParaRPr sz="1400" b="1">
              <a:solidFill>
                <a:srgbClr val="1B1B1B"/>
              </a:solidFill>
              <a:latin typeface="Montserrat Bold"/>
            </a:endParaRPr>
          </a:p>
          <a:p>
            <a:pPr algn="l"/>
            <a:r>
              <a:rPr sz="1400" b="0">
                <a:solidFill>
                  <a:srgbClr val="1B1B1B"/>
                </a:solidFill>
                <a:latin typeface="Montserrat"/>
              </a:rPr>
              <a:t>Permit No.</a:t>
            </a:r>
          </a:p>
          <a:p>
            <a:pPr algn="l"/>
            <a:r>
              <a:rPr sz="1400" b="1">
                <a:solidFill>
                  <a:srgbClr val="1B1B1B"/>
                </a:solidFill>
                <a:latin typeface="Montserrat Bold"/>
              </a:rPr>
              <a:t>1SP200879BGM</a:t>
            </a:r>
          </a:p>
          <a:p>
            <a:pPr algn="l"/>
            <a:endParaRPr sz="1400" b="1">
              <a:solidFill>
                <a:srgbClr val="1B1B1B"/>
              </a:solidFill>
              <a:latin typeface="Montserrat Bold"/>
            </a:endParaRPr>
          </a:p>
          <a:p>
            <a:pPr algn="l"/>
            <a:r>
              <a:rPr sz="1400" b="0">
                <a:solidFill>
                  <a:srgbClr val="1B1B1B"/>
                </a:solidFill>
                <a:latin typeface="Montserrat"/>
              </a:rPr>
              <a:t>Valid till 31/12/2030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50000" y="2750000"/>
            <a:ext cx="3000000" cy="6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1B1B"/>
                </a:solidFill>
                <a:latin typeface="Montserrat Bold"/>
              </a:rPr>
              <a:t>Class I Electrical Contractor Licence</a:t>
            </a:r>
          </a:p>
          <a:p>
            <a:pPr algn="l"/>
            <a:endParaRPr sz="1400" b="1">
              <a:solidFill>
                <a:srgbClr val="1B1B1B"/>
              </a:solidFill>
              <a:latin typeface="Montserrat Bold"/>
            </a:endParaRPr>
          </a:p>
          <a:p>
            <a:pPr algn="l"/>
            <a:r>
              <a:rPr sz="1400" b="0">
                <a:solidFill>
                  <a:srgbClr val="1B1B1B"/>
                </a:solidFill>
                <a:latin typeface="Montserrat"/>
              </a:rPr>
              <a:t>Licence No.</a:t>
            </a:r>
          </a:p>
          <a:p>
            <a:pPr algn="l"/>
            <a:r>
              <a:rPr sz="1400" b="1">
                <a:solidFill>
                  <a:srgbClr val="1B1B1B"/>
                </a:solidFill>
                <a:latin typeface="Montserrat Bold"/>
              </a:rPr>
              <a:t>1CL202315BGM</a:t>
            </a:r>
          </a:p>
          <a:p>
            <a:pPr algn="l"/>
            <a:endParaRPr sz="1400" b="1">
              <a:solidFill>
                <a:srgbClr val="1B1B1B"/>
              </a:solidFill>
              <a:latin typeface="Montserrat Bold"/>
            </a:endParaRPr>
          </a:p>
          <a:p>
            <a:pPr algn="l"/>
            <a:r>
              <a:rPr sz="1400" b="0">
                <a:solidFill>
                  <a:srgbClr val="1B1B1B"/>
                </a:solidFill>
                <a:latin typeface="Montserrat"/>
              </a:rPr>
              <a:t>Works up to &amp; including 33 kV</a:t>
            </a:r>
          </a:p>
          <a:p>
            <a:pPr algn="l"/>
            <a:endParaRPr sz="1400" b="0">
              <a:solidFill>
                <a:srgbClr val="1B1B1B"/>
              </a:solidFill>
              <a:latin typeface="Montserrat"/>
            </a:endParaRPr>
          </a:p>
          <a:p>
            <a:pPr algn="l"/>
            <a:r>
              <a:rPr sz="1400" b="0">
                <a:solidFill>
                  <a:srgbClr val="1B1B1B"/>
                </a:solidFill>
                <a:latin typeface="Montserrat"/>
              </a:rPr>
              <a:t>Valid till 31/01/2031</a:t>
            </a:r>
          </a:p>
          <a:p>
            <a:pPr algn="l"/>
            <a:endParaRPr sz="1400" b="0">
              <a:solidFill>
                <a:srgbClr val="1B1B1B"/>
              </a:solidFill>
              <a:latin typeface="Montserrat"/>
            </a:endParaRPr>
          </a:p>
          <a:p>
            <a:pPr algn="l"/>
            <a:r>
              <a:rPr sz="1400" b="1">
                <a:solidFill>
                  <a:srgbClr val="FF0000"/>
                </a:solidFill>
                <a:latin typeface="Montserrat Bold"/>
              </a:rPr>
              <a:t>[If this is a renewal, add “Licensed since 20XX”]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00" y="8800000"/>
            <a:ext cx="290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33938"/>
                </a:solidFill>
                <a:latin typeface="Montserrat"/>
              </a:rPr>
              <a:t>Verify at</a:t>
            </a:r>
          </a:p>
          <a:p>
            <a:pPr algn="l"/>
            <a:r>
              <a:rPr sz="1200" b="0">
                <a:solidFill>
                  <a:srgbClr val="433938"/>
                </a:solidFill>
                <a:latin typeface="Montserrat"/>
              </a:rPr>
              <a:t>vidyuthsuraksha.karnataka.gov.in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584996" y="-4035068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0" y="0"/>
                </a:moveTo>
                <a:lnTo>
                  <a:pt x="13653925" y="0"/>
                </a:lnTo>
                <a:lnTo>
                  <a:pt x="13653925" y="18823917"/>
                </a:lnTo>
                <a:lnTo>
                  <a:pt x="0" y="18823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2975474" y="2017603"/>
            <a:ext cx="5118267" cy="7240697"/>
          </a:xfrm>
          <a:custGeom>
            <a:avLst/>
            <a:gdLst/>
            <a:ahLst/>
            <a:cxnLst/>
            <a:rect l="l" t="t" r="r" b="b"/>
            <a:pathLst>
              <a:path w="5118267" h="7240697">
                <a:moveTo>
                  <a:pt x="0" y="0"/>
                </a:moveTo>
                <a:lnTo>
                  <a:pt x="5118267" y="0"/>
                </a:lnTo>
                <a:lnTo>
                  <a:pt x="5118267" y="7240697"/>
                </a:lnTo>
                <a:lnTo>
                  <a:pt x="0" y="72406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2275496" y="511337"/>
            <a:ext cx="4983804" cy="585253"/>
            <a:chOff x="0" y="0"/>
            <a:chExt cx="3128007" cy="3673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28007" cy="367325"/>
            </a:xfrm>
            <a:custGeom>
              <a:avLst/>
              <a:gdLst/>
              <a:ahLst/>
              <a:cxnLst/>
              <a:rect l="l" t="t" r="r" b="b"/>
              <a:pathLst>
                <a:path w="3128007" h="367325">
                  <a:moveTo>
                    <a:pt x="2924807" y="0"/>
                  </a:moveTo>
                  <a:cubicBezTo>
                    <a:pt x="3037031" y="0"/>
                    <a:pt x="3128007" y="82228"/>
                    <a:pt x="3128007" y="183662"/>
                  </a:cubicBezTo>
                  <a:cubicBezTo>
                    <a:pt x="3128007" y="285096"/>
                    <a:pt x="3037031" y="367325"/>
                    <a:pt x="2924807" y="367325"/>
                  </a:cubicBezTo>
                  <a:lnTo>
                    <a:pt x="203200" y="367325"/>
                  </a:lnTo>
                  <a:cubicBezTo>
                    <a:pt x="90976" y="367325"/>
                    <a:pt x="0" y="285096"/>
                    <a:pt x="0" y="183662"/>
                  </a:cubicBezTo>
                  <a:cubicBezTo>
                    <a:pt x="0" y="822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128007" cy="40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98982" y="600695"/>
            <a:ext cx="442842" cy="406537"/>
            <a:chOff x="0" y="0"/>
            <a:chExt cx="1040817" cy="9554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534291" y="721609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5" y="0"/>
                </a:lnTo>
                <a:lnTo>
                  <a:pt x="172225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>
            <a:off x="12918027" y="920804"/>
            <a:ext cx="1256218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2918027" y="597589"/>
            <a:ext cx="1256218" cy="32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Licences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44000" y="1194273"/>
            <a:ext cx="9000000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UDYAM (MSME) REGISTRATION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8969" y="2300000"/>
            <a:ext cx="8500000" cy="2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1B1B1B"/>
                </a:solidFill>
                <a:latin typeface="Montserrat"/>
              </a:rPr>
              <a:t>Udyam Registration No.</a:t>
            </a:r>
          </a:p>
          <a:p>
            <a:pPr algn="l"/>
            <a:r>
              <a:rPr sz="1700" b="1">
                <a:solidFill>
                  <a:srgbClr val="1B1B1B"/>
                </a:solidFill>
                <a:latin typeface="Montserrat Bold"/>
              </a:rPr>
              <a:t>UDYAM-KR-04-0120128</a:t>
            </a:r>
          </a:p>
          <a:p>
            <a:pPr algn="l"/>
            <a:endParaRPr sz="1700" b="1">
              <a:solidFill>
                <a:srgbClr val="1B1B1B"/>
              </a:solidFill>
              <a:latin typeface="Montserrat Bold"/>
            </a:endParaRPr>
          </a:p>
          <a:p>
            <a:pPr algn="l"/>
            <a:r>
              <a:rPr sz="1700" b="0">
                <a:solidFill>
                  <a:srgbClr val="1B1B1B"/>
                </a:solidFill>
                <a:latin typeface="Montserrat"/>
              </a:rPr>
              <a:t>Enterprise type: Micro  ·  Activity: Services</a:t>
            </a:r>
          </a:p>
          <a:p>
            <a:pPr algn="l"/>
            <a:r>
              <a:rPr sz="1700" b="0">
                <a:solidFill>
                  <a:srgbClr val="1B1B1B"/>
                </a:solidFill>
                <a:latin typeface="Montserrat"/>
              </a:rPr>
              <a:t>NIC 43219 – Electrical installation</a:t>
            </a:r>
          </a:p>
          <a:p>
            <a:pPr algn="l"/>
            <a:r>
              <a:rPr sz="1700" b="0">
                <a:solidFill>
                  <a:srgbClr val="1B1B1B"/>
                </a:solidFill>
                <a:latin typeface="Montserrat"/>
              </a:rPr>
              <a:t>GSTIN: 29CIZPP4477R1ZK</a:t>
            </a:r>
          </a:p>
          <a:p>
            <a:pPr algn="l"/>
            <a:endParaRPr sz="1700" b="0">
              <a:solidFill>
                <a:srgbClr val="1B1B1B"/>
              </a:solidFill>
              <a:latin typeface="Montserrat"/>
            </a:endParaRPr>
          </a:p>
          <a:p>
            <a:pPr algn="l"/>
            <a:r>
              <a:rPr lang="en-US" sz="1700" b="0">
                <a:solidFill>
                  <a:srgbClr val="1B1B1B"/>
                </a:solidFill>
                <a:latin typeface="Montserrat"/>
              </a:rPr>
              <a:t>Verify at</a:t>
            </a:r>
          </a:p>
          <a:p>
            <a:pPr algn="l"/>
            <a:r>
              <a:rPr lang="en-US" sz="1700" b="1">
                <a:solidFill>
                  <a:srgbClr val="4E8A1E"/>
                </a:solidFill>
                <a:latin typeface="Montserrat Bold"/>
              </a:rPr>
              <a:t>udyamregistration.gov.in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317037" y="-4268458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0" y="0"/>
                </a:moveTo>
                <a:lnTo>
                  <a:pt x="13653926" y="0"/>
                </a:lnTo>
                <a:lnTo>
                  <a:pt x="13653926" y="18823916"/>
                </a:lnTo>
                <a:lnTo>
                  <a:pt x="0" y="18823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091593" y="2551416"/>
            <a:ext cx="11300000" cy="3846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0"/>
              </a:lnSpc>
            </a:pPr>
            <a:r>
              <a:rPr lang="en-US" sz="22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Name: </a:t>
            </a:r>
            <a:r>
              <a:rPr lang="en-US" sz="2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Mrs. Priyadarshini B.P.</a:t>
            </a:r>
          </a:p>
          <a:p>
            <a:pPr algn="l">
              <a:lnSpc>
                <a:spcPts val="3800"/>
              </a:lnSpc>
            </a:pPr>
            <a:r>
              <a:rPr lang="en-US" sz="22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Designation: </a:t>
            </a:r>
            <a:r>
              <a:rPr lang="en-US" sz="2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Proprietor</a:t>
            </a:r>
          </a:p>
          <a:p>
            <a:pPr algn="l">
              <a:lnSpc>
                <a:spcPts val="3800"/>
              </a:lnSpc>
            </a:pPr>
            <a:r>
              <a:rPr lang="en-US" sz="22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Mobile: </a:t>
            </a:r>
            <a:r>
              <a:rPr lang="en-US" sz="2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+91 90350 27395</a:t>
            </a:r>
          </a:p>
          <a:p>
            <a:pPr algn="l">
              <a:lnSpc>
                <a:spcPts val="3800"/>
              </a:lnSpc>
            </a:pPr>
            <a:r>
              <a:rPr lang="en-US" sz="22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Email: </a:t>
            </a:r>
            <a:r>
              <a:rPr lang="en-US" sz="2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priya@adlercontracts.com  |  adlercontracts@gmail.com</a:t>
            </a:r>
          </a:p>
          <a:p>
            <a:pPr algn="l">
              <a:lnSpc>
                <a:spcPts val="3800"/>
              </a:lnSpc>
            </a:pPr>
            <a:r>
              <a:rPr lang="en-US" sz="22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Address: </a:t>
            </a:r>
            <a:r>
              <a:rPr lang="en-US" sz="2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Shop No. G-01, Saraf Enclave, Plot No. 1/A, RS No. 43/2A, Bauxite Road, Azam Nagar, Belagavi – 590010, Karnataka</a:t>
            </a:r>
          </a:p>
          <a:p>
            <a:pPr algn="l">
              <a:lnSpc>
                <a:spcPts val="3800"/>
              </a:lnSpc>
            </a:pPr>
            <a:r>
              <a:rPr lang="en-US" sz="22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GSTIN: </a:t>
            </a:r>
            <a:r>
              <a:rPr lang="en-US" sz="2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29CIZPP4477R1ZK</a:t>
            </a:r>
          </a:p>
          <a:p>
            <a:pPr algn="l">
              <a:lnSpc>
                <a:spcPts val="3800"/>
              </a:lnSpc>
            </a:pPr>
            <a:r>
              <a:rPr lang="en-US" sz="22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Website: </a:t>
            </a:r>
            <a:r>
              <a:rPr lang="en-US" sz="2200" b="1" dirty="0">
                <a:solidFill>
                  <a:srgbClr val="FF0000"/>
                </a:solidFill>
                <a:latin typeface="Montserrat"/>
                <a:ea typeface="Montserrat Bold"/>
                <a:cs typeface="Montserrat Bold"/>
                <a:sym typeface="Montserrat"/>
              </a:rPr>
              <a:t>www.adlercontracts.com</a:t>
            </a:r>
            <a:endParaRPr lang="en-US" sz="2200" dirty="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2275496" y="511337"/>
            <a:ext cx="4983804" cy="585253"/>
            <a:chOff x="0" y="0"/>
            <a:chExt cx="3128007" cy="3673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28007" cy="367325"/>
            </a:xfrm>
            <a:custGeom>
              <a:avLst/>
              <a:gdLst/>
              <a:ahLst/>
              <a:cxnLst/>
              <a:rect l="l" t="t" r="r" b="b"/>
              <a:pathLst>
                <a:path w="3128007" h="367325">
                  <a:moveTo>
                    <a:pt x="2924807" y="0"/>
                  </a:moveTo>
                  <a:cubicBezTo>
                    <a:pt x="3037031" y="0"/>
                    <a:pt x="3128007" y="82228"/>
                    <a:pt x="3128007" y="183662"/>
                  </a:cubicBezTo>
                  <a:cubicBezTo>
                    <a:pt x="3128007" y="285096"/>
                    <a:pt x="3037031" y="367325"/>
                    <a:pt x="2924807" y="367325"/>
                  </a:cubicBezTo>
                  <a:lnTo>
                    <a:pt x="203200" y="367325"/>
                  </a:lnTo>
                  <a:cubicBezTo>
                    <a:pt x="90976" y="367325"/>
                    <a:pt x="0" y="285096"/>
                    <a:pt x="0" y="183662"/>
                  </a:cubicBezTo>
                  <a:cubicBezTo>
                    <a:pt x="0" y="822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128007" cy="40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98982" y="600695"/>
            <a:ext cx="442842" cy="406537"/>
            <a:chOff x="0" y="0"/>
            <a:chExt cx="1040817" cy="9554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534291" y="721609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5" y="0"/>
                </a:lnTo>
                <a:lnTo>
                  <a:pt x="172225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AutoShape 12"/>
          <p:cNvSpPr/>
          <p:nvPr/>
        </p:nvSpPr>
        <p:spPr>
          <a:xfrm>
            <a:off x="12879926" y="905369"/>
            <a:ext cx="1359624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2841824" y="582154"/>
            <a:ext cx="143582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 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91593" y="1775711"/>
            <a:ext cx="3317242" cy="61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 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1593" y="7900000"/>
            <a:ext cx="90000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74B900"/>
                </a:solidFill>
                <a:latin typeface="Montserrat Bold"/>
              </a:rPr>
              <a:t>Thank you</a:t>
            </a:r>
          </a:p>
        </p:txBody>
      </p:sp>
      <p:sp>
        <p:nvSpPr>
          <p:cNvPr id="17" name="Photo 17" descr="Completed facility exterior with project team"/>
          <p:cNvSpPr/>
          <p:nvPr/>
        </p:nvSpPr>
        <p:spPr>
          <a:xfrm>
            <a:off x="13300000" y="2500000"/>
            <a:ext cx="4200000" cy="4600000"/>
          </a:xfrm>
          <a:prstGeom prst="roundRect">
            <a:avLst>
              <a:gd name="adj" fmla="val 7000"/>
            </a:avLst>
          </a:prstGeom>
          <a:blipFill>
            <a:blip r:embed="rId5"/>
            <a:stretch>
              <a:fillRect l="-28539" r="-17492"/>
            </a:stretch>
          </a:blipFill>
          <a:ln w="47625" cap="rnd">
            <a:solidFill>
              <a:srgbClr val="8DC341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2317037" y="-4710931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13653926" y="0"/>
                </a:moveTo>
                <a:lnTo>
                  <a:pt x="0" y="0"/>
                </a:lnTo>
                <a:lnTo>
                  <a:pt x="0" y="18823916"/>
                </a:lnTo>
                <a:lnTo>
                  <a:pt x="13653926" y="18823916"/>
                </a:lnTo>
                <a:lnTo>
                  <a:pt x="13653926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01220" y="2418802"/>
            <a:ext cx="5002404" cy="3596929"/>
            <a:chOff x="0" y="0"/>
            <a:chExt cx="587827" cy="4226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7827" cy="422671"/>
            </a:xfrm>
            <a:custGeom>
              <a:avLst/>
              <a:gdLst/>
              <a:ahLst/>
              <a:cxnLst/>
              <a:rect l="l" t="t" r="r" b="b"/>
              <a:pathLst>
                <a:path w="587827" h="422671">
                  <a:moveTo>
                    <a:pt x="37143" y="0"/>
                  </a:moveTo>
                  <a:lnTo>
                    <a:pt x="550684" y="0"/>
                  </a:lnTo>
                  <a:cubicBezTo>
                    <a:pt x="560535" y="0"/>
                    <a:pt x="569982" y="3913"/>
                    <a:pt x="576948" y="10879"/>
                  </a:cubicBezTo>
                  <a:cubicBezTo>
                    <a:pt x="583914" y="17845"/>
                    <a:pt x="587827" y="27292"/>
                    <a:pt x="587827" y="37143"/>
                  </a:cubicBezTo>
                  <a:lnTo>
                    <a:pt x="587827" y="385528"/>
                  </a:lnTo>
                  <a:cubicBezTo>
                    <a:pt x="587827" y="395379"/>
                    <a:pt x="583914" y="404826"/>
                    <a:pt x="576948" y="411792"/>
                  </a:cubicBezTo>
                  <a:cubicBezTo>
                    <a:pt x="569982" y="418758"/>
                    <a:pt x="560535" y="422671"/>
                    <a:pt x="550684" y="422671"/>
                  </a:cubicBezTo>
                  <a:lnTo>
                    <a:pt x="37143" y="422671"/>
                  </a:lnTo>
                  <a:cubicBezTo>
                    <a:pt x="27292" y="422671"/>
                    <a:pt x="17845" y="418758"/>
                    <a:pt x="10879" y="411792"/>
                  </a:cubicBezTo>
                  <a:cubicBezTo>
                    <a:pt x="3913" y="404826"/>
                    <a:pt x="0" y="395379"/>
                    <a:pt x="0" y="385528"/>
                  </a:cubicBezTo>
                  <a:lnTo>
                    <a:pt x="0" y="37143"/>
                  </a:lnTo>
                  <a:cubicBezTo>
                    <a:pt x="0" y="27292"/>
                    <a:pt x="3913" y="17845"/>
                    <a:pt x="10879" y="10879"/>
                  </a:cubicBezTo>
                  <a:cubicBezTo>
                    <a:pt x="17845" y="3913"/>
                    <a:pt x="27292" y="0"/>
                    <a:pt x="37143" y="0"/>
                  </a:cubicBez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01220" y="6282431"/>
            <a:ext cx="5002404" cy="3671404"/>
            <a:chOff x="0" y="0"/>
            <a:chExt cx="587827" cy="431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7827" cy="431423"/>
            </a:xfrm>
            <a:custGeom>
              <a:avLst/>
              <a:gdLst/>
              <a:ahLst/>
              <a:cxnLst/>
              <a:rect l="l" t="t" r="r" b="b"/>
              <a:pathLst>
                <a:path w="587827" h="431423">
                  <a:moveTo>
                    <a:pt x="37143" y="0"/>
                  </a:moveTo>
                  <a:lnTo>
                    <a:pt x="550684" y="0"/>
                  </a:lnTo>
                  <a:cubicBezTo>
                    <a:pt x="560535" y="0"/>
                    <a:pt x="569982" y="3913"/>
                    <a:pt x="576948" y="10879"/>
                  </a:cubicBezTo>
                  <a:cubicBezTo>
                    <a:pt x="583914" y="17845"/>
                    <a:pt x="587827" y="27292"/>
                    <a:pt x="587827" y="37143"/>
                  </a:cubicBezTo>
                  <a:lnTo>
                    <a:pt x="587827" y="394279"/>
                  </a:lnTo>
                  <a:cubicBezTo>
                    <a:pt x="587827" y="404130"/>
                    <a:pt x="583914" y="413578"/>
                    <a:pt x="576948" y="420544"/>
                  </a:cubicBezTo>
                  <a:cubicBezTo>
                    <a:pt x="569982" y="427509"/>
                    <a:pt x="560535" y="431423"/>
                    <a:pt x="550684" y="431423"/>
                  </a:cubicBezTo>
                  <a:lnTo>
                    <a:pt x="37143" y="431423"/>
                  </a:lnTo>
                  <a:cubicBezTo>
                    <a:pt x="16630" y="431423"/>
                    <a:pt x="0" y="414793"/>
                    <a:pt x="0" y="394279"/>
                  </a:cubicBezTo>
                  <a:lnTo>
                    <a:pt x="0" y="37143"/>
                  </a:lnTo>
                  <a:cubicBezTo>
                    <a:pt x="0" y="27292"/>
                    <a:pt x="3913" y="17845"/>
                    <a:pt x="10879" y="10879"/>
                  </a:cubicBezTo>
                  <a:cubicBezTo>
                    <a:pt x="17845" y="3913"/>
                    <a:pt x="27292" y="0"/>
                    <a:pt x="37143" y="0"/>
                  </a:cubicBez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52000" y="2418802"/>
            <a:ext cx="4999942" cy="3610242"/>
            <a:chOff x="0" y="0"/>
            <a:chExt cx="587538" cy="4242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87538" cy="424236"/>
            </a:xfrm>
            <a:custGeom>
              <a:avLst/>
              <a:gdLst/>
              <a:ahLst/>
              <a:cxnLst/>
              <a:rect l="l" t="t" r="r" b="b"/>
              <a:pathLst>
                <a:path w="587538" h="424236">
                  <a:moveTo>
                    <a:pt x="37162" y="0"/>
                  </a:moveTo>
                  <a:lnTo>
                    <a:pt x="550376" y="0"/>
                  </a:lnTo>
                  <a:cubicBezTo>
                    <a:pt x="570900" y="0"/>
                    <a:pt x="587538" y="16638"/>
                    <a:pt x="587538" y="37162"/>
                  </a:cubicBezTo>
                  <a:lnTo>
                    <a:pt x="587538" y="387074"/>
                  </a:lnTo>
                  <a:cubicBezTo>
                    <a:pt x="587538" y="396930"/>
                    <a:pt x="583622" y="406382"/>
                    <a:pt x="576653" y="413351"/>
                  </a:cubicBezTo>
                  <a:cubicBezTo>
                    <a:pt x="569684" y="420320"/>
                    <a:pt x="560232" y="424236"/>
                    <a:pt x="550376" y="424236"/>
                  </a:cubicBezTo>
                  <a:lnTo>
                    <a:pt x="37162" y="424236"/>
                  </a:lnTo>
                  <a:cubicBezTo>
                    <a:pt x="27306" y="424236"/>
                    <a:pt x="17854" y="420320"/>
                    <a:pt x="10884" y="413351"/>
                  </a:cubicBezTo>
                  <a:cubicBezTo>
                    <a:pt x="3915" y="406382"/>
                    <a:pt x="0" y="396930"/>
                    <a:pt x="0" y="387074"/>
                  </a:cubicBezTo>
                  <a:lnTo>
                    <a:pt x="0" y="37162"/>
                  </a:lnTo>
                  <a:cubicBezTo>
                    <a:pt x="0" y="27306"/>
                    <a:pt x="3915" y="17854"/>
                    <a:pt x="10884" y="10884"/>
                  </a:cubicBezTo>
                  <a:cubicBezTo>
                    <a:pt x="17854" y="3915"/>
                    <a:pt x="27306" y="0"/>
                    <a:pt x="37162" y="0"/>
                  </a:cubicBez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52000" y="6282431"/>
            <a:ext cx="4999942" cy="3690454"/>
            <a:chOff x="0" y="0"/>
            <a:chExt cx="587538" cy="4336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7538" cy="433661"/>
            </a:xfrm>
            <a:custGeom>
              <a:avLst/>
              <a:gdLst/>
              <a:ahLst/>
              <a:cxnLst/>
              <a:rect l="l" t="t" r="r" b="b"/>
              <a:pathLst>
                <a:path w="587538" h="433661">
                  <a:moveTo>
                    <a:pt x="37162" y="0"/>
                  </a:moveTo>
                  <a:lnTo>
                    <a:pt x="550376" y="0"/>
                  </a:lnTo>
                  <a:cubicBezTo>
                    <a:pt x="570900" y="0"/>
                    <a:pt x="587538" y="16638"/>
                    <a:pt x="587538" y="37162"/>
                  </a:cubicBezTo>
                  <a:lnTo>
                    <a:pt x="587538" y="396500"/>
                  </a:lnTo>
                  <a:cubicBezTo>
                    <a:pt x="587538" y="417023"/>
                    <a:pt x="570900" y="433661"/>
                    <a:pt x="550376" y="433661"/>
                  </a:cubicBezTo>
                  <a:lnTo>
                    <a:pt x="37162" y="433661"/>
                  </a:lnTo>
                  <a:cubicBezTo>
                    <a:pt x="27306" y="433661"/>
                    <a:pt x="17854" y="429746"/>
                    <a:pt x="10884" y="422777"/>
                  </a:cubicBezTo>
                  <a:cubicBezTo>
                    <a:pt x="3915" y="415808"/>
                    <a:pt x="0" y="406355"/>
                    <a:pt x="0" y="396500"/>
                  </a:cubicBezTo>
                  <a:lnTo>
                    <a:pt x="0" y="37162"/>
                  </a:lnTo>
                  <a:cubicBezTo>
                    <a:pt x="0" y="27306"/>
                    <a:pt x="3915" y="17854"/>
                    <a:pt x="10884" y="10884"/>
                  </a:cubicBezTo>
                  <a:cubicBezTo>
                    <a:pt x="17854" y="3915"/>
                    <a:pt x="27306" y="0"/>
                    <a:pt x="37162" y="0"/>
                  </a:cubicBez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507633" y="2418802"/>
            <a:ext cx="4900858" cy="3596929"/>
            <a:chOff x="0" y="0"/>
            <a:chExt cx="575895" cy="4226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5894" cy="422671"/>
            </a:xfrm>
            <a:custGeom>
              <a:avLst/>
              <a:gdLst/>
              <a:ahLst/>
              <a:cxnLst/>
              <a:rect l="l" t="t" r="r" b="b"/>
              <a:pathLst>
                <a:path w="575894" h="422671">
                  <a:moveTo>
                    <a:pt x="37913" y="0"/>
                  </a:moveTo>
                  <a:lnTo>
                    <a:pt x="537982" y="0"/>
                  </a:lnTo>
                  <a:cubicBezTo>
                    <a:pt x="558920" y="0"/>
                    <a:pt x="575894" y="16974"/>
                    <a:pt x="575894" y="37913"/>
                  </a:cubicBezTo>
                  <a:lnTo>
                    <a:pt x="575894" y="384758"/>
                  </a:lnTo>
                  <a:cubicBezTo>
                    <a:pt x="575894" y="405697"/>
                    <a:pt x="558920" y="422671"/>
                    <a:pt x="537982" y="422671"/>
                  </a:cubicBezTo>
                  <a:lnTo>
                    <a:pt x="37913" y="422671"/>
                  </a:lnTo>
                  <a:cubicBezTo>
                    <a:pt x="16974" y="422671"/>
                    <a:pt x="0" y="405697"/>
                    <a:pt x="0" y="384758"/>
                  </a:cubicBezTo>
                  <a:lnTo>
                    <a:pt x="0" y="37913"/>
                  </a:lnTo>
                  <a:cubicBezTo>
                    <a:pt x="0" y="16974"/>
                    <a:pt x="16974" y="0"/>
                    <a:pt x="37913" y="0"/>
                  </a:cubicBez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07633" y="6327727"/>
            <a:ext cx="4900858" cy="3671404"/>
            <a:chOff x="0" y="0"/>
            <a:chExt cx="575895" cy="4314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5894" cy="431423"/>
            </a:xfrm>
            <a:custGeom>
              <a:avLst/>
              <a:gdLst/>
              <a:ahLst/>
              <a:cxnLst/>
              <a:rect l="l" t="t" r="r" b="b"/>
              <a:pathLst>
                <a:path w="575894" h="431423">
                  <a:moveTo>
                    <a:pt x="37913" y="0"/>
                  </a:moveTo>
                  <a:lnTo>
                    <a:pt x="537982" y="0"/>
                  </a:lnTo>
                  <a:cubicBezTo>
                    <a:pt x="558920" y="0"/>
                    <a:pt x="575894" y="16974"/>
                    <a:pt x="575894" y="37913"/>
                  </a:cubicBezTo>
                  <a:lnTo>
                    <a:pt x="575894" y="393510"/>
                  </a:lnTo>
                  <a:cubicBezTo>
                    <a:pt x="575894" y="414448"/>
                    <a:pt x="558920" y="431423"/>
                    <a:pt x="537982" y="431423"/>
                  </a:cubicBezTo>
                  <a:lnTo>
                    <a:pt x="37913" y="431423"/>
                  </a:lnTo>
                  <a:cubicBezTo>
                    <a:pt x="16974" y="431423"/>
                    <a:pt x="0" y="414448"/>
                    <a:pt x="0" y="393510"/>
                  </a:cubicBezTo>
                  <a:lnTo>
                    <a:pt x="0" y="37913"/>
                  </a:lnTo>
                  <a:cubicBezTo>
                    <a:pt x="0" y="16974"/>
                    <a:pt x="16974" y="0"/>
                    <a:pt x="37913" y="0"/>
                  </a:cubicBez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87502" y="323289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13377007" y="437176"/>
            <a:ext cx="3882293" cy="591524"/>
            <a:chOff x="0" y="0"/>
            <a:chExt cx="2436661" cy="3712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6661" cy="371261"/>
            </a:xfrm>
            <a:custGeom>
              <a:avLst/>
              <a:gdLst/>
              <a:ahLst/>
              <a:cxnLst/>
              <a:rect l="l" t="t" r="r" b="b"/>
              <a:pathLst>
                <a:path w="2436661" h="371261">
                  <a:moveTo>
                    <a:pt x="2233461" y="0"/>
                  </a:moveTo>
                  <a:cubicBezTo>
                    <a:pt x="2345685" y="0"/>
                    <a:pt x="2436661" y="83110"/>
                    <a:pt x="2436661" y="185630"/>
                  </a:cubicBezTo>
                  <a:cubicBezTo>
                    <a:pt x="2436661" y="288151"/>
                    <a:pt x="2345685" y="371261"/>
                    <a:pt x="2233461" y="371261"/>
                  </a:cubicBezTo>
                  <a:lnTo>
                    <a:pt x="203200" y="371261"/>
                  </a:lnTo>
                  <a:cubicBezTo>
                    <a:pt x="90976" y="371261"/>
                    <a:pt x="0" y="288151"/>
                    <a:pt x="0" y="185630"/>
                  </a:cubicBezTo>
                  <a:cubicBezTo>
                    <a:pt x="0" y="831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436661" cy="40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56032" y="529656"/>
            <a:ext cx="442842" cy="406537"/>
            <a:chOff x="0" y="0"/>
            <a:chExt cx="1040817" cy="9554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691340" y="650570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5" y="0"/>
                </a:lnTo>
                <a:lnTo>
                  <a:pt x="172225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AutoShape 23"/>
          <p:cNvSpPr/>
          <p:nvPr/>
        </p:nvSpPr>
        <p:spPr>
          <a:xfrm flipV="1">
            <a:off x="14077878" y="865957"/>
            <a:ext cx="1854327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14077878" y="517437"/>
            <a:ext cx="1854327" cy="32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Thyssenkrupp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7502" y="1235080"/>
            <a:ext cx="3183156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IMAGES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7502" y="1605535"/>
            <a:ext cx="9833364" cy="54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3"/>
              </a:lnSpc>
              <a:spcBef>
                <a:spcPct val="0"/>
              </a:spcBef>
            </a:pPr>
            <a:r>
              <a:rPr lang="en-US" sz="32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THYSSENKRUPP AEROSPACE INDIA PVT LTD</a:t>
            </a:r>
          </a:p>
        </p:txBody>
      </p:sp>
      <p:sp>
        <p:nvSpPr>
          <p:cNvPr id="27" name="Photo caption 27"/>
          <p:cNvSpPr txBox="1"/>
          <p:nvPr/>
        </p:nvSpPr>
        <p:spPr>
          <a:xfrm>
            <a:off x="1441220" y="5479651"/>
            <a:ext cx="338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Sub-distribution panel</a:t>
            </a:r>
          </a:p>
        </p:txBody>
      </p:sp>
      <p:sp>
        <p:nvSpPr>
          <p:cNvPr id="28" name="Photo caption 28"/>
          <p:cNvSpPr txBox="1"/>
          <p:nvPr/>
        </p:nvSpPr>
        <p:spPr>
          <a:xfrm>
            <a:off x="1441220" y="9417755"/>
            <a:ext cx="254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PCC &amp; ACB panels</a:t>
            </a:r>
          </a:p>
        </p:txBody>
      </p:sp>
      <p:sp>
        <p:nvSpPr>
          <p:cNvPr id="29" name="Photo caption 29"/>
          <p:cNvSpPr txBox="1"/>
          <p:nvPr/>
        </p:nvSpPr>
        <p:spPr>
          <a:xfrm>
            <a:off x="7092000" y="5492964"/>
            <a:ext cx="254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LT panel line-up</a:t>
            </a:r>
          </a:p>
        </p:txBody>
      </p:sp>
      <p:sp>
        <p:nvSpPr>
          <p:cNvPr id="30" name="Photo caption 30"/>
          <p:cNvSpPr txBox="1"/>
          <p:nvPr/>
        </p:nvSpPr>
        <p:spPr>
          <a:xfrm>
            <a:off x="7092000" y="9436805"/>
            <a:ext cx="380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Panel room &amp; cable risers</a:t>
            </a:r>
          </a:p>
        </p:txBody>
      </p:sp>
      <p:sp>
        <p:nvSpPr>
          <p:cNvPr id="31" name="Photo caption 31"/>
          <p:cNvSpPr txBox="1"/>
          <p:nvPr/>
        </p:nvSpPr>
        <p:spPr>
          <a:xfrm>
            <a:off x="12647633" y="5479651"/>
            <a:ext cx="324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MCC &amp; metering panels</a:t>
            </a:r>
          </a:p>
        </p:txBody>
      </p:sp>
      <p:sp>
        <p:nvSpPr>
          <p:cNvPr id="32" name="Photo caption 32"/>
          <p:cNvSpPr txBox="1"/>
          <p:nvPr/>
        </p:nvSpPr>
        <p:spPr>
          <a:xfrm>
            <a:off x="12647633" y="9463051"/>
            <a:ext cx="352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Cable trays over panels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317037" y="-4268458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0" y="0"/>
                </a:moveTo>
                <a:lnTo>
                  <a:pt x="13653926" y="0"/>
                </a:lnTo>
                <a:lnTo>
                  <a:pt x="13653926" y="18823916"/>
                </a:lnTo>
                <a:lnTo>
                  <a:pt x="0" y="18823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187502" y="1415800"/>
            <a:ext cx="4180490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INFORMATION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7502" y="1805815"/>
            <a:ext cx="6000000" cy="6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3"/>
              </a:lnSpc>
              <a:spcBef>
                <a:spcPct val="0"/>
              </a:spcBef>
            </a:pPr>
            <a:r>
              <a:rPr lang="en-US" sz="36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FOXCONN – B05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377007" y="590381"/>
            <a:ext cx="3882293" cy="591524"/>
            <a:chOff x="0" y="0"/>
            <a:chExt cx="2436661" cy="3712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6661" cy="371261"/>
            </a:xfrm>
            <a:custGeom>
              <a:avLst/>
              <a:gdLst/>
              <a:ahLst/>
              <a:cxnLst/>
              <a:rect l="l" t="t" r="r" b="b"/>
              <a:pathLst>
                <a:path w="2436661" h="371261">
                  <a:moveTo>
                    <a:pt x="2233461" y="0"/>
                  </a:moveTo>
                  <a:cubicBezTo>
                    <a:pt x="2345685" y="0"/>
                    <a:pt x="2436661" y="83110"/>
                    <a:pt x="2436661" y="185630"/>
                  </a:cubicBezTo>
                  <a:cubicBezTo>
                    <a:pt x="2436661" y="288151"/>
                    <a:pt x="2345685" y="371261"/>
                    <a:pt x="2233461" y="371261"/>
                  </a:cubicBezTo>
                  <a:lnTo>
                    <a:pt x="203200" y="371261"/>
                  </a:lnTo>
                  <a:cubicBezTo>
                    <a:pt x="90976" y="371261"/>
                    <a:pt x="0" y="288151"/>
                    <a:pt x="0" y="185630"/>
                  </a:cubicBezTo>
                  <a:cubicBezTo>
                    <a:pt x="0" y="831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36661" cy="40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556032" y="682861"/>
            <a:ext cx="442842" cy="406537"/>
            <a:chOff x="0" y="0"/>
            <a:chExt cx="1040817" cy="9554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691340" y="803774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5" y="0"/>
                </a:lnTo>
                <a:lnTo>
                  <a:pt x="172225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>
            <a:off x="14077878" y="1019162"/>
            <a:ext cx="1106690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4077878" y="695947"/>
            <a:ext cx="1106690" cy="32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Foxconn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7502" y="2466427"/>
            <a:ext cx="15500000" cy="5685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Scon Projects, Pune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Axana Estate LLP – B05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Location: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Oragadam, Walajabad Taluk, Tamil Nadu – 631604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Type: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Industrial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Capacity: </a:t>
            </a:r>
            <a:r>
              <a:rPr lang="en-US" sz="2859" spc="162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[confirm capacity]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 Awarded: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HT/LT installation</a:t>
            </a:r>
            <a:r>
              <a:rPr lang="en-US" sz="2859" spc="162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[confirm]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Detailed Scope: </a:t>
            </a:r>
            <a:r>
              <a:rPr lang="en-US" sz="2859" spc="162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[Detailed scope – e.g. no. &amp; rating of transformers, HT/LT panels, cable length, CEIG approval]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Value: </a:t>
            </a:r>
            <a:r>
              <a:rPr lang="en-US" sz="2859" spc="162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[confirm value]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Duration: </a:t>
            </a:r>
            <a:r>
              <a:rPr lang="en-US" sz="2859" spc="162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[confirm duration]</a:t>
            </a:r>
          </a:p>
          <a:p>
            <a:pPr algn="l">
              <a:lnSpc>
                <a:spcPts val="4400"/>
              </a:lnSpc>
            </a:pPr>
            <a:r>
              <a:rPr lang="en-US" sz="2859" b="1" spc="1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Status: </a:t>
            </a:r>
            <a:r>
              <a:rPr lang="en-US" sz="2859" spc="16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Ongoing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0000" y="1900000"/>
            <a:ext cx="9000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0000"/>
                </a:solidFill>
                <a:latin typeface="Montserrat Bold"/>
              </a:rPr>
              <a:t>[Confirm you are permitted to use the Foxconn name]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6760" y="2756783"/>
            <a:ext cx="5415743" cy="3669134"/>
            <a:chOff x="0" y="0"/>
            <a:chExt cx="636398" cy="4311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6398" cy="431156"/>
            </a:xfrm>
            <a:custGeom>
              <a:avLst/>
              <a:gdLst/>
              <a:ahLst/>
              <a:cxnLst/>
              <a:rect l="l" t="t" r="r" b="b"/>
              <a:pathLst>
                <a:path w="636398" h="431156">
                  <a:moveTo>
                    <a:pt x="34309" y="0"/>
                  </a:moveTo>
                  <a:lnTo>
                    <a:pt x="602090" y="0"/>
                  </a:lnTo>
                  <a:cubicBezTo>
                    <a:pt x="611189" y="0"/>
                    <a:pt x="619915" y="3615"/>
                    <a:pt x="626349" y="10049"/>
                  </a:cubicBezTo>
                  <a:cubicBezTo>
                    <a:pt x="632783" y="16483"/>
                    <a:pt x="636398" y="25209"/>
                    <a:pt x="636398" y="34309"/>
                  </a:cubicBezTo>
                  <a:lnTo>
                    <a:pt x="636398" y="396847"/>
                  </a:lnTo>
                  <a:cubicBezTo>
                    <a:pt x="636398" y="415796"/>
                    <a:pt x="621038" y="431156"/>
                    <a:pt x="602090" y="431156"/>
                  </a:cubicBezTo>
                  <a:lnTo>
                    <a:pt x="34309" y="431156"/>
                  </a:lnTo>
                  <a:cubicBezTo>
                    <a:pt x="25209" y="431156"/>
                    <a:pt x="16483" y="427541"/>
                    <a:pt x="10049" y="421107"/>
                  </a:cubicBezTo>
                  <a:cubicBezTo>
                    <a:pt x="3615" y="414673"/>
                    <a:pt x="0" y="405947"/>
                    <a:pt x="0" y="396847"/>
                  </a:cubicBezTo>
                  <a:lnTo>
                    <a:pt x="0" y="34309"/>
                  </a:lnTo>
                  <a:cubicBezTo>
                    <a:pt x="0" y="25209"/>
                    <a:pt x="3615" y="16483"/>
                    <a:pt x="10049" y="10049"/>
                  </a:cubicBezTo>
                  <a:cubicBezTo>
                    <a:pt x="16483" y="3615"/>
                    <a:pt x="25209" y="0"/>
                    <a:pt x="34309" y="0"/>
                  </a:cubicBez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96760" y="6701748"/>
            <a:ext cx="5415743" cy="3278333"/>
            <a:chOff x="0" y="0"/>
            <a:chExt cx="636398" cy="3852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6398" cy="385233"/>
            </a:xfrm>
            <a:custGeom>
              <a:avLst/>
              <a:gdLst/>
              <a:ahLst/>
              <a:cxnLst/>
              <a:rect l="l" t="t" r="r" b="b"/>
              <a:pathLst>
                <a:path w="636398" h="385233">
                  <a:moveTo>
                    <a:pt x="34309" y="0"/>
                  </a:moveTo>
                  <a:lnTo>
                    <a:pt x="602090" y="0"/>
                  </a:lnTo>
                  <a:cubicBezTo>
                    <a:pt x="611189" y="0"/>
                    <a:pt x="619915" y="3615"/>
                    <a:pt x="626349" y="10049"/>
                  </a:cubicBezTo>
                  <a:cubicBezTo>
                    <a:pt x="632783" y="16483"/>
                    <a:pt x="636398" y="25209"/>
                    <a:pt x="636398" y="34309"/>
                  </a:cubicBezTo>
                  <a:lnTo>
                    <a:pt x="636398" y="350925"/>
                  </a:lnTo>
                  <a:cubicBezTo>
                    <a:pt x="636398" y="360024"/>
                    <a:pt x="632783" y="368750"/>
                    <a:pt x="626349" y="375185"/>
                  </a:cubicBezTo>
                  <a:cubicBezTo>
                    <a:pt x="619915" y="381619"/>
                    <a:pt x="611189" y="385233"/>
                    <a:pt x="602090" y="385233"/>
                  </a:cubicBezTo>
                  <a:lnTo>
                    <a:pt x="34309" y="385233"/>
                  </a:lnTo>
                  <a:cubicBezTo>
                    <a:pt x="15360" y="385233"/>
                    <a:pt x="0" y="369873"/>
                    <a:pt x="0" y="350925"/>
                  </a:cubicBezTo>
                  <a:lnTo>
                    <a:pt x="0" y="34309"/>
                  </a:lnTo>
                  <a:cubicBezTo>
                    <a:pt x="0" y="25209"/>
                    <a:pt x="3615" y="16483"/>
                    <a:pt x="10049" y="10049"/>
                  </a:cubicBezTo>
                  <a:cubicBezTo>
                    <a:pt x="16483" y="3615"/>
                    <a:pt x="25209" y="0"/>
                    <a:pt x="34309" y="0"/>
                  </a:cubicBez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26828" y="2756783"/>
            <a:ext cx="5412746" cy="3669134"/>
            <a:chOff x="0" y="0"/>
            <a:chExt cx="636046" cy="4311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6046" cy="431156"/>
            </a:xfrm>
            <a:custGeom>
              <a:avLst/>
              <a:gdLst/>
              <a:ahLst/>
              <a:cxnLst/>
              <a:rect l="l" t="t" r="r" b="b"/>
              <a:pathLst>
                <a:path w="636046" h="431156">
                  <a:moveTo>
                    <a:pt x="34328" y="0"/>
                  </a:moveTo>
                  <a:lnTo>
                    <a:pt x="601718" y="0"/>
                  </a:lnTo>
                  <a:cubicBezTo>
                    <a:pt x="620677" y="0"/>
                    <a:pt x="636046" y="15369"/>
                    <a:pt x="636046" y="34328"/>
                  </a:cubicBezTo>
                  <a:lnTo>
                    <a:pt x="636046" y="396828"/>
                  </a:lnTo>
                  <a:cubicBezTo>
                    <a:pt x="636046" y="415787"/>
                    <a:pt x="620677" y="431156"/>
                    <a:pt x="601718" y="431156"/>
                  </a:cubicBezTo>
                  <a:lnTo>
                    <a:pt x="34328" y="431156"/>
                  </a:lnTo>
                  <a:cubicBezTo>
                    <a:pt x="15369" y="431156"/>
                    <a:pt x="0" y="415787"/>
                    <a:pt x="0" y="396828"/>
                  </a:cubicBezTo>
                  <a:lnTo>
                    <a:pt x="0" y="34328"/>
                  </a:lnTo>
                  <a:cubicBezTo>
                    <a:pt x="0" y="15369"/>
                    <a:pt x="15369" y="0"/>
                    <a:pt x="34328" y="0"/>
                  </a:cubicBez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29290" y="6720798"/>
            <a:ext cx="5410284" cy="3278333"/>
            <a:chOff x="0" y="0"/>
            <a:chExt cx="635757" cy="3852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757" cy="385233"/>
            </a:xfrm>
            <a:custGeom>
              <a:avLst/>
              <a:gdLst/>
              <a:ahLst/>
              <a:cxnLst/>
              <a:rect l="l" t="t" r="r" b="b"/>
              <a:pathLst>
                <a:path w="635757" h="385233">
                  <a:moveTo>
                    <a:pt x="34343" y="0"/>
                  </a:moveTo>
                  <a:lnTo>
                    <a:pt x="601413" y="0"/>
                  </a:lnTo>
                  <a:cubicBezTo>
                    <a:pt x="620381" y="0"/>
                    <a:pt x="635757" y="15376"/>
                    <a:pt x="635757" y="34343"/>
                  </a:cubicBezTo>
                  <a:lnTo>
                    <a:pt x="635757" y="350890"/>
                  </a:lnTo>
                  <a:cubicBezTo>
                    <a:pt x="635757" y="359998"/>
                    <a:pt x="632138" y="368734"/>
                    <a:pt x="625698" y="375174"/>
                  </a:cubicBezTo>
                  <a:cubicBezTo>
                    <a:pt x="619257" y="381615"/>
                    <a:pt x="610522" y="385233"/>
                    <a:pt x="601413" y="385233"/>
                  </a:cubicBezTo>
                  <a:lnTo>
                    <a:pt x="34343" y="385233"/>
                  </a:lnTo>
                  <a:cubicBezTo>
                    <a:pt x="15376" y="385233"/>
                    <a:pt x="0" y="369857"/>
                    <a:pt x="0" y="350890"/>
                  </a:cubicBezTo>
                  <a:lnTo>
                    <a:pt x="0" y="34343"/>
                  </a:lnTo>
                  <a:cubicBezTo>
                    <a:pt x="0" y="25235"/>
                    <a:pt x="3618" y="16499"/>
                    <a:pt x="10059" y="10059"/>
                  </a:cubicBezTo>
                  <a:cubicBezTo>
                    <a:pt x="16499" y="3618"/>
                    <a:pt x="25235" y="0"/>
                    <a:pt x="34343" y="0"/>
                  </a:cubicBez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256896" y="2756783"/>
            <a:ext cx="5002404" cy="3669134"/>
            <a:chOff x="0" y="0"/>
            <a:chExt cx="587827" cy="4311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7827" cy="431156"/>
            </a:xfrm>
            <a:custGeom>
              <a:avLst/>
              <a:gdLst/>
              <a:ahLst/>
              <a:cxnLst/>
              <a:rect l="l" t="t" r="r" b="b"/>
              <a:pathLst>
                <a:path w="587827" h="431156">
                  <a:moveTo>
                    <a:pt x="37143" y="0"/>
                  </a:moveTo>
                  <a:lnTo>
                    <a:pt x="550684" y="0"/>
                  </a:lnTo>
                  <a:cubicBezTo>
                    <a:pt x="560535" y="0"/>
                    <a:pt x="569982" y="3913"/>
                    <a:pt x="576948" y="10879"/>
                  </a:cubicBezTo>
                  <a:cubicBezTo>
                    <a:pt x="583914" y="17845"/>
                    <a:pt x="587827" y="27292"/>
                    <a:pt x="587827" y="37143"/>
                  </a:cubicBezTo>
                  <a:lnTo>
                    <a:pt x="587827" y="394013"/>
                  </a:lnTo>
                  <a:cubicBezTo>
                    <a:pt x="587827" y="403864"/>
                    <a:pt x="583914" y="413311"/>
                    <a:pt x="576948" y="420277"/>
                  </a:cubicBezTo>
                  <a:cubicBezTo>
                    <a:pt x="569982" y="427243"/>
                    <a:pt x="560535" y="431156"/>
                    <a:pt x="550684" y="431156"/>
                  </a:cubicBezTo>
                  <a:lnTo>
                    <a:pt x="37143" y="431156"/>
                  </a:lnTo>
                  <a:cubicBezTo>
                    <a:pt x="27292" y="431156"/>
                    <a:pt x="17845" y="427243"/>
                    <a:pt x="10879" y="420277"/>
                  </a:cubicBezTo>
                  <a:cubicBezTo>
                    <a:pt x="3913" y="413311"/>
                    <a:pt x="0" y="403864"/>
                    <a:pt x="0" y="394013"/>
                  </a:cubicBezTo>
                  <a:lnTo>
                    <a:pt x="0" y="37143"/>
                  </a:lnTo>
                  <a:cubicBezTo>
                    <a:pt x="0" y="27292"/>
                    <a:pt x="3913" y="17845"/>
                    <a:pt x="10879" y="10879"/>
                  </a:cubicBezTo>
                  <a:cubicBezTo>
                    <a:pt x="17845" y="3913"/>
                    <a:pt x="27292" y="0"/>
                    <a:pt x="37143" y="0"/>
                  </a:cubicBez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256896" y="6720798"/>
            <a:ext cx="5002404" cy="3259283"/>
            <a:chOff x="0" y="0"/>
            <a:chExt cx="587827" cy="3829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87827" cy="382995"/>
            </a:xfrm>
            <a:custGeom>
              <a:avLst/>
              <a:gdLst/>
              <a:ahLst/>
              <a:cxnLst/>
              <a:rect l="l" t="t" r="r" b="b"/>
              <a:pathLst>
                <a:path w="587827" h="382995">
                  <a:moveTo>
                    <a:pt x="37143" y="0"/>
                  </a:moveTo>
                  <a:lnTo>
                    <a:pt x="550684" y="0"/>
                  </a:lnTo>
                  <a:cubicBezTo>
                    <a:pt x="560535" y="0"/>
                    <a:pt x="569982" y="3913"/>
                    <a:pt x="576948" y="10879"/>
                  </a:cubicBezTo>
                  <a:cubicBezTo>
                    <a:pt x="583914" y="17845"/>
                    <a:pt x="587827" y="27292"/>
                    <a:pt x="587827" y="37143"/>
                  </a:cubicBezTo>
                  <a:lnTo>
                    <a:pt x="587827" y="345851"/>
                  </a:lnTo>
                  <a:cubicBezTo>
                    <a:pt x="587827" y="355702"/>
                    <a:pt x="583914" y="365150"/>
                    <a:pt x="576948" y="372116"/>
                  </a:cubicBezTo>
                  <a:cubicBezTo>
                    <a:pt x="569982" y="379081"/>
                    <a:pt x="560535" y="382995"/>
                    <a:pt x="550684" y="382995"/>
                  </a:cubicBezTo>
                  <a:lnTo>
                    <a:pt x="37143" y="382995"/>
                  </a:lnTo>
                  <a:cubicBezTo>
                    <a:pt x="16630" y="382995"/>
                    <a:pt x="0" y="366365"/>
                    <a:pt x="0" y="345851"/>
                  </a:cubicBezTo>
                  <a:lnTo>
                    <a:pt x="0" y="37143"/>
                  </a:lnTo>
                  <a:cubicBezTo>
                    <a:pt x="0" y="27292"/>
                    <a:pt x="3913" y="17845"/>
                    <a:pt x="10879" y="10879"/>
                  </a:cubicBezTo>
                  <a:cubicBezTo>
                    <a:pt x="17845" y="3913"/>
                    <a:pt x="27292" y="0"/>
                    <a:pt x="37143" y="0"/>
                  </a:cubicBez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  <a:ln w="47625" cap="rnd">
              <a:solidFill>
                <a:srgbClr val="8CC34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80878" y="511337"/>
            <a:ext cx="2614920" cy="749610"/>
          </a:xfrm>
          <a:custGeom>
            <a:avLst/>
            <a:gdLst/>
            <a:ahLst/>
            <a:cxnLst/>
            <a:rect l="l" t="t" r="r" b="b"/>
            <a:pathLst>
              <a:path w="2614920" h="749610">
                <a:moveTo>
                  <a:pt x="0" y="0"/>
                </a:moveTo>
                <a:lnTo>
                  <a:pt x="2614920" y="0"/>
                </a:lnTo>
                <a:lnTo>
                  <a:pt x="2614920" y="749611"/>
                </a:lnTo>
                <a:lnTo>
                  <a:pt x="0" y="7496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13377007" y="590381"/>
            <a:ext cx="3882293" cy="591524"/>
            <a:chOff x="0" y="0"/>
            <a:chExt cx="2436661" cy="3712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6661" cy="371261"/>
            </a:xfrm>
            <a:custGeom>
              <a:avLst/>
              <a:gdLst/>
              <a:ahLst/>
              <a:cxnLst/>
              <a:rect l="l" t="t" r="r" b="b"/>
              <a:pathLst>
                <a:path w="2436661" h="371261">
                  <a:moveTo>
                    <a:pt x="2233461" y="0"/>
                  </a:moveTo>
                  <a:cubicBezTo>
                    <a:pt x="2345685" y="0"/>
                    <a:pt x="2436661" y="83110"/>
                    <a:pt x="2436661" y="185630"/>
                  </a:cubicBezTo>
                  <a:cubicBezTo>
                    <a:pt x="2436661" y="288151"/>
                    <a:pt x="2345685" y="371261"/>
                    <a:pt x="2233461" y="371261"/>
                  </a:cubicBezTo>
                  <a:lnTo>
                    <a:pt x="203200" y="371261"/>
                  </a:lnTo>
                  <a:cubicBezTo>
                    <a:pt x="90976" y="371261"/>
                    <a:pt x="0" y="288151"/>
                    <a:pt x="0" y="185630"/>
                  </a:cubicBezTo>
                  <a:cubicBezTo>
                    <a:pt x="0" y="831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0C0C0">
                <a:alpha val="58824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436661" cy="40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556032" y="682861"/>
            <a:ext cx="442842" cy="406537"/>
            <a:chOff x="0" y="0"/>
            <a:chExt cx="1040817" cy="9554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0817" cy="955490"/>
            </a:xfrm>
            <a:custGeom>
              <a:avLst/>
              <a:gdLst/>
              <a:ahLst/>
              <a:cxnLst/>
              <a:rect l="l" t="t" r="r" b="b"/>
              <a:pathLst>
                <a:path w="1040817" h="955490">
                  <a:moveTo>
                    <a:pt x="520409" y="0"/>
                  </a:moveTo>
                  <a:cubicBezTo>
                    <a:pt x="232995" y="0"/>
                    <a:pt x="0" y="213894"/>
                    <a:pt x="0" y="477745"/>
                  </a:cubicBezTo>
                  <a:cubicBezTo>
                    <a:pt x="0" y="741596"/>
                    <a:pt x="232995" y="955490"/>
                    <a:pt x="520409" y="955490"/>
                  </a:cubicBezTo>
                  <a:cubicBezTo>
                    <a:pt x="807822" y="955490"/>
                    <a:pt x="1040817" y="741596"/>
                    <a:pt x="1040817" y="477745"/>
                  </a:cubicBezTo>
                  <a:cubicBezTo>
                    <a:pt x="1040817" y="213894"/>
                    <a:pt x="807822" y="0"/>
                    <a:pt x="520409" y="0"/>
                  </a:cubicBezTo>
                  <a:close/>
                </a:path>
              </a:pathLst>
            </a:custGeom>
            <a:solidFill>
              <a:srgbClr val="8DC441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577" y="51477"/>
              <a:ext cx="845664" cy="814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3691340" y="803774"/>
            <a:ext cx="172225" cy="164710"/>
          </a:xfrm>
          <a:custGeom>
            <a:avLst/>
            <a:gdLst/>
            <a:ahLst/>
            <a:cxnLst/>
            <a:rect l="l" t="t" r="r" b="b"/>
            <a:pathLst>
              <a:path w="172225" h="164710">
                <a:moveTo>
                  <a:pt x="0" y="0"/>
                </a:moveTo>
                <a:lnTo>
                  <a:pt x="172225" y="0"/>
                </a:lnTo>
                <a:lnTo>
                  <a:pt x="172225" y="164710"/>
                </a:lnTo>
                <a:lnTo>
                  <a:pt x="0" y="164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AutoShape 22"/>
          <p:cNvSpPr/>
          <p:nvPr/>
        </p:nvSpPr>
        <p:spPr>
          <a:xfrm>
            <a:off x="14077878" y="1019162"/>
            <a:ext cx="1106690" cy="0"/>
          </a:xfrm>
          <a:prstGeom prst="line">
            <a:avLst/>
          </a:prstGeom>
          <a:ln w="38100" cap="flat">
            <a:solidFill>
              <a:srgbClr val="1B5E2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14077878" y="695947"/>
            <a:ext cx="1106690" cy="32321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1B5E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Foxconn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7502" y="1415800"/>
            <a:ext cx="3183156" cy="42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sz="2516">
                <a:solidFill>
                  <a:srgbClr val="212120"/>
                </a:solidFill>
                <a:latin typeface="Montserrat"/>
                <a:ea typeface="Montserrat"/>
                <a:cs typeface="Montserrat"/>
                <a:sym typeface="Montserrat"/>
              </a:rPr>
              <a:t>PROJECT IMAGES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7502" y="1805815"/>
            <a:ext cx="6000000" cy="6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3"/>
              </a:lnSpc>
              <a:spcBef>
                <a:spcPct val="0"/>
              </a:spcBef>
            </a:pPr>
            <a:r>
              <a:rPr lang="en-US" sz="3616" b="1">
                <a:solidFill>
                  <a:srgbClr val="2121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FOXCONN – B05</a:t>
            </a:r>
          </a:p>
        </p:txBody>
      </p:sp>
      <p:sp>
        <p:nvSpPr>
          <p:cNvPr id="26" name="Freeform 26"/>
          <p:cNvSpPr/>
          <p:nvPr/>
        </p:nvSpPr>
        <p:spPr>
          <a:xfrm rot="5400000" flipH="1">
            <a:off x="2317037" y="-4820608"/>
            <a:ext cx="13653925" cy="18823917"/>
          </a:xfrm>
          <a:custGeom>
            <a:avLst/>
            <a:gdLst/>
            <a:ahLst/>
            <a:cxnLst/>
            <a:rect l="l" t="t" r="r" b="b"/>
            <a:pathLst>
              <a:path w="13653925" h="18823917">
                <a:moveTo>
                  <a:pt x="13653926" y="0"/>
                </a:moveTo>
                <a:lnTo>
                  <a:pt x="0" y="0"/>
                </a:lnTo>
                <a:lnTo>
                  <a:pt x="0" y="18823917"/>
                </a:lnTo>
                <a:lnTo>
                  <a:pt x="13653926" y="18823917"/>
                </a:lnTo>
                <a:lnTo>
                  <a:pt x="13653926" y="0"/>
                </a:lnTo>
                <a:close/>
              </a:path>
            </a:pathLst>
          </a:custGeom>
          <a:blipFill>
            <a:blip r:embed="rId10">
              <a:alphaModFix amt="65000"/>
            </a:blip>
            <a:stretch>
              <a:fillRect l="-17566" r="-48636" b="-1244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Photo caption 27"/>
          <p:cNvSpPr txBox="1"/>
          <p:nvPr/>
        </p:nvSpPr>
        <p:spPr>
          <a:xfrm>
            <a:off x="936760" y="5889837"/>
            <a:ext cx="268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ACB incomer panel</a:t>
            </a:r>
          </a:p>
        </p:txBody>
      </p:sp>
      <p:sp>
        <p:nvSpPr>
          <p:cNvPr id="28" name="Photo caption 28"/>
          <p:cNvSpPr txBox="1"/>
          <p:nvPr/>
        </p:nvSpPr>
        <p:spPr>
          <a:xfrm>
            <a:off x="6666828" y="5889837"/>
            <a:ext cx="352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Cable trays &amp; LT panels</a:t>
            </a:r>
          </a:p>
        </p:txBody>
      </p:sp>
      <p:sp>
        <p:nvSpPr>
          <p:cNvPr id="29" name="Photo caption 29"/>
          <p:cNvSpPr txBox="1"/>
          <p:nvPr/>
        </p:nvSpPr>
        <p:spPr>
          <a:xfrm>
            <a:off x="12396896" y="5889837"/>
            <a:ext cx="226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LT panel board</a:t>
            </a:r>
          </a:p>
        </p:txBody>
      </p:sp>
      <p:sp>
        <p:nvSpPr>
          <p:cNvPr id="30" name="Photo caption 30"/>
          <p:cNvSpPr txBox="1"/>
          <p:nvPr/>
        </p:nvSpPr>
        <p:spPr>
          <a:xfrm>
            <a:off x="936760" y="9444001"/>
            <a:ext cx="212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LT panel room</a:t>
            </a:r>
          </a:p>
        </p:txBody>
      </p:sp>
      <p:sp>
        <p:nvSpPr>
          <p:cNvPr id="31" name="Photo caption 31"/>
          <p:cNvSpPr txBox="1"/>
          <p:nvPr/>
        </p:nvSpPr>
        <p:spPr>
          <a:xfrm>
            <a:off x="6669290" y="9463051"/>
            <a:ext cx="282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Cable tray routing</a:t>
            </a:r>
          </a:p>
        </p:txBody>
      </p:sp>
      <p:sp>
        <p:nvSpPr>
          <p:cNvPr id="32" name="Photo caption 32"/>
          <p:cNvSpPr txBox="1"/>
          <p:nvPr/>
        </p:nvSpPr>
        <p:spPr>
          <a:xfrm>
            <a:off x="12396896" y="9444001"/>
            <a:ext cx="3240000" cy="386080"/>
          </a:xfrm>
          <a:prstGeom prst="roundRect">
            <a:avLst>
              <a:gd name="adj" fmla="val 22000"/>
            </a:avLst>
          </a:prstGeom>
          <a:solidFill>
            <a:srgbClr val="1B2A12">
              <a:alpha val="78000"/>
            </a:srgbClr>
          </a:solidFill>
          <a:ln>
            <a:noFill/>
          </a:ln>
        </p:spPr>
        <p:txBody>
          <a:bodyPr wrap="none" lIns="120000" tIns="0" rIns="120000" bIns="0" rtlCol="0" anchor="ctr">
            <a:noAutofit/>
          </a:bodyPr>
          <a:lstStyle/>
          <a:p>
            <a:pPr algn="l"/>
            <a:r>
              <a:rPr lang="en-US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Panels &amp; cable risers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1860</Words>
  <Application>Microsoft Office PowerPoint</Application>
  <PresentationFormat>Custom</PresentationFormat>
  <Paragraphs>330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Montserrat Bold</vt:lpstr>
      <vt:lpstr>Telegraf</vt:lpstr>
      <vt:lpstr>Calibri</vt:lpstr>
      <vt:lpstr>Telegraf Bold</vt:lpstr>
      <vt:lpstr>Araboto</vt:lpstr>
      <vt:lpstr>Arial</vt:lpstr>
      <vt:lpstr>Montserrat</vt:lpstr>
      <vt:lpstr>Araboto Bold</vt:lpstr>
      <vt:lpstr>Montserrat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porfile</dc:title>
  <dc:creator>Mayur Kadam</dc:creator>
  <cp:lastModifiedBy>Mayur Kadam</cp:lastModifiedBy>
  <cp:revision>8</cp:revision>
  <dcterms:created xsi:type="dcterms:W3CDTF">2006-08-16T00:00:00Z</dcterms:created>
  <dcterms:modified xsi:type="dcterms:W3CDTF">2026-10-21T18:23:24Z</dcterms:modified>
  <dc:identifier>DAHQ11ZUyMw</dc:identifier>
</cp:coreProperties>
</file>